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6858000" cx="9144000"/>
  <p:notesSz cx="6858000" cy="9144000"/>
  <p:embeddedFontLst>
    <p:embeddedFont>
      <p:font typeface="Libre Franklin"/>
      <p:regular r:id="rId34"/>
      <p:bold r:id="rId35"/>
      <p:italic r:id="rId36"/>
      <p:boldItalic r:id="rId37"/>
    </p:embeddedFont>
    <p:embeddedFont>
      <p:font typeface="Libre Baskerville"/>
      <p:regular r:id="rId38"/>
      <p:bold r:id="rId39"/>
      <p:italic r:id="rId40"/>
    </p:embeddedFont>
    <p:embeddedFont>
      <p:font typeface="Century Gothic"/>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4D8AB64-497F-4718-9F91-532C179451C1}">
  <a:tblStyle styleId="{A4D8AB64-497F-4718-9F91-532C179451C1}" styleName="Table_0">
    <a:wholeTbl>
      <a:tcTxStyle b="off" i="off">
        <a:font>
          <a:latin typeface="Perpetua"/>
          <a:ea typeface="Perpetua"/>
          <a:cs typeface="Perpetu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7E8E7"/>
          </a:solidFill>
        </a:fill>
      </a:tcStyle>
    </a:wholeTbl>
    <a:band1H>
      <a:tcTxStyle/>
      <a:tcStyle>
        <a:fill>
          <a:solidFill>
            <a:srgbClr val="EFCECA"/>
          </a:solidFill>
        </a:fill>
      </a:tcStyle>
    </a:band1H>
    <a:band2H>
      <a:tcTxStyle/>
    </a:band2H>
    <a:band1V>
      <a:tcTxStyle/>
      <a:tcStyle>
        <a:fill>
          <a:solidFill>
            <a:srgbClr val="EFCECA"/>
          </a:solidFill>
        </a:fill>
      </a:tcStyle>
    </a:band1V>
    <a:band2V>
      <a:tcTxStyle/>
    </a:band2V>
    <a:lastCol>
      <a:tcTxStyle b="on" i="off">
        <a:font>
          <a:latin typeface="Perpetua"/>
          <a:ea typeface="Perpetua"/>
          <a:cs typeface="Perpetua"/>
        </a:font>
        <a:schemeClr val="lt1"/>
      </a:tcTxStyle>
      <a:tcStyle>
        <a:fill>
          <a:solidFill>
            <a:schemeClr val="accent1"/>
          </a:solidFill>
        </a:fill>
      </a:tcStyle>
    </a:lastCol>
    <a:firstCol>
      <a:tcTxStyle b="on" i="off">
        <a:font>
          <a:latin typeface="Perpetua"/>
          <a:ea typeface="Perpetua"/>
          <a:cs typeface="Perpetua"/>
        </a:font>
        <a:schemeClr val="lt1"/>
      </a:tcTxStyle>
      <a:tcStyle>
        <a:fill>
          <a:solidFill>
            <a:schemeClr val="accent1"/>
          </a:solidFill>
        </a:fill>
      </a:tcStyle>
    </a:firstCol>
    <a:lastRow>
      <a:tcTxStyle b="on" i="off">
        <a:font>
          <a:latin typeface="Perpetua"/>
          <a:ea typeface="Perpetua"/>
          <a:cs typeface="Perpetua"/>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Perpetua"/>
          <a:ea typeface="Perpetua"/>
          <a:cs typeface="Perpetua"/>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ibreBaskerville-italic.fntdata"/><Relationship Id="rId20" Type="http://schemas.openxmlformats.org/officeDocument/2006/relationships/slide" Target="slides/slide14.xml"/><Relationship Id="rId42" Type="http://schemas.openxmlformats.org/officeDocument/2006/relationships/font" Target="fonts/CenturyGothic-bold.fntdata"/><Relationship Id="rId41" Type="http://schemas.openxmlformats.org/officeDocument/2006/relationships/font" Target="fonts/CenturyGothic-regular.fntdata"/><Relationship Id="rId22" Type="http://schemas.openxmlformats.org/officeDocument/2006/relationships/slide" Target="slides/slide16.xml"/><Relationship Id="rId44" Type="http://schemas.openxmlformats.org/officeDocument/2006/relationships/font" Target="fonts/CenturyGothic-boldItalic.fntdata"/><Relationship Id="rId21" Type="http://schemas.openxmlformats.org/officeDocument/2006/relationships/slide" Target="slides/slide15.xml"/><Relationship Id="rId43" Type="http://schemas.openxmlformats.org/officeDocument/2006/relationships/font" Target="fonts/CenturyGothic-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LibreFranklin-bold.fntdata"/><Relationship Id="rId12" Type="http://schemas.openxmlformats.org/officeDocument/2006/relationships/slide" Target="slides/slide6.xml"/><Relationship Id="rId34" Type="http://schemas.openxmlformats.org/officeDocument/2006/relationships/font" Target="fonts/LibreFranklin-regular.fntdata"/><Relationship Id="rId15" Type="http://schemas.openxmlformats.org/officeDocument/2006/relationships/slide" Target="slides/slide9.xml"/><Relationship Id="rId37" Type="http://schemas.openxmlformats.org/officeDocument/2006/relationships/font" Target="fonts/LibreFranklin-boldItalic.fntdata"/><Relationship Id="rId14" Type="http://schemas.openxmlformats.org/officeDocument/2006/relationships/slide" Target="slides/slide8.xml"/><Relationship Id="rId36" Type="http://schemas.openxmlformats.org/officeDocument/2006/relationships/font" Target="fonts/LibreFranklin-italic.fntdata"/><Relationship Id="rId17" Type="http://schemas.openxmlformats.org/officeDocument/2006/relationships/slide" Target="slides/slide11.xml"/><Relationship Id="rId39" Type="http://schemas.openxmlformats.org/officeDocument/2006/relationships/font" Target="fonts/LibreBaskerville-bold.fntdata"/><Relationship Id="rId16" Type="http://schemas.openxmlformats.org/officeDocument/2006/relationships/slide" Target="slides/slide10.xml"/><Relationship Id="rId38" Type="http://schemas.openxmlformats.org/officeDocument/2006/relationships/font" Target="fonts/LibreBaskerville-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28" name="Google Shape;12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36" name="Google Shape;13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45" name="Google Shape;14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56" name="Google Shape;15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63" name="Google Shape;16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71" name="Google Shape;17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eee4d8f52d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77" name="Google Shape;177;g1eee4d8f52d_0_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eee4d8f52d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83" name="Google Shape;183;g1eee4d8f52d_0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eee4d8f52d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89" name="Google Shape;189;g1eee4d8f52d_0_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95" name="Google Shape;19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048752a90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04" name="Google Shape;204;g2048752a902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f17717631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13" name="Google Shape;213;g1f17717631b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22" name="Google Shape;22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04c31dfdac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31" name="Google Shape;231;g204c31dfdac_0_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04c31dfdac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39" name="Google Shape;239;g204c31dfdac_0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52" name="Google Shape;25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04c31dfdac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62" name="Google Shape;262;g204c31dfdac_0_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74" name="Google Shape;27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04c31dfdac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84" name="Google Shape;284;g204c31dfdac_0_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04c31dfdac_0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93" name="Google Shape;293;g204c31dfdac_0_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02" name="Google Shape;30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04c31dfdac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11" name="Google Shape;311;g204c31dfdac_0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04c31dfda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20" name="Google Shape;320;g204c31dfdac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29" name="Google Shape;32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337" name="Google Shape;33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rotWithShape="1">
          <a:blip r:embed="rId2">
            <a:alphaModFix/>
          </a:blip>
          <a:tile algn="tl" flip="none" tx="0" sx="55000" ty="0" sy="55000"/>
        </a:blipFill>
      </p:bgPr>
    </p:bg>
    <p:spTree>
      <p:nvGrpSpPr>
        <p:cNvPr id="17" name="Shape 17"/>
        <p:cNvGrpSpPr/>
        <p:nvPr/>
      </p:nvGrpSpPr>
      <p:grpSpPr>
        <a:xfrm>
          <a:off x="0" y="0"/>
          <a:ext cx="0" cy="0"/>
          <a:chOff x="0" y="0"/>
          <a:chExt cx="0" cy="0"/>
        </a:xfrm>
      </p:grpSpPr>
      <p:sp>
        <p:nvSpPr>
          <p:cNvPr id="18" name="Google Shape;18;p2"/>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9" name="Google Shape;19;p2"/>
          <p:cNvSpPr/>
          <p:nvPr/>
        </p:nvSpPr>
        <p:spPr>
          <a:xfrm>
            <a:off x="65313" y="69755"/>
            <a:ext cx="9013372" cy="6692201"/>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0" name="Google Shape;20;p2"/>
          <p:cNvSpPr txBox="1"/>
          <p:nvPr>
            <p:ph idx="1" type="subTitle"/>
          </p:nvPr>
        </p:nvSpPr>
        <p:spPr>
          <a:xfrm>
            <a:off x="1295400" y="3200400"/>
            <a:ext cx="6400800" cy="1600200"/>
          </a:xfrm>
          <a:prstGeom prst="rect">
            <a:avLst/>
          </a:prstGeom>
          <a:noFill/>
          <a:ln>
            <a:noFill/>
          </a:ln>
        </p:spPr>
        <p:txBody>
          <a:bodyPr anchorCtr="0" anchor="t" bIns="45700" lIns="91425" spcFirstLastPara="1" rIns="91425" wrap="square" tIns="45700">
            <a:normAutofit/>
          </a:bodyPr>
          <a:lstStyle>
            <a:lvl1pPr lvl="0" algn="ctr">
              <a:spcBef>
                <a:spcPts val="580"/>
              </a:spcBef>
              <a:spcAft>
                <a:spcPts val="0"/>
              </a:spcAft>
              <a:buSzPts val="2210"/>
              <a:buNone/>
              <a:defRPr sz="2600">
                <a:solidFill>
                  <a:schemeClr val="dk2"/>
                </a:solidFill>
              </a:defRPr>
            </a:lvl1pPr>
            <a:lvl2pPr lvl="1" algn="ctr">
              <a:spcBef>
                <a:spcPts val="370"/>
              </a:spcBef>
              <a:spcAft>
                <a:spcPts val="0"/>
              </a:spcAft>
              <a:buSzPts val="1530"/>
              <a:buNone/>
              <a:defRPr/>
            </a:lvl2pPr>
            <a:lvl3pPr lvl="2" algn="ctr">
              <a:spcBef>
                <a:spcPts val="370"/>
              </a:spcBef>
              <a:spcAft>
                <a:spcPts val="0"/>
              </a:spcAft>
              <a:buSzPts val="1530"/>
              <a:buNone/>
              <a:defRPr/>
            </a:lvl3pPr>
            <a:lvl4pPr lvl="3" algn="ctr">
              <a:spcBef>
                <a:spcPts val="370"/>
              </a:spcBef>
              <a:spcAft>
                <a:spcPts val="0"/>
              </a:spcAft>
              <a:buSzPts val="1440"/>
              <a:buNone/>
              <a:defRPr/>
            </a:lvl4pPr>
            <a:lvl5pPr lvl="4" algn="ctr">
              <a:spcBef>
                <a:spcPts val="370"/>
              </a:spcBef>
              <a:spcAft>
                <a:spcPts val="0"/>
              </a:spcAft>
              <a:buSzPts val="1800"/>
              <a:buNone/>
              <a:defRPr/>
            </a:lvl5pPr>
            <a:lvl6pPr lvl="5" algn="ctr">
              <a:spcBef>
                <a:spcPts val="370"/>
              </a:spcBef>
              <a:spcAft>
                <a:spcPts val="0"/>
              </a:spcAft>
              <a:buSzPts val="1800"/>
              <a:buNone/>
              <a:defRPr/>
            </a:lvl6pPr>
            <a:lvl7pPr lvl="6" algn="ctr">
              <a:spcBef>
                <a:spcPts val="370"/>
              </a:spcBef>
              <a:spcAft>
                <a:spcPts val="0"/>
              </a:spcAft>
              <a:buSzPts val="1800"/>
              <a:buNone/>
              <a:defRPr/>
            </a:lvl7pPr>
            <a:lvl8pPr lvl="7" algn="ctr">
              <a:spcBef>
                <a:spcPts val="370"/>
              </a:spcBef>
              <a:spcAft>
                <a:spcPts val="0"/>
              </a:spcAft>
              <a:buSzPts val="1800"/>
              <a:buNone/>
              <a:defRPr/>
            </a:lvl8pPr>
            <a:lvl9pPr lvl="8" algn="ctr">
              <a:spcBef>
                <a:spcPts val="370"/>
              </a:spcBef>
              <a:spcAft>
                <a:spcPts val="0"/>
              </a:spcAft>
              <a:buSzPts val="1800"/>
              <a:buNone/>
              <a:defRPr/>
            </a:lvl9pPr>
          </a:lstStyle>
          <a:p/>
        </p:txBody>
      </p:sp>
      <p:sp>
        <p:nvSpPr>
          <p:cNvPr id="21" name="Google Shape;21;p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b="0" i="0" sz="1400" u="none" cap="none" strike="noStrike">
                <a:solidFill>
                  <a:srgbClr val="FFFFFF"/>
                </a:solidFill>
                <a:latin typeface="Libre Franklin"/>
                <a:ea typeface="Libre Franklin"/>
                <a:cs typeface="Libre Franklin"/>
                <a:sym typeface="Libre Franklin"/>
              </a:defRPr>
            </a:lvl1pPr>
            <a:lvl2pPr indent="0" lvl="1" marL="0" algn="ctr">
              <a:spcBef>
                <a:spcPts val="0"/>
              </a:spcBef>
              <a:buNone/>
              <a:defRPr b="0" i="0" sz="1400" u="none" cap="none" strike="noStrike">
                <a:solidFill>
                  <a:srgbClr val="FFFFFF"/>
                </a:solidFill>
                <a:latin typeface="Libre Franklin"/>
                <a:ea typeface="Libre Franklin"/>
                <a:cs typeface="Libre Franklin"/>
                <a:sym typeface="Libre Franklin"/>
              </a:defRPr>
            </a:lvl2pPr>
            <a:lvl3pPr indent="0" lvl="2" marL="0" algn="ctr">
              <a:spcBef>
                <a:spcPts val="0"/>
              </a:spcBef>
              <a:buNone/>
              <a:defRPr b="0" i="0" sz="1400" u="none" cap="none" strike="noStrike">
                <a:solidFill>
                  <a:srgbClr val="FFFFFF"/>
                </a:solidFill>
                <a:latin typeface="Libre Franklin"/>
                <a:ea typeface="Libre Franklin"/>
                <a:cs typeface="Libre Franklin"/>
                <a:sym typeface="Libre Franklin"/>
              </a:defRPr>
            </a:lvl3pPr>
            <a:lvl4pPr indent="0" lvl="3" marL="0" algn="ctr">
              <a:spcBef>
                <a:spcPts val="0"/>
              </a:spcBef>
              <a:buNone/>
              <a:defRPr b="0" i="0" sz="1400" u="none" cap="none" strike="noStrike">
                <a:solidFill>
                  <a:srgbClr val="FFFFFF"/>
                </a:solidFill>
                <a:latin typeface="Libre Franklin"/>
                <a:ea typeface="Libre Franklin"/>
                <a:cs typeface="Libre Franklin"/>
                <a:sym typeface="Libre Franklin"/>
              </a:defRPr>
            </a:lvl4pPr>
            <a:lvl5pPr indent="0" lvl="4" marL="0" algn="ctr">
              <a:spcBef>
                <a:spcPts val="0"/>
              </a:spcBef>
              <a:buNone/>
              <a:defRPr b="0" i="0" sz="1400" u="none" cap="none" strike="noStrike">
                <a:solidFill>
                  <a:srgbClr val="FFFFFF"/>
                </a:solidFill>
                <a:latin typeface="Libre Franklin"/>
                <a:ea typeface="Libre Franklin"/>
                <a:cs typeface="Libre Franklin"/>
                <a:sym typeface="Libre Franklin"/>
              </a:defRPr>
            </a:lvl5pPr>
            <a:lvl6pPr indent="0" lvl="5" marL="0" algn="ctr">
              <a:spcBef>
                <a:spcPts val="0"/>
              </a:spcBef>
              <a:buNone/>
              <a:defRPr b="0" i="0" sz="1400" u="none" cap="none" strike="noStrike">
                <a:solidFill>
                  <a:srgbClr val="FFFFFF"/>
                </a:solidFill>
                <a:latin typeface="Libre Franklin"/>
                <a:ea typeface="Libre Franklin"/>
                <a:cs typeface="Libre Franklin"/>
                <a:sym typeface="Libre Franklin"/>
              </a:defRPr>
            </a:lvl6pPr>
            <a:lvl7pPr indent="0" lvl="6" marL="0" algn="ctr">
              <a:spcBef>
                <a:spcPts val="0"/>
              </a:spcBef>
              <a:buNone/>
              <a:defRPr b="0" i="0" sz="1400" u="none" cap="none" strike="noStrike">
                <a:solidFill>
                  <a:srgbClr val="FFFFFF"/>
                </a:solidFill>
                <a:latin typeface="Libre Franklin"/>
                <a:ea typeface="Libre Franklin"/>
                <a:cs typeface="Libre Franklin"/>
                <a:sym typeface="Libre Franklin"/>
              </a:defRPr>
            </a:lvl7pPr>
            <a:lvl8pPr indent="0" lvl="7" marL="0" algn="ctr">
              <a:spcBef>
                <a:spcPts val="0"/>
              </a:spcBef>
              <a:buNone/>
              <a:defRPr b="0" i="0" sz="1400" u="none" cap="none" strike="noStrike">
                <a:solidFill>
                  <a:srgbClr val="FFFFFF"/>
                </a:solidFill>
                <a:latin typeface="Libre Franklin"/>
                <a:ea typeface="Libre Franklin"/>
                <a:cs typeface="Libre Franklin"/>
                <a:sym typeface="Libre Franklin"/>
              </a:defRPr>
            </a:lvl8pPr>
            <a:lvl9pPr indent="0" lvl="8" marL="0" algn="ctr">
              <a:spcBef>
                <a:spcPts val="0"/>
              </a:spcBef>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24" name="Google Shape;24;p2"/>
          <p:cNvSpPr/>
          <p:nvPr/>
        </p:nvSpPr>
        <p:spPr>
          <a:xfrm>
            <a:off x="62931" y="1449303"/>
            <a:ext cx="9021537" cy="152734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5" name="Google Shape;25;p2"/>
          <p:cNvSpPr/>
          <p:nvPr/>
        </p:nvSpPr>
        <p:spPr>
          <a:xfrm>
            <a:off x="62931" y="1396720"/>
            <a:ext cx="9021537" cy="120580"/>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6" name="Google Shape;26;p2"/>
          <p:cNvSpPr/>
          <p:nvPr/>
        </p:nvSpPr>
        <p:spPr>
          <a:xfrm>
            <a:off x="62931" y="2976649"/>
            <a:ext cx="9021537" cy="11053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7" name="Google Shape;27;p2"/>
          <p:cNvSpPr txBox="1"/>
          <p:nvPr>
            <p:ph type="ctrTitle"/>
          </p:nvPr>
        </p:nvSpPr>
        <p:spPr>
          <a:xfrm>
            <a:off x="457200" y="1505930"/>
            <a:ext cx="8229600" cy="1470025"/>
          </a:xfrm>
          <a:prstGeom prst="rect">
            <a:avLst/>
          </a:prstGeom>
          <a:noFill/>
          <a:ln>
            <a:noFill/>
          </a:ln>
        </p:spPr>
        <p:txBody>
          <a:bodyPr anchorCtr="0" anchor="ctr" bIns="91425" lIns="91425" spcFirstLastPara="1" rIns="91425" wrap="square" tIns="45700">
            <a:normAutofit/>
          </a:bodyPr>
          <a:lstStyle>
            <a:lvl1pPr lvl="0" algn="ctr">
              <a:spcBef>
                <a:spcPts val="0"/>
              </a:spcBef>
              <a:spcAft>
                <a:spcPts val="0"/>
              </a:spcAft>
              <a:buClr>
                <a:srgbClr val="FFFFFF"/>
              </a:buClr>
              <a:buSzPts val="4000"/>
              <a:buFont typeface="Libre Franklin"/>
              <a:buNone/>
              <a:defRPr>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33" name="Google Shape;33;p3"/>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34" name="Shape 34"/>
        <p:cNvGrpSpPr/>
        <p:nvPr/>
      </p:nvGrpSpPr>
      <p:grpSpPr>
        <a:xfrm>
          <a:off x="0" y="0"/>
          <a:ext cx="0" cy="0"/>
          <a:chOff x="0" y="0"/>
          <a:chExt cx="0" cy="0"/>
        </a:xfrm>
      </p:grpSpPr>
      <p:sp>
        <p:nvSpPr>
          <p:cNvPr id="35" name="Google Shape;35;p4"/>
          <p:cNvSpPr/>
          <p:nvPr>
            <p:ph idx="2" type="pic"/>
          </p:nvPr>
        </p:nvSpPr>
        <p:spPr>
          <a:xfrm>
            <a:off x="3429000" y="1295400"/>
            <a:ext cx="2362200" cy="4267200"/>
          </a:xfrm>
          <a:prstGeom prst="rect">
            <a:avLst/>
          </a:prstGeom>
          <a:noFill/>
          <a:ln>
            <a:noFill/>
          </a:ln>
        </p:spPr>
      </p:sp>
      <p:sp>
        <p:nvSpPr>
          <p:cNvPr id="36" name="Google Shape;36;p4"/>
          <p:cNvSpPr txBox="1"/>
          <p:nvPr>
            <p:ph idx="1" type="body"/>
          </p:nvPr>
        </p:nvSpPr>
        <p:spPr>
          <a:xfrm>
            <a:off x="381000" y="76200"/>
            <a:ext cx="4191000" cy="1016000"/>
          </a:xfrm>
          <a:prstGeom prst="rect">
            <a:avLst/>
          </a:prstGeom>
          <a:noFill/>
          <a:ln>
            <a:noFill/>
          </a:ln>
        </p:spPr>
        <p:txBody>
          <a:bodyPr anchorCtr="0" anchor="t" bIns="91425" lIns="91425" spcFirstLastPara="1" rIns="91425" wrap="square" tIns="91425">
            <a:noAutofit/>
          </a:bodyPr>
          <a:lstStyle>
            <a:lvl1pPr indent="-228600" lvl="0" marL="457200" algn="l">
              <a:spcBef>
                <a:spcPts val="0"/>
              </a:spcBef>
              <a:spcAft>
                <a:spcPts val="0"/>
              </a:spcAft>
              <a:buClr>
                <a:srgbClr val="000000"/>
              </a:buClr>
              <a:buSzPts val="1400"/>
              <a:buFont typeface="Arial"/>
              <a:buNone/>
              <a:defRPr/>
            </a:lvl1pPr>
            <a:lvl2pPr indent="-342900" lvl="1" marL="914400" algn="l">
              <a:spcBef>
                <a:spcPts val="0"/>
              </a:spcBef>
              <a:spcAft>
                <a:spcPts val="0"/>
              </a:spcAft>
              <a:buClr>
                <a:srgbClr val="000000"/>
              </a:buClr>
              <a:buSzPts val="1800"/>
              <a:buChar char="–"/>
              <a:defRPr/>
            </a:lvl2pPr>
            <a:lvl3pPr indent="-342900" lvl="2" marL="1371600" algn="l">
              <a:spcBef>
                <a:spcPts val="0"/>
              </a:spcBef>
              <a:spcAft>
                <a:spcPts val="0"/>
              </a:spcAft>
              <a:buClr>
                <a:srgbClr val="000000"/>
              </a:buClr>
              <a:buSzPts val="1800"/>
              <a:buChar char="•"/>
              <a:defRPr/>
            </a:lvl3pPr>
            <a:lvl4pPr indent="-342900" lvl="3" marL="1828800" algn="l">
              <a:spcBef>
                <a:spcPts val="0"/>
              </a:spcBef>
              <a:spcAft>
                <a:spcPts val="0"/>
              </a:spcAft>
              <a:buClr>
                <a:srgbClr val="000000"/>
              </a:buClr>
              <a:buSzPts val="1800"/>
              <a:buChar char="–"/>
              <a:defRPr/>
            </a:lvl4pPr>
            <a:lvl5pPr indent="-342900" lvl="4" marL="2286000" algn="l">
              <a:spcBef>
                <a:spcPts val="0"/>
              </a:spcBef>
              <a:spcAft>
                <a:spcPts val="0"/>
              </a:spcAft>
              <a:buClr>
                <a:srgbClr val="000000"/>
              </a:buClr>
              <a:buSzPts val="1800"/>
              <a:buFont typeface="Libre Baskerville"/>
              <a:buChar char="»"/>
              <a:defRPr/>
            </a:lvl5pPr>
            <a:lvl6pPr indent="-228600" lvl="5" marL="2743200" algn="l">
              <a:lnSpc>
                <a:spcPct val="100000"/>
              </a:lnSpc>
              <a:spcBef>
                <a:spcPts val="0"/>
              </a:spcBef>
              <a:spcAft>
                <a:spcPts val="0"/>
              </a:spcAft>
              <a:buClr>
                <a:srgbClr val="000000"/>
              </a:buClr>
              <a:buSzPts val="1800"/>
              <a:buFont typeface="Libre Baskerville"/>
              <a:buNone/>
              <a:defRPr/>
            </a:lvl6pPr>
            <a:lvl7pPr indent="-228600" lvl="6" marL="3200400" algn="l">
              <a:lnSpc>
                <a:spcPct val="100000"/>
              </a:lnSpc>
              <a:spcBef>
                <a:spcPts val="0"/>
              </a:spcBef>
              <a:spcAft>
                <a:spcPts val="0"/>
              </a:spcAft>
              <a:buClr>
                <a:srgbClr val="000000"/>
              </a:buClr>
              <a:buSzPts val="1800"/>
              <a:buFont typeface="Libre Baskerville"/>
              <a:buNone/>
              <a:defRPr/>
            </a:lvl7pPr>
            <a:lvl8pPr indent="-228600" lvl="7" marL="3657600" algn="l">
              <a:lnSpc>
                <a:spcPct val="100000"/>
              </a:lnSpc>
              <a:spcBef>
                <a:spcPts val="0"/>
              </a:spcBef>
              <a:spcAft>
                <a:spcPts val="0"/>
              </a:spcAft>
              <a:buClr>
                <a:srgbClr val="000000"/>
              </a:buClr>
              <a:buSzPts val="1800"/>
              <a:buFont typeface="Libre Baskerville"/>
              <a:buNone/>
              <a:defRPr/>
            </a:lvl8pPr>
            <a:lvl9pPr indent="-228600" lvl="8" marL="4114800" algn="l">
              <a:lnSpc>
                <a:spcPct val="100000"/>
              </a:lnSpc>
              <a:spcBef>
                <a:spcPts val="0"/>
              </a:spcBef>
              <a:spcAft>
                <a:spcPts val="0"/>
              </a:spcAft>
              <a:buClr>
                <a:srgbClr val="000000"/>
              </a:buClr>
              <a:buSzPts val="1800"/>
              <a:buFont typeface="Libre Baskerville"/>
              <a:buNone/>
              <a:defRPr/>
            </a:lvl9pPr>
          </a:lstStyle>
          <a:p/>
        </p:txBody>
      </p:sp>
      <p:sp>
        <p:nvSpPr>
          <p:cNvPr id="37" name="Google Shape;37;p4"/>
          <p:cNvSpPr txBox="1"/>
          <p:nvPr>
            <p:ph idx="3" type="body"/>
          </p:nvPr>
        </p:nvSpPr>
        <p:spPr>
          <a:xfrm>
            <a:off x="4800600" y="76200"/>
            <a:ext cx="3276600" cy="1016000"/>
          </a:xfrm>
          <a:prstGeom prst="rect">
            <a:avLst/>
          </a:prstGeom>
          <a:noFill/>
          <a:ln>
            <a:noFill/>
          </a:ln>
        </p:spPr>
        <p:txBody>
          <a:bodyPr anchorCtr="0" anchor="t" bIns="91425" lIns="91425" spcFirstLastPara="1" rIns="91425" wrap="square" tIns="91425">
            <a:noAutofit/>
          </a:bodyPr>
          <a:lstStyle>
            <a:lvl1pPr indent="-228600" lvl="0" marL="457200" algn="l">
              <a:spcBef>
                <a:spcPts val="0"/>
              </a:spcBef>
              <a:spcAft>
                <a:spcPts val="0"/>
              </a:spcAft>
              <a:buClr>
                <a:srgbClr val="000000"/>
              </a:buClr>
              <a:buSzPts val="1400"/>
              <a:buFont typeface="Arial"/>
              <a:buNone/>
              <a:defRPr/>
            </a:lvl1pPr>
            <a:lvl2pPr indent="-342900" lvl="1" marL="914400" algn="l">
              <a:spcBef>
                <a:spcPts val="0"/>
              </a:spcBef>
              <a:spcAft>
                <a:spcPts val="0"/>
              </a:spcAft>
              <a:buClr>
                <a:srgbClr val="000000"/>
              </a:buClr>
              <a:buSzPts val="1800"/>
              <a:buChar char="–"/>
              <a:defRPr/>
            </a:lvl2pPr>
            <a:lvl3pPr indent="-342900" lvl="2" marL="1371600" algn="l">
              <a:spcBef>
                <a:spcPts val="0"/>
              </a:spcBef>
              <a:spcAft>
                <a:spcPts val="0"/>
              </a:spcAft>
              <a:buClr>
                <a:srgbClr val="000000"/>
              </a:buClr>
              <a:buSzPts val="1800"/>
              <a:buChar char="•"/>
              <a:defRPr/>
            </a:lvl3pPr>
            <a:lvl4pPr indent="-342900" lvl="3" marL="1828800" algn="l">
              <a:spcBef>
                <a:spcPts val="0"/>
              </a:spcBef>
              <a:spcAft>
                <a:spcPts val="0"/>
              </a:spcAft>
              <a:buClr>
                <a:srgbClr val="000000"/>
              </a:buClr>
              <a:buSzPts val="1800"/>
              <a:buChar char="–"/>
              <a:defRPr/>
            </a:lvl4pPr>
            <a:lvl5pPr indent="-342900" lvl="4" marL="2286000" algn="l">
              <a:spcBef>
                <a:spcPts val="0"/>
              </a:spcBef>
              <a:spcAft>
                <a:spcPts val="0"/>
              </a:spcAft>
              <a:buClr>
                <a:srgbClr val="000000"/>
              </a:buClr>
              <a:buSzPts val="1800"/>
              <a:buFont typeface="Libre Baskerville"/>
              <a:buChar char="»"/>
              <a:defRPr/>
            </a:lvl5pPr>
            <a:lvl6pPr indent="-228600" lvl="5" marL="2743200" algn="l">
              <a:lnSpc>
                <a:spcPct val="100000"/>
              </a:lnSpc>
              <a:spcBef>
                <a:spcPts val="0"/>
              </a:spcBef>
              <a:spcAft>
                <a:spcPts val="0"/>
              </a:spcAft>
              <a:buClr>
                <a:srgbClr val="000000"/>
              </a:buClr>
              <a:buSzPts val="1800"/>
              <a:buFont typeface="Libre Baskerville"/>
              <a:buNone/>
              <a:defRPr/>
            </a:lvl6pPr>
            <a:lvl7pPr indent="-228600" lvl="6" marL="3200400" algn="l">
              <a:lnSpc>
                <a:spcPct val="100000"/>
              </a:lnSpc>
              <a:spcBef>
                <a:spcPts val="0"/>
              </a:spcBef>
              <a:spcAft>
                <a:spcPts val="0"/>
              </a:spcAft>
              <a:buClr>
                <a:srgbClr val="000000"/>
              </a:buClr>
              <a:buSzPts val="1800"/>
              <a:buFont typeface="Libre Baskerville"/>
              <a:buNone/>
              <a:defRPr/>
            </a:lvl7pPr>
            <a:lvl8pPr indent="-228600" lvl="7" marL="3657600" algn="l">
              <a:lnSpc>
                <a:spcPct val="100000"/>
              </a:lnSpc>
              <a:spcBef>
                <a:spcPts val="0"/>
              </a:spcBef>
              <a:spcAft>
                <a:spcPts val="0"/>
              </a:spcAft>
              <a:buClr>
                <a:srgbClr val="000000"/>
              </a:buClr>
              <a:buSzPts val="1800"/>
              <a:buFont typeface="Libre Baskerville"/>
              <a:buNone/>
              <a:defRPr/>
            </a:lvl8pPr>
            <a:lvl9pPr indent="-228600" lvl="8" marL="4114800" algn="l">
              <a:lnSpc>
                <a:spcPct val="100000"/>
              </a:lnSpc>
              <a:spcBef>
                <a:spcPts val="0"/>
              </a:spcBef>
              <a:spcAft>
                <a:spcPts val="0"/>
              </a:spcAft>
              <a:buClr>
                <a:srgbClr val="000000"/>
              </a:buClr>
              <a:buSzPts val="1800"/>
              <a:buFont typeface="Libre Baskerville"/>
              <a:buNone/>
              <a:defRPr/>
            </a:lvl9pPr>
          </a:lstStyle>
          <a:p/>
        </p:txBody>
      </p:sp>
      <p:sp>
        <p:nvSpPr>
          <p:cNvPr id="38" name="Google Shape;38;p4"/>
          <p:cNvSpPr txBox="1"/>
          <p:nvPr>
            <p:ph idx="10" type="dt"/>
          </p:nvPr>
        </p:nvSpPr>
        <p:spPr>
          <a:xfrm>
            <a:off x="7772401" y="6136218"/>
            <a:ext cx="766763" cy="368300"/>
          </a:xfrm>
          <a:prstGeom prst="rect">
            <a:avLst/>
          </a:prstGeom>
          <a:noFill/>
          <a:ln>
            <a:noFill/>
          </a:ln>
        </p:spPr>
        <p:txBody>
          <a:bodyPr anchorCtr="0" anchor="ctr" bIns="91425" lIns="91425" spcFirstLastPara="1" rIns="91425" wrap="square" tIns="91425">
            <a:noAutofit/>
          </a:bodyPr>
          <a:lstStyle>
            <a:lvl1pPr lvl="0" algn="r">
              <a:spcBef>
                <a:spcPts val="0"/>
              </a:spcBef>
              <a:spcAft>
                <a:spcPts val="0"/>
              </a:spcAft>
              <a:buClr>
                <a:schemeClr val="dk2"/>
              </a:buClr>
              <a:buSzPts val="1400"/>
              <a:buFont typeface="Libre Baskerville"/>
              <a:buNone/>
              <a:defRPr/>
            </a:lvl1pPr>
            <a:lvl2pPr lvl="1" algn="l">
              <a:spcBef>
                <a:spcPts val="0"/>
              </a:spcBef>
              <a:spcAft>
                <a:spcPts val="0"/>
              </a:spcAft>
              <a:buClr>
                <a:schemeClr val="dk1"/>
              </a:buClr>
              <a:buSzPts val="1400"/>
              <a:buFont typeface="Libre Baskerville"/>
              <a:buNone/>
              <a:defRPr/>
            </a:lvl2pPr>
            <a:lvl3pPr lvl="2" algn="l">
              <a:spcBef>
                <a:spcPts val="0"/>
              </a:spcBef>
              <a:spcAft>
                <a:spcPts val="0"/>
              </a:spcAft>
              <a:buClr>
                <a:schemeClr val="dk1"/>
              </a:buClr>
              <a:buSzPts val="1400"/>
              <a:buFont typeface="Libre Baskerville"/>
              <a:buNone/>
              <a:defRPr/>
            </a:lvl3pPr>
            <a:lvl4pPr lvl="3" algn="l">
              <a:spcBef>
                <a:spcPts val="0"/>
              </a:spcBef>
              <a:spcAft>
                <a:spcPts val="0"/>
              </a:spcAft>
              <a:buClr>
                <a:schemeClr val="dk1"/>
              </a:buClr>
              <a:buSzPts val="1400"/>
              <a:buFont typeface="Libre Baskerville"/>
              <a:buNone/>
              <a:defRPr/>
            </a:lvl4pPr>
            <a:lvl5pPr lvl="4" algn="l">
              <a:spcBef>
                <a:spcPts val="0"/>
              </a:spcBef>
              <a:spcAft>
                <a:spcPts val="0"/>
              </a:spcAft>
              <a:buClr>
                <a:schemeClr val="dk1"/>
              </a:buClr>
              <a:buSzPts val="1400"/>
              <a:buFont typeface="Libre Baskerville"/>
              <a:buNone/>
              <a:defRPr/>
            </a:lvl5pPr>
            <a:lvl6pPr lvl="5" algn="l">
              <a:spcBef>
                <a:spcPts val="0"/>
              </a:spcBef>
              <a:spcAft>
                <a:spcPts val="0"/>
              </a:spcAft>
              <a:buClr>
                <a:schemeClr val="dk1"/>
              </a:buClr>
              <a:buSzPts val="1400"/>
              <a:buFont typeface="Libre Baskerville"/>
              <a:buNone/>
              <a:defRPr/>
            </a:lvl6pPr>
            <a:lvl7pPr lvl="6" algn="l">
              <a:spcBef>
                <a:spcPts val="0"/>
              </a:spcBef>
              <a:spcAft>
                <a:spcPts val="0"/>
              </a:spcAft>
              <a:buClr>
                <a:schemeClr val="dk1"/>
              </a:buClr>
              <a:buSzPts val="1400"/>
              <a:buFont typeface="Libre Baskerville"/>
              <a:buNone/>
              <a:defRPr/>
            </a:lvl7pPr>
            <a:lvl8pPr lvl="7" algn="l">
              <a:spcBef>
                <a:spcPts val="0"/>
              </a:spcBef>
              <a:spcAft>
                <a:spcPts val="0"/>
              </a:spcAft>
              <a:buClr>
                <a:schemeClr val="dk1"/>
              </a:buClr>
              <a:buSzPts val="1400"/>
              <a:buFont typeface="Libre Baskerville"/>
              <a:buNone/>
              <a:defRPr/>
            </a:lvl8pPr>
            <a:lvl9pPr lvl="8" algn="l">
              <a:spcBef>
                <a:spcPts val="0"/>
              </a:spcBef>
              <a:spcAft>
                <a:spcPts val="0"/>
              </a:spcAft>
              <a:buClr>
                <a:schemeClr val="dk1"/>
              </a:buClr>
              <a:buSzPts val="1400"/>
              <a:buFont typeface="Libre Baskerville"/>
              <a:buNone/>
              <a:defRPr/>
            </a:lvl9pPr>
          </a:lstStyle>
          <a:p/>
        </p:txBody>
      </p:sp>
      <p:sp>
        <p:nvSpPr>
          <p:cNvPr id="39" name="Google Shape;39;p4"/>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lvl1pPr lvl="0" algn="l">
              <a:spcBef>
                <a:spcPts val="0"/>
              </a:spcBef>
              <a:spcAft>
                <a:spcPts val="0"/>
              </a:spcAft>
              <a:buClr>
                <a:schemeClr val="dk2"/>
              </a:buClr>
              <a:buSzPts val="1400"/>
              <a:buFont typeface="Libre Baskerville"/>
              <a:buNone/>
              <a:defRPr/>
            </a:lvl1pPr>
            <a:lvl2pPr lvl="1" algn="l">
              <a:spcBef>
                <a:spcPts val="0"/>
              </a:spcBef>
              <a:spcAft>
                <a:spcPts val="0"/>
              </a:spcAft>
              <a:buClr>
                <a:schemeClr val="dk1"/>
              </a:buClr>
              <a:buSzPts val="1400"/>
              <a:buFont typeface="Libre Baskerville"/>
              <a:buNone/>
              <a:defRPr/>
            </a:lvl2pPr>
            <a:lvl3pPr lvl="2" algn="l">
              <a:spcBef>
                <a:spcPts val="0"/>
              </a:spcBef>
              <a:spcAft>
                <a:spcPts val="0"/>
              </a:spcAft>
              <a:buClr>
                <a:schemeClr val="dk1"/>
              </a:buClr>
              <a:buSzPts val="1400"/>
              <a:buFont typeface="Libre Baskerville"/>
              <a:buNone/>
              <a:defRPr/>
            </a:lvl3pPr>
            <a:lvl4pPr lvl="3" algn="l">
              <a:spcBef>
                <a:spcPts val="0"/>
              </a:spcBef>
              <a:spcAft>
                <a:spcPts val="0"/>
              </a:spcAft>
              <a:buClr>
                <a:schemeClr val="dk1"/>
              </a:buClr>
              <a:buSzPts val="1400"/>
              <a:buFont typeface="Libre Baskerville"/>
              <a:buNone/>
              <a:defRPr/>
            </a:lvl4pPr>
            <a:lvl5pPr lvl="4" algn="l">
              <a:spcBef>
                <a:spcPts val="0"/>
              </a:spcBef>
              <a:spcAft>
                <a:spcPts val="0"/>
              </a:spcAft>
              <a:buClr>
                <a:schemeClr val="dk1"/>
              </a:buClr>
              <a:buSzPts val="1400"/>
              <a:buFont typeface="Libre Baskerville"/>
              <a:buNone/>
              <a:defRPr/>
            </a:lvl5pPr>
            <a:lvl6pPr lvl="5" algn="l">
              <a:spcBef>
                <a:spcPts val="0"/>
              </a:spcBef>
              <a:spcAft>
                <a:spcPts val="0"/>
              </a:spcAft>
              <a:buClr>
                <a:schemeClr val="dk1"/>
              </a:buClr>
              <a:buSzPts val="1400"/>
              <a:buFont typeface="Libre Baskerville"/>
              <a:buNone/>
              <a:defRPr/>
            </a:lvl6pPr>
            <a:lvl7pPr lvl="6" algn="l">
              <a:spcBef>
                <a:spcPts val="0"/>
              </a:spcBef>
              <a:spcAft>
                <a:spcPts val="0"/>
              </a:spcAft>
              <a:buClr>
                <a:schemeClr val="dk1"/>
              </a:buClr>
              <a:buSzPts val="1400"/>
              <a:buFont typeface="Libre Baskerville"/>
              <a:buNone/>
              <a:defRPr/>
            </a:lvl7pPr>
            <a:lvl8pPr lvl="7" algn="l">
              <a:spcBef>
                <a:spcPts val="0"/>
              </a:spcBef>
              <a:spcAft>
                <a:spcPts val="0"/>
              </a:spcAft>
              <a:buClr>
                <a:schemeClr val="dk1"/>
              </a:buClr>
              <a:buSzPts val="1400"/>
              <a:buFont typeface="Libre Baskerville"/>
              <a:buNone/>
              <a:defRPr/>
            </a:lvl8pPr>
            <a:lvl9pPr lvl="8" algn="l">
              <a:spcBef>
                <a:spcPts val="0"/>
              </a:spcBef>
              <a:spcAft>
                <a:spcPts val="0"/>
              </a:spcAft>
              <a:buClr>
                <a:schemeClr val="dk1"/>
              </a:buClr>
              <a:buSzPts val="1400"/>
              <a:buFont typeface="Libre Baskerville"/>
              <a:buNone/>
              <a:defRPr/>
            </a:lvl9pPr>
          </a:lstStyle>
          <a:p/>
        </p:txBody>
      </p:sp>
      <p:sp>
        <p:nvSpPr>
          <p:cNvPr id="40" name="Google Shape;40;p4"/>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1pPr>
            <a:lvl2pPr indent="0" lvl="1"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2pPr>
            <a:lvl3pPr indent="0" lvl="2"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3pPr>
            <a:lvl4pPr indent="0" lvl="3"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4pPr>
            <a:lvl5pPr indent="0" lvl="4"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5pPr>
            <a:lvl6pPr indent="0" lvl="5"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6pPr>
            <a:lvl7pPr indent="0" lvl="6"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7pPr>
            <a:lvl8pPr indent="0" lvl="7"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8pPr>
            <a:lvl9pPr indent="0" lvl="8"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r>
              <a:rPr lang="en-US"/>
              <a:t>1</a:t>
            </a:r>
            <a:endParaRPr b="0" i="0" sz="1400">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1" name="Shape 41"/>
        <p:cNvGrpSpPr/>
        <p:nvPr/>
      </p:nvGrpSpPr>
      <p:grpSpPr>
        <a:xfrm>
          <a:off x="0" y="0"/>
          <a:ext cx="0" cy="0"/>
          <a:chOff x="0" y="0"/>
          <a:chExt cx="0" cy="0"/>
        </a:xfrm>
      </p:grpSpPr>
      <p:sp>
        <p:nvSpPr>
          <p:cNvPr id="42" name="Google Shape;42;p5"/>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rotWithShape="1">
          <a:blip r:embed="rId2">
            <a:alphaModFix/>
          </a:blip>
          <a:tile algn="tl" flip="none" tx="0" sx="55000" ty="0" sy="55000"/>
        </a:blipFill>
      </p:bgPr>
    </p:bg>
    <p:spTree>
      <p:nvGrpSpPr>
        <p:cNvPr id="45" name="Shape 45"/>
        <p:cNvGrpSpPr/>
        <p:nvPr/>
      </p:nvGrpSpPr>
      <p:grpSpPr>
        <a:xfrm>
          <a:off x="0" y="0"/>
          <a:ext cx="0" cy="0"/>
          <a:chOff x="0" y="0"/>
          <a:chExt cx="0" cy="0"/>
        </a:xfrm>
      </p:grpSpPr>
      <p:sp>
        <p:nvSpPr>
          <p:cNvPr id="46" name="Google Shape;46;p6"/>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47" name="Google Shape;47;p6"/>
          <p:cNvSpPr/>
          <p:nvPr/>
        </p:nvSpPr>
        <p:spPr>
          <a:xfrm>
            <a:off x="65313" y="69755"/>
            <a:ext cx="9013372" cy="6692201"/>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48" name="Google Shape;48;p6"/>
          <p:cNvSpPr txBox="1"/>
          <p:nvPr>
            <p:ph type="title"/>
          </p:nvPr>
        </p:nvSpPr>
        <p:spPr>
          <a:xfrm>
            <a:off x="722313" y="952500"/>
            <a:ext cx="7772400" cy="1362075"/>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4000"/>
              <a:buFont typeface="Libre Franklin"/>
              <a:buNone/>
              <a:defRPr b="0"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6"/>
          <p:cNvSpPr txBox="1"/>
          <p:nvPr>
            <p:ph idx="1" type="body"/>
          </p:nvPr>
        </p:nvSpPr>
        <p:spPr>
          <a:xfrm>
            <a:off x="722313" y="2547938"/>
            <a:ext cx="7772400" cy="1338262"/>
          </a:xfrm>
          <a:prstGeom prst="rect">
            <a:avLst/>
          </a:prstGeom>
          <a:noFill/>
          <a:ln>
            <a:noFill/>
          </a:ln>
        </p:spPr>
        <p:txBody>
          <a:bodyPr anchorCtr="0" anchor="t" bIns="45700" lIns="91425" spcFirstLastPara="1" rIns="91425" wrap="square" tIns="45700">
            <a:normAutofit/>
          </a:bodyPr>
          <a:lstStyle>
            <a:lvl1pPr indent="-228600" lvl="0" marL="457200" algn="l">
              <a:spcBef>
                <a:spcPts val="580"/>
              </a:spcBef>
              <a:spcAft>
                <a:spcPts val="0"/>
              </a:spcAft>
              <a:buSzPts val="2040"/>
              <a:buNone/>
              <a:defRPr sz="2400">
                <a:solidFill>
                  <a:srgbClr val="888888"/>
                </a:solidFill>
              </a:defRPr>
            </a:lvl1pPr>
            <a:lvl2pPr indent="-228600" lvl="1" marL="914400" algn="l">
              <a:spcBef>
                <a:spcPts val="370"/>
              </a:spcBef>
              <a:spcAft>
                <a:spcPts val="0"/>
              </a:spcAft>
              <a:buSzPts val="1530"/>
              <a:buNone/>
              <a:defRPr sz="1800">
                <a:solidFill>
                  <a:srgbClr val="888888"/>
                </a:solidFill>
              </a:defRPr>
            </a:lvl2pPr>
            <a:lvl3pPr indent="-228600" lvl="2" marL="1371600" algn="l">
              <a:spcBef>
                <a:spcPts val="370"/>
              </a:spcBef>
              <a:spcAft>
                <a:spcPts val="0"/>
              </a:spcAft>
              <a:buSzPts val="1360"/>
              <a:buNone/>
              <a:defRPr sz="1600">
                <a:solidFill>
                  <a:srgbClr val="888888"/>
                </a:solidFill>
              </a:defRPr>
            </a:lvl3pPr>
            <a:lvl4pPr indent="-228600" lvl="3" marL="1828800" algn="l">
              <a:spcBef>
                <a:spcPts val="370"/>
              </a:spcBef>
              <a:spcAft>
                <a:spcPts val="0"/>
              </a:spcAft>
              <a:buSzPts val="1120"/>
              <a:buNone/>
              <a:defRPr sz="1400">
                <a:solidFill>
                  <a:srgbClr val="888888"/>
                </a:solidFill>
              </a:defRPr>
            </a:lvl4pPr>
            <a:lvl5pPr indent="-228600" lvl="4" marL="2286000" algn="l">
              <a:spcBef>
                <a:spcPts val="370"/>
              </a:spcBef>
              <a:spcAft>
                <a:spcPts val="0"/>
              </a:spcAft>
              <a:buSzPts val="1400"/>
              <a:buFont typeface="Libre Baskerville"/>
              <a:buNone/>
              <a:defRPr sz="1400">
                <a:solidFill>
                  <a:srgbClr val="888888"/>
                </a:solidFill>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50" name="Google Shape;50;p6"/>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
          <p:cNvSpPr txBox="1"/>
          <p:nvPr>
            <p:ph idx="11" type="ftr"/>
          </p:nvPr>
        </p:nvSpPr>
        <p:spPr>
          <a:xfrm>
            <a:off x="800100" y="6172200"/>
            <a:ext cx="40005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
          <p:cNvSpPr/>
          <p:nvPr/>
        </p:nvSpPr>
        <p:spPr>
          <a:xfrm flipH="1" rot="10800000">
            <a:off x="69412" y="2376830"/>
            <a:ext cx="9013515"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53" name="Google Shape;53;p6"/>
          <p:cNvSpPr/>
          <p:nvPr/>
        </p:nvSpPr>
        <p:spPr>
          <a:xfrm>
            <a:off x="69146" y="2341475"/>
            <a:ext cx="9013781" cy="45719"/>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54" name="Google Shape;54;p6"/>
          <p:cNvSpPr/>
          <p:nvPr/>
        </p:nvSpPr>
        <p:spPr>
          <a:xfrm>
            <a:off x="68306" y="2468880"/>
            <a:ext cx="9014621" cy="4572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55" name="Google Shape;55;p6"/>
          <p:cNvSpPr/>
          <p:nvPr>
            <p:ph idx="12" type="sldNum"/>
          </p:nvPr>
        </p:nvSpPr>
        <p:spPr>
          <a:xfrm>
            <a:off x="146304" y="6208776"/>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7"/>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7"/>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7"/>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61" name="Google Shape;61;p7"/>
          <p:cNvSpPr txBox="1"/>
          <p:nvPr>
            <p:ph idx="1" type="body"/>
          </p:nvPr>
        </p:nvSpPr>
        <p:spPr>
          <a:xfrm>
            <a:off x="914400" y="1447800"/>
            <a:ext cx="3749040" cy="45720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62" name="Google Shape;62;p7"/>
          <p:cNvSpPr txBox="1"/>
          <p:nvPr>
            <p:ph idx="2" type="body"/>
          </p:nvPr>
        </p:nvSpPr>
        <p:spPr>
          <a:xfrm>
            <a:off x="4933950" y="1447800"/>
            <a:ext cx="3749040" cy="45720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8"/>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4000"/>
              <a:buFont typeface="Libre Franklin"/>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8"/>
          <p:cNvSpPr txBox="1"/>
          <p:nvPr>
            <p:ph idx="1" type="body"/>
          </p:nvPr>
        </p:nvSpPr>
        <p:spPr>
          <a:xfrm>
            <a:off x="9144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spcBef>
                <a:spcPts val="370"/>
              </a:spcBef>
              <a:spcAft>
                <a:spcPts val="0"/>
              </a:spcAft>
              <a:buSzPts val="1700"/>
              <a:buNone/>
              <a:defRPr b="1" sz="2000"/>
            </a:lvl2pPr>
            <a:lvl3pPr indent="-228600" lvl="2" marL="1371600" algn="l">
              <a:spcBef>
                <a:spcPts val="370"/>
              </a:spcBef>
              <a:spcAft>
                <a:spcPts val="0"/>
              </a:spcAft>
              <a:buSzPts val="1530"/>
              <a:buNone/>
              <a:defRPr b="1" sz="1800"/>
            </a:lvl3pPr>
            <a:lvl4pPr indent="-228600" lvl="3" marL="1828800" algn="l">
              <a:spcBef>
                <a:spcPts val="370"/>
              </a:spcBef>
              <a:spcAft>
                <a:spcPts val="0"/>
              </a:spcAft>
              <a:buSzPts val="1280"/>
              <a:buNone/>
              <a:defRPr b="1" sz="1600"/>
            </a:lvl4pPr>
            <a:lvl5pPr indent="-228600" lvl="4" marL="2286000" algn="l">
              <a:spcBef>
                <a:spcPts val="370"/>
              </a:spcBef>
              <a:spcAft>
                <a:spcPts val="0"/>
              </a:spcAft>
              <a:buSzPts val="1600"/>
              <a:buFont typeface="Libre Baskerville"/>
              <a:buNone/>
              <a:defRPr b="1" sz="16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66" name="Google Shape;66;p8"/>
          <p:cNvSpPr txBox="1"/>
          <p:nvPr>
            <p:ph idx="2" type="body"/>
          </p:nvPr>
        </p:nvSpPr>
        <p:spPr>
          <a:xfrm>
            <a:off x="49530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spcBef>
                <a:spcPts val="370"/>
              </a:spcBef>
              <a:spcAft>
                <a:spcPts val="0"/>
              </a:spcAft>
              <a:buSzPts val="1700"/>
              <a:buNone/>
              <a:defRPr b="1" sz="2000"/>
            </a:lvl2pPr>
            <a:lvl3pPr indent="-228600" lvl="2" marL="1371600" algn="l">
              <a:spcBef>
                <a:spcPts val="370"/>
              </a:spcBef>
              <a:spcAft>
                <a:spcPts val="0"/>
              </a:spcAft>
              <a:buSzPts val="1530"/>
              <a:buNone/>
              <a:defRPr b="1" sz="1800"/>
            </a:lvl3pPr>
            <a:lvl4pPr indent="-228600" lvl="3" marL="1828800" algn="l">
              <a:spcBef>
                <a:spcPts val="370"/>
              </a:spcBef>
              <a:spcAft>
                <a:spcPts val="0"/>
              </a:spcAft>
              <a:buSzPts val="1280"/>
              <a:buNone/>
              <a:defRPr b="1" sz="1600"/>
            </a:lvl4pPr>
            <a:lvl5pPr indent="-228600" lvl="4" marL="2286000" algn="l">
              <a:spcBef>
                <a:spcPts val="370"/>
              </a:spcBef>
              <a:spcAft>
                <a:spcPts val="0"/>
              </a:spcAft>
              <a:buSzPts val="1600"/>
              <a:buFont typeface="Libre Baskerville"/>
              <a:buNone/>
              <a:defRPr b="1" sz="16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67" name="Google Shape;67;p8"/>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8"/>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8"/>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0" name="Google Shape;70;p8"/>
          <p:cNvSpPr txBox="1"/>
          <p:nvPr>
            <p:ph idx="3" type="body"/>
          </p:nvPr>
        </p:nvSpPr>
        <p:spPr>
          <a:xfrm>
            <a:off x="914400" y="2247900"/>
            <a:ext cx="3733800" cy="38862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71" name="Google Shape;71;p8"/>
          <p:cNvSpPr txBox="1"/>
          <p:nvPr>
            <p:ph idx="4" type="body"/>
          </p:nvPr>
        </p:nvSpPr>
        <p:spPr>
          <a:xfrm>
            <a:off x="4953000" y="2247900"/>
            <a:ext cx="3733800" cy="38862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9"/>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9"/>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9"/>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9"/>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7" name="Shape 77"/>
        <p:cNvGrpSpPr/>
        <p:nvPr/>
      </p:nvGrpSpPr>
      <p:grpSpPr>
        <a:xfrm>
          <a:off x="0" y="0"/>
          <a:ext cx="0" cy="0"/>
          <a:chOff x="0" y="0"/>
          <a:chExt cx="0" cy="0"/>
        </a:xfrm>
      </p:grpSpPr>
      <p:sp>
        <p:nvSpPr>
          <p:cNvPr id="78" name="Google Shape;78;p10"/>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79" name="Google Shape;79;p10"/>
          <p:cNvSpPr/>
          <p:nvPr/>
        </p:nvSpPr>
        <p:spPr>
          <a:xfrm>
            <a:off x="64008" y="69755"/>
            <a:ext cx="9013372" cy="6693408"/>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80" name="Google Shape;80;p10"/>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4000"/>
              <a:buFont typeface="Libre Franklin"/>
              <a:buNone/>
              <a:defRPr b="0"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0"/>
          <p:cNvSpPr txBox="1"/>
          <p:nvPr>
            <p:ph idx="1" type="body"/>
          </p:nvPr>
        </p:nvSpPr>
        <p:spPr>
          <a:xfrm>
            <a:off x="914400" y="1600200"/>
            <a:ext cx="1905000" cy="4495800"/>
          </a:xfrm>
          <a:prstGeom prst="rect">
            <a:avLst/>
          </a:prstGeom>
          <a:noFill/>
          <a:ln>
            <a:noFill/>
          </a:ln>
        </p:spPr>
        <p:txBody>
          <a:bodyPr anchorCtr="0" anchor="t" bIns="45700" lIns="91425" spcFirstLastPara="1" rIns="91425" wrap="square" tIns="45700">
            <a:normAutofit/>
          </a:bodyPr>
          <a:lstStyle>
            <a:lvl1pPr indent="-228600" lvl="0" marL="457200" algn="l">
              <a:spcBef>
                <a:spcPts val="580"/>
              </a:spcBef>
              <a:spcAft>
                <a:spcPts val="0"/>
              </a:spcAft>
              <a:buSzPts val="1530"/>
              <a:buNone/>
              <a:defRPr sz="1800"/>
            </a:lvl1pPr>
            <a:lvl2pPr indent="-228600" lvl="1" marL="914400" algn="l">
              <a:spcBef>
                <a:spcPts val="370"/>
              </a:spcBef>
              <a:spcAft>
                <a:spcPts val="0"/>
              </a:spcAft>
              <a:buSzPts val="1020"/>
              <a:buNone/>
              <a:defRPr sz="1200"/>
            </a:lvl2pPr>
            <a:lvl3pPr indent="-228600" lvl="2" marL="1371600" algn="l">
              <a:spcBef>
                <a:spcPts val="370"/>
              </a:spcBef>
              <a:spcAft>
                <a:spcPts val="0"/>
              </a:spcAft>
              <a:buSzPts val="850"/>
              <a:buNone/>
              <a:defRPr sz="1000"/>
            </a:lvl3pPr>
            <a:lvl4pPr indent="-228600" lvl="3" marL="1828800" algn="l">
              <a:spcBef>
                <a:spcPts val="370"/>
              </a:spcBef>
              <a:spcAft>
                <a:spcPts val="0"/>
              </a:spcAft>
              <a:buSzPts val="720"/>
              <a:buNone/>
              <a:defRPr sz="900"/>
            </a:lvl4pPr>
            <a:lvl5pPr indent="-228600" lvl="4" marL="2286000" algn="l">
              <a:spcBef>
                <a:spcPts val="370"/>
              </a:spcBef>
              <a:spcAft>
                <a:spcPts val="0"/>
              </a:spcAft>
              <a:buSzPts val="900"/>
              <a:buFont typeface="Libre Baskerville"/>
              <a:buNone/>
              <a:defRPr sz="9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82" name="Google Shape;82;p10"/>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0"/>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0"/>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85" name="Google Shape;85;p10"/>
          <p:cNvSpPr txBox="1"/>
          <p:nvPr>
            <p:ph idx="2" type="body"/>
          </p:nvPr>
        </p:nvSpPr>
        <p:spPr>
          <a:xfrm>
            <a:off x="2971800" y="1600200"/>
            <a:ext cx="5715000" cy="44958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6" name="Shape 86"/>
        <p:cNvGrpSpPr/>
        <p:nvPr/>
      </p:nvGrpSpPr>
      <p:grpSpPr>
        <a:xfrm>
          <a:off x="0" y="0"/>
          <a:ext cx="0" cy="0"/>
          <a:chOff x="0" y="0"/>
          <a:chExt cx="0" cy="0"/>
        </a:xfrm>
      </p:grpSpPr>
      <p:sp>
        <p:nvSpPr>
          <p:cNvPr id="87" name="Google Shape;87;p11"/>
          <p:cNvSpPr txBox="1"/>
          <p:nvPr>
            <p:ph type="title"/>
          </p:nvPr>
        </p:nvSpPr>
        <p:spPr>
          <a:xfrm>
            <a:off x="914400" y="4900550"/>
            <a:ext cx="7315200" cy="522288"/>
          </a:xfrm>
          <a:prstGeom prst="rect">
            <a:avLst/>
          </a:prstGeom>
          <a:noFill/>
          <a:ln>
            <a:noFill/>
          </a:ln>
        </p:spPr>
        <p:txBody>
          <a:bodyPr anchorCtr="0" anchor="ctr" bIns="91425" lIns="91425" spcFirstLastPara="1" rIns="91425" wrap="square" tIns="45700">
            <a:noAutofit/>
          </a:bodyPr>
          <a:lstStyle>
            <a:lvl1pPr lvl="0" algn="l">
              <a:spcBef>
                <a:spcPts val="0"/>
              </a:spcBef>
              <a:spcAft>
                <a:spcPts val="0"/>
              </a:spcAft>
              <a:buClr>
                <a:schemeClr val="dk2"/>
              </a:buClr>
              <a:buSzPts val="2800"/>
              <a:buFont typeface="Libre Franklin"/>
              <a:buNone/>
              <a:defRPr b="0"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1"/>
          <p:cNvSpPr txBox="1"/>
          <p:nvPr>
            <p:ph idx="1" type="body"/>
          </p:nvPr>
        </p:nvSpPr>
        <p:spPr>
          <a:xfrm>
            <a:off x="914400" y="5445825"/>
            <a:ext cx="7315200" cy="685800"/>
          </a:xfrm>
          <a:prstGeom prst="rect">
            <a:avLst/>
          </a:prstGeom>
          <a:noFill/>
          <a:ln>
            <a:noFill/>
          </a:ln>
        </p:spPr>
        <p:txBody>
          <a:bodyPr anchorCtr="0" anchor="t" bIns="45700" lIns="91425" spcFirstLastPara="1" rIns="91425" wrap="square" tIns="45700">
            <a:normAutofit/>
          </a:bodyPr>
          <a:lstStyle>
            <a:lvl1pPr indent="-228600" lvl="0" marL="457200" algn="l">
              <a:spcBef>
                <a:spcPts val="580"/>
              </a:spcBef>
              <a:spcAft>
                <a:spcPts val="0"/>
              </a:spcAft>
              <a:buSzPts val="1360"/>
              <a:buFont typeface="Libre Baskerville"/>
              <a:buNone/>
              <a:defRPr sz="1600"/>
            </a:lvl1pPr>
            <a:lvl2pPr indent="-293369" lvl="1" marL="914400" algn="l">
              <a:spcBef>
                <a:spcPts val="370"/>
              </a:spcBef>
              <a:spcAft>
                <a:spcPts val="0"/>
              </a:spcAft>
              <a:buSzPts val="1020"/>
              <a:buChar char="⚫"/>
              <a:defRPr sz="1200"/>
            </a:lvl2pPr>
            <a:lvl3pPr indent="-282575" lvl="2" marL="1371600" algn="l">
              <a:spcBef>
                <a:spcPts val="370"/>
              </a:spcBef>
              <a:spcAft>
                <a:spcPts val="0"/>
              </a:spcAft>
              <a:buSzPts val="850"/>
              <a:buChar char="⚫"/>
              <a:defRPr sz="1000"/>
            </a:lvl3pPr>
            <a:lvl4pPr indent="-274319" lvl="3" marL="1828800" algn="l">
              <a:spcBef>
                <a:spcPts val="370"/>
              </a:spcBef>
              <a:spcAft>
                <a:spcPts val="0"/>
              </a:spcAft>
              <a:buSzPts val="720"/>
              <a:buChar char="⚫"/>
              <a:defRPr sz="900"/>
            </a:lvl4pPr>
            <a:lvl5pPr indent="-285750" lvl="4" marL="2286000" algn="l">
              <a:spcBef>
                <a:spcPts val="370"/>
              </a:spcBef>
              <a:spcAft>
                <a:spcPts val="0"/>
              </a:spcAft>
              <a:buSzPts val="900"/>
              <a:buFont typeface="Libre Baskerville"/>
              <a:buChar char="o"/>
              <a:defRPr sz="9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89" name="Google Shape;89;p1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1"/>
          <p:cNvSpPr txBox="1"/>
          <p:nvPr>
            <p:ph idx="11" type="ftr"/>
          </p:nvPr>
        </p:nvSpPr>
        <p:spPr>
          <a:xfrm>
            <a:off x="914400" y="6172200"/>
            <a:ext cx="38862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1"/>
          <p:cNvSpPr/>
          <p:nvPr>
            <p:ph idx="12" type="sldNum"/>
          </p:nvPr>
        </p:nvSpPr>
        <p:spPr>
          <a:xfrm>
            <a:off x="146304" y="6208776"/>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92" name="Google Shape;92;p11"/>
          <p:cNvSpPr/>
          <p:nvPr/>
        </p:nvSpPr>
        <p:spPr>
          <a:xfrm flipH="1" rot="10800000">
            <a:off x="68307" y="4683555"/>
            <a:ext cx="9006840"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93" name="Google Shape;93;p11"/>
          <p:cNvSpPr/>
          <p:nvPr/>
        </p:nvSpPr>
        <p:spPr>
          <a:xfrm>
            <a:off x="68508" y="4650474"/>
            <a:ext cx="9006639" cy="45719"/>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94" name="Google Shape;94;p11"/>
          <p:cNvSpPr/>
          <p:nvPr/>
        </p:nvSpPr>
        <p:spPr>
          <a:xfrm>
            <a:off x="68510" y="4773224"/>
            <a:ext cx="9006637" cy="48807"/>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95" name="Google Shape;95;p11"/>
          <p:cNvSpPr/>
          <p:nvPr>
            <p:ph idx="2" type="pic"/>
          </p:nvPr>
        </p:nvSpPr>
        <p:spPr>
          <a:xfrm>
            <a:off x="68308" y="66675"/>
            <a:ext cx="9001873" cy="4581525"/>
          </a:xfrm>
          <a:prstGeom prst="round2SameRect">
            <a:avLst>
              <a:gd fmla="val 7101" name="adj1"/>
              <a:gd fmla="val 0" name="adj2"/>
            </a:avLst>
          </a:prstGeom>
          <a:solidFill>
            <a:schemeClr val="lt2"/>
          </a:solidFill>
          <a:ln cap="flat" cmpd="sng" w="9525">
            <a:solidFill>
              <a:schemeClr val="dk1"/>
            </a:solidFill>
            <a:prstDash val="solid"/>
            <a:round/>
            <a:headEnd len="sm" w="sm" type="none"/>
            <a:tailEnd len="sm" w="sm" type="none"/>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6" name="Shape 96"/>
        <p:cNvGrpSpPr/>
        <p:nvPr/>
      </p:nvGrpSpPr>
      <p:grpSpPr>
        <a:xfrm>
          <a:off x="0" y="0"/>
          <a:ext cx="0" cy="0"/>
          <a:chOff x="0" y="0"/>
          <a:chExt cx="0" cy="0"/>
        </a:xfrm>
      </p:grpSpPr>
      <p:sp>
        <p:nvSpPr>
          <p:cNvPr id="97" name="Google Shape;97;p12"/>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2"/>
          <p:cNvSpPr txBox="1"/>
          <p:nvPr>
            <p:ph idx="1" type="body"/>
          </p:nvPr>
        </p:nvSpPr>
        <p:spPr>
          <a:xfrm rot="5400000">
            <a:off x="2514600" y="-152400"/>
            <a:ext cx="4572000" cy="77724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99" name="Google Shape;99;p1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2"/>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2" name="Shape 102"/>
        <p:cNvGrpSpPr/>
        <p:nvPr/>
      </p:nvGrpSpPr>
      <p:grpSpPr>
        <a:xfrm>
          <a:off x="0" y="0"/>
          <a:ext cx="0" cy="0"/>
          <a:chOff x="0" y="0"/>
          <a:chExt cx="0" cy="0"/>
        </a:xfrm>
      </p:grpSpPr>
      <p:sp>
        <p:nvSpPr>
          <p:cNvPr id="103" name="Google Shape;103;p13"/>
          <p:cNvSpPr txBox="1"/>
          <p:nvPr>
            <p:ph type="title"/>
          </p:nvPr>
        </p:nvSpPr>
        <p:spPr>
          <a:xfrm rot="5400000">
            <a:off x="4709478" y="2194564"/>
            <a:ext cx="5851525" cy="201168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13"/>
          <p:cNvSpPr txBox="1"/>
          <p:nvPr>
            <p:ph idx="1" type="body"/>
          </p:nvPr>
        </p:nvSpPr>
        <p:spPr>
          <a:xfrm rot="5400000">
            <a:off x="769938" y="419103"/>
            <a:ext cx="5851525" cy="55626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105" name="Google Shape;105;p1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3"/>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3"/>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1" name="Google Shape;11;p1"/>
          <p:cNvSpPr/>
          <p:nvPr/>
        </p:nvSpPr>
        <p:spPr>
          <a:xfrm>
            <a:off x="64008" y="69755"/>
            <a:ext cx="9013372" cy="6693408"/>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2" name="Google Shape;12;p1"/>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marR="0" rtl="0" algn="l">
              <a:spcBef>
                <a:spcPts val="0"/>
              </a:spcBef>
              <a:spcAft>
                <a:spcPts val="0"/>
              </a:spcAft>
              <a:buClr>
                <a:schemeClr val="dk2"/>
              </a:buClr>
              <a:buSzPts val="4000"/>
              <a:buFont typeface="Libre Franklin"/>
              <a:buNone/>
              <a:defRPr b="0" i="0" sz="4000" u="none" cap="none" strike="noStrike">
                <a:solidFill>
                  <a:schemeClr val="dk2"/>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rmAutofit/>
          </a:bodyPr>
          <a:lstStyle>
            <a:lvl1pPr indent="-368935" lvl="0" marL="457200" marR="0" rtl="0" algn="l">
              <a:spcBef>
                <a:spcPts val="580"/>
              </a:spcBef>
              <a:spcAft>
                <a:spcPts val="0"/>
              </a:spcAft>
              <a:buClr>
                <a:schemeClr val="accent1"/>
              </a:buClr>
              <a:buSzPts val="2210"/>
              <a:buFont typeface="Noto Sans Symbols"/>
              <a:buChar char="⚫"/>
              <a:defRPr b="0" i="0" sz="2600" u="none" cap="none" strike="noStrike">
                <a:solidFill>
                  <a:schemeClr val="dk1"/>
                </a:solidFill>
                <a:latin typeface="Libre Baskerville"/>
                <a:ea typeface="Libre Baskerville"/>
                <a:cs typeface="Libre Baskerville"/>
                <a:sym typeface="Libre Baskerville"/>
              </a:defRPr>
            </a:lvl1pPr>
            <a:lvl2pPr indent="-358140" lvl="1" marL="914400" marR="0" rtl="0" algn="l">
              <a:spcBef>
                <a:spcPts val="370"/>
              </a:spcBef>
              <a:spcAft>
                <a:spcPts val="0"/>
              </a:spcAft>
              <a:buClr>
                <a:schemeClr val="accent2"/>
              </a:buClr>
              <a:buSzPts val="2040"/>
              <a:buFont typeface="Noto Sans Symbols"/>
              <a:buChar char="⚫"/>
              <a:defRPr b="0" i="0" sz="2400" u="none" cap="none" strike="noStrike">
                <a:solidFill>
                  <a:schemeClr val="dk1"/>
                </a:solidFill>
                <a:latin typeface="Libre Baskerville"/>
                <a:ea typeface="Libre Baskerville"/>
                <a:cs typeface="Libre Baskerville"/>
                <a:sym typeface="Libre Baskerville"/>
              </a:defRPr>
            </a:lvl2pPr>
            <a:lvl3pPr indent="-336550" lvl="2" marL="1371600" marR="0" rtl="0" algn="l">
              <a:spcBef>
                <a:spcPts val="370"/>
              </a:spcBef>
              <a:spcAft>
                <a:spcPts val="0"/>
              </a:spcAft>
              <a:buClr>
                <a:srgbClr val="E6AFA9"/>
              </a:buClr>
              <a:buSzPts val="1700"/>
              <a:buFont typeface="Noto Sans Symbols"/>
              <a:buChar char="⚫"/>
              <a:defRPr b="0" i="0" sz="2000" u="none" cap="none" strike="noStrike">
                <a:solidFill>
                  <a:schemeClr val="dk1"/>
                </a:solidFill>
                <a:latin typeface="Libre Baskerville"/>
                <a:ea typeface="Libre Baskerville"/>
                <a:cs typeface="Libre Baskerville"/>
                <a:sym typeface="Libre Baskerville"/>
              </a:defRPr>
            </a:lvl3pPr>
            <a:lvl4pPr indent="-330200" lvl="3" marL="1828800" marR="0" rtl="0" algn="l">
              <a:spcBef>
                <a:spcPts val="370"/>
              </a:spcBef>
              <a:spcAft>
                <a:spcPts val="0"/>
              </a:spcAft>
              <a:buClr>
                <a:schemeClr val="accent3"/>
              </a:buClr>
              <a:buSzPts val="1600"/>
              <a:buFont typeface="Noto Sans Symbols"/>
              <a:buChar char="⚫"/>
              <a:defRPr b="0" i="0" sz="2000" u="none" cap="none" strike="noStrike">
                <a:solidFill>
                  <a:schemeClr val="dk1"/>
                </a:solidFill>
                <a:latin typeface="Libre Baskerville"/>
                <a:ea typeface="Libre Baskerville"/>
                <a:cs typeface="Libre Baskerville"/>
                <a:sym typeface="Libre Baskerville"/>
              </a:defRPr>
            </a:lvl4pPr>
            <a:lvl5pPr indent="-355600" lvl="4" marL="2286000" marR="0" rtl="0" algn="l">
              <a:spcBef>
                <a:spcPts val="370"/>
              </a:spcBef>
              <a:spcAft>
                <a:spcPts val="0"/>
              </a:spcAft>
              <a:buClr>
                <a:schemeClr val="accent3"/>
              </a:buClr>
              <a:buSzPts val="2000"/>
              <a:buFont typeface="Libre Baskerville"/>
              <a:buChar char="o"/>
              <a:defRPr b="0" i="0" sz="2000" u="none" cap="none" strike="noStrike">
                <a:solidFill>
                  <a:schemeClr val="dk1"/>
                </a:solidFill>
                <a:latin typeface="Libre Baskerville"/>
                <a:ea typeface="Libre Baskerville"/>
                <a:cs typeface="Libre Baskerville"/>
                <a:sym typeface="Libre Baskerville"/>
              </a:defRPr>
            </a:lvl5pPr>
            <a:lvl6pPr indent="-342900" lvl="5" marL="2743200" marR="0" rtl="0" algn="l">
              <a:spcBef>
                <a:spcPts val="370"/>
              </a:spcBef>
              <a:spcAft>
                <a:spcPts val="0"/>
              </a:spcAft>
              <a:buClr>
                <a:schemeClr val="accent3"/>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6pPr>
            <a:lvl7pPr indent="-342900" lvl="6" marL="3200400" marR="0" rtl="0" algn="l">
              <a:spcBef>
                <a:spcPts val="370"/>
              </a:spcBef>
              <a:spcAft>
                <a:spcPts val="0"/>
              </a:spcAft>
              <a:buClr>
                <a:schemeClr val="accent2"/>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7pPr>
            <a:lvl8pPr indent="-342900" lvl="7" marL="3657600" marR="0" rtl="0" algn="l">
              <a:spcBef>
                <a:spcPts val="370"/>
              </a:spcBef>
              <a:spcAft>
                <a:spcPts val="0"/>
              </a:spcAft>
              <a:buClr>
                <a:srgbClr val="E6AF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8pPr>
            <a:lvl9pPr indent="-342900" lvl="8" marL="4114800" marR="0" rtl="0" algn="l">
              <a:spcBef>
                <a:spcPts val="370"/>
              </a:spcBef>
              <a:spcAft>
                <a:spcPts val="0"/>
              </a:spcAft>
              <a:buClr>
                <a:srgbClr val="CAAB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9pPr>
          </a:lstStyle>
          <a:p/>
        </p:txBody>
      </p:sp>
      <p:sp>
        <p:nvSpPr>
          <p:cNvPr id="14" name="Google Shape;14;p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400" u="none" cap="none" strike="noStrike">
                <a:solidFill>
                  <a:schemeClr val="dk2"/>
                </a:solidFill>
                <a:latin typeface="Libre Baskerville"/>
                <a:ea typeface="Libre Baskerville"/>
                <a:cs typeface="Libre Baskerville"/>
                <a:sym typeface="Libre Baskerville"/>
              </a:defRPr>
            </a:lvl1pPr>
            <a:lvl2pPr lvl="1"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2pPr>
            <a:lvl3pPr lvl="2"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3pPr>
            <a:lvl4pPr lvl="3"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4pPr>
            <a:lvl5pPr lvl="4"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5pPr>
            <a:lvl6pPr lvl="5"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6pPr>
            <a:lvl7pPr lvl="6"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7pPr>
            <a:lvl8pPr lvl="7"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8pPr>
            <a:lvl9pPr lvl="8"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9pPr>
          </a:lstStyle>
          <a:p/>
        </p:txBody>
      </p:sp>
      <p:sp>
        <p:nvSpPr>
          <p:cNvPr id="15" name="Google Shape;15;p1"/>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2"/>
                </a:solidFill>
                <a:latin typeface="Libre Baskerville"/>
                <a:ea typeface="Libre Baskerville"/>
                <a:cs typeface="Libre Baskerville"/>
                <a:sym typeface="Libre Baskerville"/>
              </a:defRPr>
            </a:lvl1pPr>
            <a:lvl2pPr lvl="1"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2pPr>
            <a:lvl3pPr lvl="2"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3pPr>
            <a:lvl4pPr lvl="3"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4pPr>
            <a:lvl5pPr lvl="4"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5pPr>
            <a:lvl6pPr lvl="5"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6pPr>
            <a:lvl7pPr lvl="6"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7pPr>
            <a:lvl8pPr lvl="7"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8pPr>
            <a:lvl9pPr lvl="8"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9pPr>
          </a:lstStyle>
          <a:p/>
        </p:txBody>
      </p:sp>
      <p:sp>
        <p:nvSpPr>
          <p:cNvPr id="16" name="Google Shape;16;p1"/>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rtl="0" algn="ctr">
              <a:spcBef>
                <a:spcPts val="0"/>
              </a:spcBef>
              <a:buNone/>
              <a:defRPr b="0" i="0" sz="1400" u="none" cap="none" strike="noStrike">
                <a:solidFill>
                  <a:srgbClr val="FFFFFF"/>
                </a:solidFill>
                <a:latin typeface="Libre Franklin"/>
                <a:ea typeface="Libre Franklin"/>
                <a:cs typeface="Libre Franklin"/>
                <a:sym typeface="Libre Franklin"/>
              </a:defRPr>
            </a:lvl1pPr>
            <a:lvl2pPr indent="0" lvl="1" marL="0" marR="0" rtl="0" algn="ctr">
              <a:spcBef>
                <a:spcPts val="0"/>
              </a:spcBef>
              <a:buNone/>
              <a:defRPr b="0" i="0" sz="1400" u="none" cap="none" strike="noStrike">
                <a:solidFill>
                  <a:srgbClr val="FFFFFF"/>
                </a:solidFill>
                <a:latin typeface="Libre Franklin"/>
                <a:ea typeface="Libre Franklin"/>
                <a:cs typeface="Libre Franklin"/>
                <a:sym typeface="Libre Franklin"/>
              </a:defRPr>
            </a:lvl2pPr>
            <a:lvl3pPr indent="0" lvl="2" marL="0" marR="0" rtl="0" algn="ctr">
              <a:spcBef>
                <a:spcPts val="0"/>
              </a:spcBef>
              <a:buNone/>
              <a:defRPr b="0" i="0" sz="1400" u="none" cap="none" strike="noStrike">
                <a:solidFill>
                  <a:srgbClr val="FFFFFF"/>
                </a:solidFill>
                <a:latin typeface="Libre Franklin"/>
                <a:ea typeface="Libre Franklin"/>
                <a:cs typeface="Libre Franklin"/>
                <a:sym typeface="Libre Franklin"/>
              </a:defRPr>
            </a:lvl3pPr>
            <a:lvl4pPr indent="0" lvl="3" marL="0" marR="0" rtl="0" algn="ctr">
              <a:spcBef>
                <a:spcPts val="0"/>
              </a:spcBef>
              <a:buNone/>
              <a:defRPr b="0" i="0" sz="1400" u="none" cap="none" strike="noStrike">
                <a:solidFill>
                  <a:srgbClr val="FFFFFF"/>
                </a:solidFill>
                <a:latin typeface="Libre Franklin"/>
                <a:ea typeface="Libre Franklin"/>
                <a:cs typeface="Libre Franklin"/>
                <a:sym typeface="Libre Franklin"/>
              </a:defRPr>
            </a:lvl4pPr>
            <a:lvl5pPr indent="0" lvl="4" marL="0" marR="0" rtl="0" algn="ctr">
              <a:spcBef>
                <a:spcPts val="0"/>
              </a:spcBef>
              <a:buNone/>
              <a:defRPr b="0" i="0" sz="1400" u="none" cap="none" strike="noStrike">
                <a:solidFill>
                  <a:srgbClr val="FFFFFF"/>
                </a:solidFill>
                <a:latin typeface="Libre Franklin"/>
                <a:ea typeface="Libre Franklin"/>
                <a:cs typeface="Libre Franklin"/>
                <a:sym typeface="Libre Franklin"/>
              </a:defRPr>
            </a:lvl5pPr>
            <a:lvl6pPr indent="0" lvl="5" marL="0" marR="0" rtl="0" algn="ctr">
              <a:spcBef>
                <a:spcPts val="0"/>
              </a:spcBef>
              <a:buNone/>
              <a:defRPr b="0" i="0" sz="1400" u="none" cap="none" strike="noStrike">
                <a:solidFill>
                  <a:srgbClr val="FFFFFF"/>
                </a:solidFill>
                <a:latin typeface="Libre Franklin"/>
                <a:ea typeface="Libre Franklin"/>
                <a:cs typeface="Libre Franklin"/>
                <a:sym typeface="Libre Franklin"/>
              </a:defRPr>
            </a:lvl6pPr>
            <a:lvl7pPr indent="0" lvl="6" marL="0" marR="0" rtl="0" algn="ctr">
              <a:spcBef>
                <a:spcPts val="0"/>
              </a:spcBef>
              <a:buNone/>
              <a:defRPr b="0" i="0" sz="1400" u="none" cap="none" strike="noStrike">
                <a:solidFill>
                  <a:srgbClr val="FFFFFF"/>
                </a:solidFill>
                <a:latin typeface="Libre Franklin"/>
                <a:ea typeface="Libre Franklin"/>
                <a:cs typeface="Libre Franklin"/>
                <a:sym typeface="Libre Franklin"/>
              </a:defRPr>
            </a:lvl7pPr>
            <a:lvl8pPr indent="0" lvl="7" marL="0" marR="0" rtl="0" algn="ctr">
              <a:spcBef>
                <a:spcPts val="0"/>
              </a:spcBef>
              <a:buNone/>
              <a:defRPr b="0" i="0" sz="1400" u="none" cap="none" strike="noStrike">
                <a:solidFill>
                  <a:srgbClr val="FFFFFF"/>
                </a:solidFill>
                <a:latin typeface="Libre Franklin"/>
                <a:ea typeface="Libre Franklin"/>
                <a:cs typeface="Libre Franklin"/>
                <a:sym typeface="Libre Franklin"/>
              </a:defRPr>
            </a:lvl8pPr>
            <a:lvl9pPr indent="0" lvl="8" marL="0" marR="0" rtl="0" algn="ctr">
              <a:spcBef>
                <a:spcPts val="0"/>
              </a:spcBef>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14.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4"/>
          <p:cNvSpPr txBox="1"/>
          <p:nvPr>
            <p:ph type="ctrTitle"/>
          </p:nvPr>
        </p:nvSpPr>
        <p:spPr>
          <a:xfrm>
            <a:off x="457200" y="1505930"/>
            <a:ext cx="8229600" cy="1470025"/>
          </a:xfrm>
          <a:prstGeom prst="rect">
            <a:avLst/>
          </a:prstGeom>
          <a:noFill/>
          <a:ln>
            <a:noFill/>
          </a:ln>
        </p:spPr>
        <p:txBody>
          <a:bodyPr anchorCtr="0" anchor="ctr" bIns="91425" lIns="91425" spcFirstLastPara="1" rIns="91425" wrap="square" tIns="45700">
            <a:normAutofit fontScale="90000"/>
          </a:bodyPr>
          <a:lstStyle/>
          <a:p>
            <a:pPr indent="0" lvl="0" marL="0" rtl="0" algn="ctr">
              <a:lnSpc>
                <a:spcPct val="80000"/>
              </a:lnSpc>
              <a:spcBef>
                <a:spcPts val="0"/>
              </a:spcBef>
              <a:spcAft>
                <a:spcPts val="0"/>
              </a:spcAft>
              <a:buClr>
                <a:srgbClr val="FFFFFF"/>
              </a:buClr>
              <a:buSzPct val="100000"/>
              <a:buFont typeface="Libre Franklin"/>
              <a:buNone/>
            </a:pPr>
            <a:r>
              <a:rPr b="1" lang="en-US"/>
              <a:t>Air pollution monitoring, forecasting and controlling system</a:t>
            </a:r>
            <a:endParaRPr b="1"/>
          </a:p>
        </p:txBody>
      </p:sp>
      <p:sp>
        <p:nvSpPr>
          <p:cNvPr id="113" name="Google Shape;113;p14"/>
          <p:cNvSpPr txBox="1"/>
          <p:nvPr/>
        </p:nvSpPr>
        <p:spPr>
          <a:xfrm>
            <a:off x="5652120" y="3212976"/>
            <a:ext cx="3024300" cy="1944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1"/>
              </a:buClr>
              <a:buSzPts val="1530"/>
              <a:buFont typeface="Noto Sans Symbols"/>
              <a:buNone/>
            </a:pPr>
            <a:r>
              <a:rPr b="1" i="0" lang="en-US" sz="1800" u="none" cap="none" strike="noStrike">
                <a:solidFill>
                  <a:srgbClr val="000000"/>
                </a:solidFill>
                <a:latin typeface="Arial"/>
                <a:ea typeface="Arial"/>
                <a:cs typeface="Arial"/>
                <a:sym typeface="Arial"/>
              </a:rPr>
              <a:t>Under the Guidance of</a:t>
            </a:r>
            <a:endParaRPr/>
          </a:p>
          <a:p>
            <a:pPr indent="0" lvl="0" marL="0" marR="0" rtl="0" algn="l">
              <a:spcBef>
                <a:spcPts val="580"/>
              </a:spcBef>
              <a:spcAft>
                <a:spcPts val="0"/>
              </a:spcAft>
              <a:buClr>
                <a:schemeClr val="accent1"/>
              </a:buClr>
              <a:buSzPts val="1530"/>
              <a:buFont typeface="Noto Sans Symbols"/>
              <a:buNone/>
            </a:pPr>
            <a:r>
              <a:t/>
            </a:r>
            <a:endParaRPr b="1" i="0" sz="1800" u="none" cap="none" strike="noStrike">
              <a:solidFill>
                <a:srgbClr val="000000"/>
              </a:solidFill>
              <a:latin typeface="Arial"/>
              <a:ea typeface="Arial"/>
              <a:cs typeface="Arial"/>
              <a:sym typeface="Arial"/>
            </a:endParaRPr>
          </a:p>
          <a:p>
            <a:pPr indent="0" lvl="0" marL="0" marR="0" rtl="0" algn="ctr">
              <a:spcBef>
                <a:spcPts val="580"/>
              </a:spcBef>
              <a:spcAft>
                <a:spcPts val="0"/>
              </a:spcAft>
              <a:buClr>
                <a:schemeClr val="accent1"/>
              </a:buClr>
              <a:buSzPts val="1530"/>
              <a:buFont typeface="Noto Sans Symbols"/>
              <a:buNone/>
            </a:pPr>
            <a:r>
              <a:rPr b="1" lang="en-US" sz="1800"/>
              <a:t>Prof. Pallavi B</a:t>
            </a:r>
            <a:endParaRPr/>
          </a:p>
          <a:p>
            <a:pPr indent="0" lvl="0" marL="0" marR="0" rtl="0" algn="ctr">
              <a:spcBef>
                <a:spcPts val="580"/>
              </a:spcBef>
              <a:spcAft>
                <a:spcPts val="0"/>
              </a:spcAft>
              <a:buClr>
                <a:schemeClr val="accent1"/>
              </a:buClr>
              <a:buSzPts val="1530"/>
              <a:buFont typeface="Noto Sans Symbols"/>
              <a:buNone/>
            </a:pPr>
            <a:r>
              <a:rPr lang="en-US" sz="1800"/>
              <a:t>Assistant Professor</a:t>
            </a:r>
            <a:endParaRPr/>
          </a:p>
          <a:p>
            <a:pPr indent="0" lvl="0" marL="0" marR="0" rtl="0" algn="ctr">
              <a:spcBef>
                <a:spcPts val="580"/>
              </a:spcBef>
              <a:spcAft>
                <a:spcPts val="0"/>
              </a:spcAft>
              <a:buClr>
                <a:schemeClr val="accent1"/>
              </a:buClr>
              <a:buSzPts val="1530"/>
              <a:buFont typeface="Noto Sans Symbols"/>
              <a:buNone/>
            </a:pPr>
            <a:r>
              <a:rPr b="0" i="0" lang="en-US" sz="1800" u="none" cap="none" strike="noStrike">
                <a:solidFill>
                  <a:srgbClr val="000000"/>
                </a:solidFill>
                <a:latin typeface="Arial"/>
                <a:ea typeface="Arial"/>
                <a:cs typeface="Arial"/>
                <a:sym typeface="Arial"/>
              </a:rPr>
              <a:t>Department of ISE</a:t>
            </a:r>
            <a:endParaRPr b="0" i="0" sz="1800" u="none" cap="none" strike="noStrike">
              <a:solidFill>
                <a:srgbClr val="000000"/>
              </a:solidFill>
              <a:latin typeface="Arial"/>
              <a:ea typeface="Arial"/>
              <a:cs typeface="Arial"/>
              <a:sym typeface="Arial"/>
            </a:endParaRPr>
          </a:p>
        </p:txBody>
      </p:sp>
      <p:sp>
        <p:nvSpPr>
          <p:cNvPr id="114" name="Google Shape;114;p14"/>
          <p:cNvSpPr txBox="1"/>
          <p:nvPr/>
        </p:nvSpPr>
        <p:spPr>
          <a:xfrm>
            <a:off x="1403648" y="188640"/>
            <a:ext cx="7488832" cy="1224136"/>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ctr">
              <a:spcBef>
                <a:spcPts val="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BMS College of Engineering</a:t>
            </a:r>
            <a:endParaRPr/>
          </a:p>
          <a:p>
            <a:pPr indent="0" lvl="0" marL="0" marR="0" rtl="0" algn="ctr">
              <a:spcBef>
                <a:spcPts val="58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Department of Information Science and Engineering</a:t>
            </a:r>
            <a:endParaRPr/>
          </a:p>
          <a:p>
            <a:pPr indent="0" lvl="0" marL="0" marR="0" rtl="0" algn="ctr">
              <a:spcBef>
                <a:spcPts val="58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CAPSTONE PROJECT PHASE -1 </a:t>
            </a:r>
            <a:endParaRPr/>
          </a:p>
          <a:p>
            <a:pPr indent="0" lvl="0" marL="0" marR="0" rtl="0" algn="ctr">
              <a:spcBef>
                <a:spcPts val="58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Review - II</a:t>
            </a:r>
            <a:endParaRPr b="1" i="0" sz="2600" u="none" cap="none" strike="noStrike">
              <a:solidFill>
                <a:schemeClr val="dk2"/>
              </a:solidFill>
              <a:latin typeface="Libre Baskerville"/>
              <a:ea typeface="Libre Baskerville"/>
              <a:cs typeface="Libre Baskerville"/>
              <a:sym typeface="Libre Baskerville"/>
            </a:endParaRPr>
          </a:p>
        </p:txBody>
      </p:sp>
      <p:pic>
        <p:nvPicPr>
          <p:cNvPr descr="Related image" id="115" name="Google Shape;115;p14"/>
          <p:cNvPicPr preferRelativeResize="0"/>
          <p:nvPr/>
        </p:nvPicPr>
        <p:blipFill rotWithShape="1">
          <a:blip r:embed="rId3">
            <a:alphaModFix/>
          </a:blip>
          <a:srcRect b="0" l="0" r="0" t="0"/>
          <a:stretch/>
        </p:blipFill>
        <p:spPr>
          <a:xfrm>
            <a:off x="456134" y="195450"/>
            <a:ext cx="1019522" cy="992334"/>
          </a:xfrm>
          <a:prstGeom prst="rect">
            <a:avLst/>
          </a:prstGeom>
          <a:noFill/>
          <a:ln>
            <a:noFill/>
          </a:ln>
        </p:spPr>
      </p:pic>
      <p:sp>
        <p:nvSpPr>
          <p:cNvPr id="116" name="Google Shape;116;p14"/>
          <p:cNvSpPr/>
          <p:nvPr/>
        </p:nvSpPr>
        <p:spPr>
          <a:xfrm>
            <a:off x="179500" y="3074525"/>
            <a:ext cx="4665600" cy="229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800"/>
              <a:buFont typeface="Arial"/>
              <a:buNone/>
            </a:pPr>
            <a:r>
              <a:rPr b="1" i="0" lang="en-US" sz="1800" u="sng" cap="none" strike="noStrike">
                <a:solidFill>
                  <a:srgbClr val="000000"/>
                </a:solidFill>
                <a:latin typeface="Arial"/>
                <a:ea typeface="Arial"/>
                <a:cs typeface="Arial"/>
                <a:sym typeface="Arial"/>
              </a:rPr>
              <a:t>Batch No:-</a:t>
            </a:r>
            <a:r>
              <a:rPr b="0" i="0" lang="en-US" sz="1800" u="none" cap="none" strike="noStrike">
                <a:solidFill>
                  <a:srgbClr val="000000"/>
                </a:solidFill>
                <a:latin typeface="Arial"/>
                <a:ea typeface="Arial"/>
                <a:cs typeface="Arial"/>
                <a:sym typeface="Arial"/>
              </a:rPr>
              <a:t> 25</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spcBef>
                <a:spcPts val="0"/>
              </a:spcBef>
              <a:spcAft>
                <a:spcPts val="0"/>
              </a:spcAft>
              <a:buClr>
                <a:srgbClr val="000000"/>
              </a:buClr>
              <a:buSzPts val="1800"/>
              <a:buFont typeface="Arial"/>
              <a:buNone/>
            </a:pPr>
            <a:r>
              <a:rPr b="1" i="0" lang="en-US" sz="1800" u="sng" cap="none" strike="noStrike">
                <a:solidFill>
                  <a:srgbClr val="000000"/>
                </a:solidFill>
                <a:latin typeface="Arial"/>
                <a:ea typeface="Arial"/>
                <a:cs typeface="Arial"/>
                <a:sym typeface="Arial"/>
              </a:rPr>
              <a:t>Project Team  Members: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50000"/>
              </a:lnSpc>
              <a:spcBef>
                <a:spcPts val="0"/>
              </a:spcBef>
              <a:spcAft>
                <a:spcPts val="0"/>
              </a:spcAft>
              <a:buClr>
                <a:schemeClr val="dk1"/>
              </a:buClr>
              <a:buSzPts val="1800"/>
              <a:buFont typeface="Libre Baskerville"/>
              <a:buNone/>
            </a:pPr>
            <a:r>
              <a:t/>
            </a:r>
            <a:endParaRPr b="0" i="0" sz="18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3F3F3F"/>
              </a:buClr>
              <a:buSzPts val="1800"/>
              <a:buFont typeface="Calibri"/>
              <a:buNone/>
            </a:pPr>
            <a:r>
              <a:rPr b="1" lang="en-US" sz="2000">
                <a:solidFill>
                  <a:schemeClr val="dk1"/>
                </a:solidFill>
                <a:latin typeface="Calibri"/>
                <a:ea typeface="Calibri"/>
                <a:cs typeface="Calibri"/>
                <a:sym typeface="Calibri"/>
              </a:rPr>
              <a:t>Prateek M Gummaraju </a:t>
            </a:r>
            <a:r>
              <a:rPr b="1" i="0" lang="en-US" sz="2000" u="none" cap="none" strike="noStrike">
                <a:solidFill>
                  <a:schemeClr val="dk1"/>
                </a:solidFill>
                <a:latin typeface="Calibri"/>
                <a:ea typeface="Calibri"/>
                <a:cs typeface="Calibri"/>
                <a:sym typeface="Calibri"/>
              </a:rPr>
              <a:t>(</a:t>
            </a:r>
            <a:r>
              <a:rPr b="1" lang="en-US" sz="2000">
                <a:solidFill>
                  <a:schemeClr val="dk1"/>
                </a:solidFill>
                <a:latin typeface="Calibri"/>
                <a:ea typeface="Calibri"/>
                <a:cs typeface="Calibri"/>
                <a:sym typeface="Calibri"/>
              </a:rPr>
              <a:t>1BM19IS117</a:t>
            </a:r>
            <a:r>
              <a:rPr b="1" i="0" lang="en-US" sz="2000" u="none" cap="none" strike="noStrike">
                <a:solidFill>
                  <a:schemeClr val="dk1"/>
                </a:solidFill>
                <a:latin typeface="Calibri"/>
                <a:ea typeface="Calibri"/>
                <a:cs typeface="Calibri"/>
                <a:sym typeface="Calibri"/>
              </a:rPr>
              <a:t>)</a:t>
            </a:r>
            <a:endParaRPr sz="1600">
              <a:solidFill>
                <a:schemeClr val="dk1"/>
              </a:solidFill>
            </a:endParaRPr>
          </a:p>
          <a:p>
            <a:pPr indent="0" lvl="0" marL="0" marR="0" rtl="0" algn="l">
              <a:lnSpc>
                <a:spcPct val="150000"/>
              </a:lnSpc>
              <a:spcBef>
                <a:spcPts val="0"/>
              </a:spcBef>
              <a:spcAft>
                <a:spcPts val="0"/>
              </a:spcAft>
              <a:buClr>
                <a:srgbClr val="3F3F3F"/>
              </a:buClr>
              <a:buSzPts val="1800"/>
              <a:buFont typeface="Calibri"/>
              <a:buNone/>
            </a:pPr>
            <a:r>
              <a:rPr b="1" lang="en-US" sz="2000">
                <a:solidFill>
                  <a:schemeClr val="dk1"/>
                </a:solidFill>
                <a:latin typeface="Calibri"/>
                <a:ea typeface="Calibri"/>
                <a:cs typeface="Calibri"/>
                <a:sym typeface="Calibri"/>
              </a:rPr>
              <a:t>Ruchi Aggarwal </a:t>
            </a:r>
            <a:r>
              <a:rPr b="1" i="0" lang="en-US" sz="2000" u="none" cap="none" strike="noStrike">
                <a:solidFill>
                  <a:schemeClr val="dk1"/>
                </a:solidFill>
                <a:latin typeface="Calibri"/>
                <a:ea typeface="Calibri"/>
                <a:cs typeface="Calibri"/>
                <a:sym typeface="Calibri"/>
              </a:rPr>
              <a:t>(</a:t>
            </a:r>
            <a:r>
              <a:rPr b="1" lang="en-US" sz="2000">
                <a:solidFill>
                  <a:schemeClr val="dk1"/>
                </a:solidFill>
                <a:latin typeface="Calibri"/>
                <a:ea typeface="Calibri"/>
                <a:cs typeface="Calibri"/>
                <a:sym typeface="Calibri"/>
              </a:rPr>
              <a:t>1BM19IS133</a:t>
            </a:r>
            <a:r>
              <a:rPr b="1" i="0" lang="en-US" sz="2000" u="none" cap="none" strike="noStrike">
                <a:solidFill>
                  <a:schemeClr val="dk1"/>
                </a:solidFill>
                <a:latin typeface="Calibri"/>
                <a:ea typeface="Calibri"/>
                <a:cs typeface="Calibri"/>
                <a:sym typeface="Calibri"/>
              </a:rPr>
              <a:t>)</a:t>
            </a:r>
            <a:endParaRPr sz="1600">
              <a:solidFill>
                <a:schemeClr val="dk1"/>
              </a:solidFill>
            </a:endParaRPr>
          </a:p>
          <a:p>
            <a:pPr indent="0" lvl="0" marL="0" marR="0" rtl="0" algn="l">
              <a:lnSpc>
                <a:spcPct val="150000"/>
              </a:lnSpc>
              <a:spcBef>
                <a:spcPts val="0"/>
              </a:spcBef>
              <a:spcAft>
                <a:spcPts val="0"/>
              </a:spcAft>
              <a:buNone/>
            </a:pPr>
            <a:r>
              <a:rPr b="1" lang="en-US" sz="2000">
                <a:solidFill>
                  <a:schemeClr val="dk1"/>
                </a:solidFill>
                <a:latin typeface="Calibri"/>
                <a:ea typeface="Calibri"/>
                <a:cs typeface="Calibri"/>
                <a:sym typeface="Calibri"/>
              </a:rPr>
              <a:t>Samartha S</a:t>
            </a:r>
            <a:r>
              <a:rPr b="1" i="0" lang="en-US" sz="2000" u="none" cap="none" strike="noStrike">
                <a:solidFill>
                  <a:schemeClr val="dk1"/>
                </a:solidFill>
                <a:latin typeface="Calibri"/>
                <a:ea typeface="Calibri"/>
                <a:cs typeface="Calibri"/>
                <a:sym typeface="Calibri"/>
              </a:rPr>
              <a:t> (</a:t>
            </a:r>
            <a:r>
              <a:rPr b="1" lang="en-US" sz="2000">
                <a:solidFill>
                  <a:schemeClr val="dk1"/>
                </a:solidFill>
                <a:latin typeface="Calibri"/>
                <a:ea typeface="Calibri"/>
                <a:cs typeface="Calibri"/>
                <a:sym typeface="Calibri"/>
              </a:rPr>
              <a:t>1BM19IS219</a:t>
            </a:r>
            <a:r>
              <a:rPr b="1" i="0" lang="en-US" sz="2000" u="none" cap="none" strike="noStrike">
                <a:solidFill>
                  <a:schemeClr val="dk1"/>
                </a:solidFill>
                <a:latin typeface="Calibri"/>
                <a:ea typeface="Calibri"/>
                <a:cs typeface="Calibri"/>
                <a:sym typeface="Calibri"/>
              </a:rPr>
              <a:t>)</a:t>
            </a:r>
            <a:endParaRPr sz="1600">
              <a:solidFill>
                <a:schemeClr val="dk1"/>
              </a:solidFill>
            </a:endParaRPr>
          </a:p>
          <a:p>
            <a:pPr indent="0" lvl="0" marL="0" marR="0" rtl="0" algn="l">
              <a:spcBef>
                <a:spcPts val="0"/>
              </a:spcBef>
              <a:spcAft>
                <a:spcPts val="0"/>
              </a:spcAft>
              <a:buClr>
                <a:schemeClr val="dk1"/>
              </a:buClr>
              <a:buSzPts val="1800"/>
              <a:buFont typeface="Libre Baskerville"/>
              <a:buNone/>
            </a:pPr>
            <a:r>
              <a:t/>
            </a:r>
            <a:endParaRPr b="0" i="0" sz="1800" u="none" cap="none" strike="noStrike">
              <a:solidFill>
                <a:srgbClr val="404040"/>
              </a:solidFill>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5"/>
          <p:cNvSpPr txBox="1"/>
          <p:nvPr>
            <p:ph type="title"/>
          </p:nvPr>
        </p:nvSpPr>
        <p:spPr>
          <a:xfrm>
            <a:off x="611560" y="116632"/>
            <a:ext cx="7772400" cy="720080"/>
          </a:xfrm>
          <a:prstGeom prst="rect">
            <a:avLst/>
          </a:prstGeom>
          <a:noFill/>
          <a:ln>
            <a:noFill/>
          </a:ln>
        </p:spPr>
        <p:txBody>
          <a:bodyPr anchorCtr="0" anchor="b" bIns="91425" lIns="91425" spcFirstLastPara="1" rIns="91425" wrap="square" tIns="45700">
            <a:normAutofit fontScale="90000"/>
          </a:bodyPr>
          <a:lstStyle/>
          <a:p>
            <a:pPr indent="0" lvl="0" marL="0" rtl="0" algn="ctr">
              <a:spcBef>
                <a:spcPts val="0"/>
              </a:spcBef>
              <a:spcAft>
                <a:spcPts val="0"/>
              </a:spcAft>
              <a:buClr>
                <a:schemeClr val="dk2"/>
              </a:buClr>
              <a:buSzPct val="153846"/>
              <a:buFont typeface="Libre Franklin"/>
              <a:buNone/>
            </a:pPr>
            <a:r>
              <a:rPr b="1" lang="en-US" sz="2600">
                <a:solidFill>
                  <a:schemeClr val="dk1"/>
                </a:solidFill>
                <a:latin typeface="Libre Baskerville"/>
                <a:ea typeface="Libre Baskerville"/>
                <a:cs typeface="Libre Baskerville"/>
                <a:sym typeface="Libre Baskerville"/>
              </a:rPr>
              <a:t>Agenda</a:t>
            </a:r>
            <a:endParaRPr/>
          </a:p>
        </p:txBody>
      </p:sp>
      <p:sp>
        <p:nvSpPr>
          <p:cNvPr id="122" name="Google Shape;122;p15"/>
          <p:cNvSpPr txBox="1"/>
          <p:nvPr>
            <p:ph idx="1" type="body"/>
          </p:nvPr>
        </p:nvSpPr>
        <p:spPr>
          <a:xfrm>
            <a:off x="774500" y="1060500"/>
            <a:ext cx="3083700" cy="4737000"/>
          </a:xfrm>
          <a:prstGeom prst="rect">
            <a:avLst/>
          </a:prstGeom>
          <a:noFill/>
          <a:ln>
            <a:noFill/>
          </a:ln>
        </p:spPr>
        <p:txBody>
          <a:bodyPr anchorCtr="0" anchor="t" bIns="45700" lIns="91425" spcFirstLastPara="1" rIns="91425" wrap="square" tIns="45700">
            <a:normAutofit/>
          </a:bodyPr>
          <a:lstStyle/>
          <a:p>
            <a:pPr indent="-133985" lvl="0" marL="274320" rtl="0" algn="l">
              <a:spcBef>
                <a:spcPts val="0"/>
              </a:spcBef>
              <a:spcAft>
                <a:spcPts val="0"/>
              </a:spcAft>
              <a:buSzPts val="2210"/>
              <a:buNone/>
            </a:pPr>
            <a:r>
              <a:t/>
            </a:r>
            <a:endParaRPr/>
          </a:p>
          <a:p>
            <a:pPr indent="-274320" lvl="0" marL="274320" rtl="0" algn="l">
              <a:spcBef>
                <a:spcPts val="580"/>
              </a:spcBef>
              <a:spcAft>
                <a:spcPts val="0"/>
              </a:spcAft>
              <a:buSzPts val="2210"/>
              <a:buChar char="⚫"/>
            </a:pPr>
            <a:r>
              <a:rPr lang="en-US">
                <a:latin typeface="Arial"/>
                <a:ea typeface="Arial"/>
                <a:cs typeface="Arial"/>
                <a:sym typeface="Arial"/>
              </a:rPr>
              <a:t>Introduction</a:t>
            </a:r>
            <a:endParaRPr/>
          </a:p>
          <a:p>
            <a:pPr indent="-274320" lvl="0" marL="274320" rtl="0" algn="l">
              <a:spcBef>
                <a:spcPts val="580"/>
              </a:spcBef>
              <a:spcAft>
                <a:spcPts val="0"/>
              </a:spcAft>
              <a:buSzPts val="2210"/>
              <a:buChar char="⚫"/>
            </a:pPr>
            <a:r>
              <a:rPr lang="en-US">
                <a:latin typeface="Arial"/>
                <a:ea typeface="Arial"/>
                <a:cs typeface="Arial"/>
                <a:sym typeface="Arial"/>
              </a:rPr>
              <a:t>Motivation</a:t>
            </a:r>
            <a:endParaRPr/>
          </a:p>
          <a:p>
            <a:pPr indent="-274320" lvl="0" marL="274320" rtl="0" algn="l">
              <a:spcBef>
                <a:spcPts val="580"/>
              </a:spcBef>
              <a:spcAft>
                <a:spcPts val="0"/>
              </a:spcAft>
              <a:buSzPts val="2210"/>
              <a:buChar char="⚫"/>
            </a:pPr>
            <a:r>
              <a:rPr lang="en-US">
                <a:latin typeface="Arial"/>
                <a:ea typeface="Arial"/>
                <a:cs typeface="Arial"/>
                <a:sym typeface="Arial"/>
              </a:rPr>
              <a:t>Literature Survey</a:t>
            </a:r>
            <a:endParaRPr/>
          </a:p>
          <a:p>
            <a:pPr indent="-274320" lvl="0" marL="274320" rtl="0" algn="l">
              <a:spcBef>
                <a:spcPts val="580"/>
              </a:spcBef>
              <a:spcAft>
                <a:spcPts val="0"/>
              </a:spcAft>
              <a:buSzPts val="2210"/>
              <a:buChar char="⚫"/>
            </a:pPr>
            <a:r>
              <a:rPr lang="en-US">
                <a:latin typeface="Arial"/>
                <a:ea typeface="Arial"/>
                <a:cs typeface="Arial"/>
                <a:sym typeface="Arial"/>
              </a:rPr>
              <a:t>Survey</a:t>
            </a:r>
            <a:r>
              <a:rPr lang="en-US">
                <a:latin typeface="Arial"/>
                <a:ea typeface="Arial"/>
                <a:cs typeface="Arial"/>
                <a:sym typeface="Arial"/>
              </a:rPr>
              <a:t> Summary</a:t>
            </a:r>
            <a:endParaRPr/>
          </a:p>
          <a:p>
            <a:pPr indent="-317500" lvl="0" marL="274320" rtl="0" algn="l">
              <a:spcBef>
                <a:spcPts val="580"/>
              </a:spcBef>
              <a:spcAft>
                <a:spcPts val="0"/>
              </a:spcAft>
              <a:buSzPts val="2210"/>
              <a:buChar char="⚫"/>
            </a:pPr>
            <a:r>
              <a:rPr lang="en-US">
                <a:latin typeface="Arial"/>
                <a:ea typeface="Arial"/>
                <a:cs typeface="Arial"/>
                <a:sym typeface="Arial"/>
              </a:rPr>
              <a:t>Proposed System</a:t>
            </a:r>
            <a:endParaRPr/>
          </a:p>
          <a:p>
            <a:pPr indent="0" lvl="0" marL="274320" rtl="0" algn="l">
              <a:spcBef>
                <a:spcPts val="580"/>
              </a:spcBef>
              <a:spcAft>
                <a:spcPts val="0"/>
              </a:spcAft>
              <a:buNone/>
            </a:pPr>
            <a:r>
              <a:t/>
            </a:r>
            <a:endParaRPr>
              <a:latin typeface="Arial"/>
              <a:ea typeface="Arial"/>
              <a:cs typeface="Arial"/>
              <a:sym typeface="Arial"/>
            </a:endParaRPr>
          </a:p>
        </p:txBody>
      </p:sp>
      <p:sp>
        <p:nvSpPr>
          <p:cNvPr id="123" name="Google Shape;123;p15"/>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
        <p:nvSpPr>
          <p:cNvPr id="124" name="Google Shape;124;p15"/>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Department of ISE, BMSCE</a:t>
            </a:r>
            <a:endParaRPr/>
          </a:p>
        </p:txBody>
      </p:sp>
      <p:sp>
        <p:nvSpPr>
          <p:cNvPr id="125" name="Google Shape;125;p15"/>
          <p:cNvSpPr txBox="1"/>
          <p:nvPr/>
        </p:nvSpPr>
        <p:spPr>
          <a:xfrm>
            <a:off x="4876800" y="1559100"/>
            <a:ext cx="3000000" cy="2483400"/>
          </a:xfrm>
          <a:prstGeom prst="rect">
            <a:avLst/>
          </a:prstGeom>
          <a:noFill/>
          <a:ln>
            <a:noFill/>
          </a:ln>
        </p:spPr>
        <p:txBody>
          <a:bodyPr anchorCtr="0" anchor="t" bIns="91425" lIns="91425" spcFirstLastPara="1" rIns="91425" wrap="square" tIns="91425">
            <a:spAutoFit/>
          </a:bodyPr>
          <a:lstStyle/>
          <a:p>
            <a:pPr indent="-317500" lvl="0" marL="274320" rtl="0" algn="l">
              <a:spcBef>
                <a:spcPts val="580"/>
              </a:spcBef>
              <a:spcAft>
                <a:spcPts val="0"/>
              </a:spcAft>
              <a:buClr>
                <a:schemeClr val="accent1"/>
              </a:buClr>
              <a:buSzPts val="2210"/>
              <a:buFont typeface="Noto Sans Symbols"/>
              <a:buChar char="⚫"/>
            </a:pPr>
            <a:r>
              <a:rPr lang="en-US" sz="2600">
                <a:solidFill>
                  <a:schemeClr val="dk1"/>
                </a:solidFill>
              </a:rPr>
              <a:t>Applications</a:t>
            </a:r>
            <a:endParaRPr sz="2600">
              <a:solidFill>
                <a:schemeClr val="dk1"/>
              </a:solidFill>
              <a:latin typeface="Libre Baskerville"/>
              <a:ea typeface="Libre Baskerville"/>
              <a:cs typeface="Libre Baskerville"/>
              <a:sym typeface="Libre Baskerville"/>
            </a:endParaRPr>
          </a:p>
          <a:p>
            <a:pPr indent="-317500" lvl="0" marL="274320" rtl="0" algn="l">
              <a:spcBef>
                <a:spcPts val="580"/>
              </a:spcBef>
              <a:spcAft>
                <a:spcPts val="0"/>
              </a:spcAft>
              <a:buClr>
                <a:schemeClr val="accent1"/>
              </a:buClr>
              <a:buSzPts val="2210"/>
              <a:buFont typeface="Noto Sans Symbols"/>
              <a:buChar char="⚫"/>
            </a:pPr>
            <a:r>
              <a:rPr lang="en-US" sz="2600">
                <a:solidFill>
                  <a:schemeClr val="dk1"/>
                </a:solidFill>
              </a:rPr>
              <a:t>SRS</a:t>
            </a:r>
            <a:endParaRPr sz="2600">
              <a:solidFill>
                <a:schemeClr val="dk1"/>
              </a:solidFill>
              <a:latin typeface="Libre Baskerville"/>
              <a:ea typeface="Libre Baskerville"/>
              <a:cs typeface="Libre Baskerville"/>
              <a:sym typeface="Libre Baskerville"/>
            </a:endParaRPr>
          </a:p>
          <a:p>
            <a:pPr indent="-317500" lvl="0" marL="274320" rtl="0" algn="l">
              <a:spcBef>
                <a:spcPts val="580"/>
              </a:spcBef>
              <a:spcAft>
                <a:spcPts val="0"/>
              </a:spcAft>
              <a:buClr>
                <a:schemeClr val="accent1"/>
              </a:buClr>
              <a:buSzPts val="2210"/>
              <a:buFont typeface="Noto Sans Symbols"/>
              <a:buChar char="⚫"/>
            </a:pPr>
            <a:r>
              <a:rPr lang="en-US" sz="2600">
                <a:solidFill>
                  <a:schemeClr val="dk1"/>
                </a:solidFill>
              </a:rPr>
              <a:t>System Design</a:t>
            </a:r>
            <a:endParaRPr sz="2600">
              <a:solidFill>
                <a:schemeClr val="dk1"/>
              </a:solidFill>
              <a:latin typeface="Libre Baskerville"/>
              <a:ea typeface="Libre Baskerville"/>
              <a:cs typeface="Libre Baskerville"/>
              <a:sym typeface="Libre Baskerville"/>
            </a:endParaRPr>
          </a:p>
          <a:p>
            <a:pPr indent="-317500" lvl="0" marL="274320" rtl="0" algn="l">
              <a:spcBef>
                <a:spcPts val="580"/>
              </a:spcBef>
              <a:spcAft>
                <a:spcPts val="0"/>
              </a:spcAft>
              <a:buClr>
                <a:schemeClr val="accent1"/>
              </a:buClr>
              <a:buSzPts val="2210"/>
              <a:buFont typeface="Noto Sans Symbols"/>
              <a:buChar char="⚫"/>
            </a:pPr>
            <a:r>
              <a:rPr lang="en-US" sz="2600">
                <a:solidFill>
                  <a:schemeClr val="dk1"/>
                </a:solidFill>
              </a:rPr>
              <a:t>Detailed Design</a:t>
            </a:r>
            <a:endParaRPr sz="2600">
              <a:solidFill>
                <a:schemeClr val="dk1"/>
              </a:solidFill>
            </a:endParaRPr>
          </a:p>
          <a:p>
            <a:pPr indent="-274320" lvl="0" marL="274320" rtl="0" algn="l">
              <a:spcBef>
                <a:spcPts val="580"/>
              </a:spcBef>
              <a:spcAft>
                <a:spcPts val="0"/>
              </a:spcAft>
              <a:buClr>
                <a:schemeClr val="accent1"/>
              </a:buClr>
              <a:buSzPts val="2210"/>
              <a:buFont typeface="Noto Sans Symbols"/>
              <a:buChar char="⚫"/>
            </a:pPr>
            <a:r>
              <a:rPr lang="en-US" sz="2600">
                <a:solidFill>
                  <a:schemeClr val="dk1"/>
                </a:solidFill>
              </a:rPr>
              <a:t>References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6"/>
          <p:cNvSpPr txBox="1"/>
          <p:nvPr>
            <p:ph idx="1" type="body"/>
          </p:nvPr>
        </p:nvSpPr>
        <p:spPr>
          <a:xfrm>
            <a:off x="1096964" y="404664"/>
            <a:ext cx="6908947" cy="609157"/>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3600"/>
              <a:buNone/>
            </a:pPr>
            <a:r>
              <a:rPr b="1" lang="en-US"/>
              <a:t>Introduction</a:t>
            </a:r>
            <a:endParaRPr sz="3600">
              <a:solidFill>
                <a:schemeClr val="dk2"/>
              </a:solidFill>
              <a:latin typeface="Libre Franklin"/>
              <a:ea typeface="Libre Franklin"/>
              <a:cs typeface="Libre Franklin"/>
              <a:sym typeface="Libre Franklin"/>
            </a:endParaRPr>
          </a:p>
        </p:txBody>
      </p:sp>
      <p:sp>
        <p:nvSpPr>
          <p:cNvPr id="131" name="Google Shape;131;p16"/>
          <p:cNvSpPr txBox="1"/>
          <p:nvPr/>
        </p:nvSpPr>
        <p:spPr>
          <a:xfrm>
            <a:off x="812800" y="1013821"/>
            <a:ext cx="7263000" cy="64191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317500" lvl="0" marL="457200" marR="0" rtl="0" algn="just">
              <a:lnSpc>
                <a:spcPct val="115000"/>
              </a:lnSpc>
              <a:spcBef>
                <a:spcPts val="0"/>
              </a:spcBef>
              <a:spcAft>
                <a:spcPts val="0"/>
              </a:spcAft>
              <a:buClr>
                <a:srgbClr val="000000"/>
              </a:buClr>
              <a:buSzPts val="1400"/>
              <a:buFont typeface="Times New Roman"/>
              <a:buChar char="●"/>
            </a:pPr>
            <a:r>
              <a:rPr lang="en-US" sz="1800">
                <a:solidFill>
                  <a:schemeClr val="dk1"/>
                </a:solidFill>
                <a:latin typeface="Times New Roman"/>
                <a:ea typeface="Times New Roman"/>
                <a:cs typeface="Times New Roman"/>
                <a:sym typeface="Times New Roman"/>
              </a:rPr>
              <a:t>Air pollution is defined as the presence of compounds in the atmosphere that are harmful to human beings and other living organisms</a:t>
            </a:r>
            <a:endParaRPr sz="1800">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1000"/>
              </a:spcBef>
              <a:spcAft>
                <a:spcPts val="0"/>
              </a:spcAft>
              <a:buClr>
                <a:srgbClr val="000000"/>
              </a:buClr>
              <a:buSzPts val="1400"/>
              <a:buFont typeface="Times New Roman"/>
              <a:buChar char="●"/>
            </a:pPr>
            <a:r>
              <a:rPr lang="en-US" sz="1800">
                <a:solidFill>
                  <a:schemeClr val="dk1"/>
                </a:solidFill>
                <a:latin typeface="Times New Roman"/>
                <a:ea typeface="Times New Roman"/>
                <a:cs typeface="Times New Roman"/>
                <a:sym typeface="Times New Roman"/>
              </a:rPr>
              <a:t>Has severe effects on human health - Respiratory issues, lungs and heart problems</a:t>
            </a:r>
            <a:endParaRPr sz="1800">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1000"/>
              </a:spcBef>
              <a:spcAft>
                <a:spcPts val="0"/>
              </a:spcAft>
              <a:buClr>
                <a:srgbClr val="000000"/>
              </a:buClr>
              <a:buSzPts val="1400"/>
              <a:buFont typeface="Times New Roman"/>
              <a:buChar char="●"/>
            </a:pPr>
            <a:r>
              <a:rPr lang="en-US" sz="1800">
                <a:solidFill>
                  <a:schemeClr val="dk1"/>
                </a:solidFill>
                <a:latin typeface="Times New Roman"/>
                <a:ea typeface="Times New Roman"/>
                <a:cs typeface="Times New Roman"/>
                <a:sym typeface="Times New Roman"/>
              </a:rPr>
              <a:t>Offering a holistic approach to tackle the issue of air </a:t>
            </a:r>
            <a:r>
              <a:rPr lang="en-US" sz="1800">
                <a:solidFill>
                  <a:schemeClr val="dk1"/>
                </a:solidFill>
                <a:latin typeface="Times New Roman"/>
                <a:ea typeface="Times New Roman"/>
                <a:cs typeface="Times New Roman"/>
                <a:sym typeface="Times New Roman"/>
              </a:rPr>
              <a:t>pollution</a:t>
            </a:r>
            <a:r>
              <a:rPr lang="en-US" sz="1800">
                <a:solidFill>
                  <a:schemeClr val="dk1"/>
                </a:solidFill>
                <a:latin typeface="Times New Roman"/>
                <a:ea typeface="Times New Roman"/>
                <a:cs typeface="Times New Roman"/>
                <a:sym typeface="Times New Roman"/>
              </a:rPr>
              <a:t> by building a device that can monitor air pollution, predict future levels of </a:t>
            </a:r>
            <a:r>
              <a:rPr lang="en-US" sz="1800">
                <a:solidFill>
                  <a:schemeClr val="dk1"/>
                </a:solidFill>
                <a:latin typeface="Times New Roman"/>
                <a:ea typeface="Times New Roman"/>
                <a:cs typeface="Times New Roman"/>
                <a:sym typeface="Times New Roman"/>
              </a:rPr>
              <a:t>pollution</a:t>
            </a:r>
            <a:r>
              <a:rPr lang="en-US" sz="1800">
                <a:solidFill>
                  <a:schemeClr val="dk1"/>
                </a:solidFill>
                <a:latin typeface="Times New Roman"/>
                <a:ea typeface="Times New Roman"/>
                <a:cs typeface="Times New Roman"/>
                <a:sym typeface="Times New Roman"/>
              </a:rPr>
              <a:t> and also suggest precautionary actions and methods to reduce air pollution</a:t>
            </a:r>
            <a:endParaRPr sz="1800">
              <a:solidFill>
                <a:schemeClr val="dk1"/>
              </a:solidFill>
              <a:latin typeface="Times New Roman"/>
              <a:ea typeface="Times New Roman"/>
              <a:cs typeface="Times New Roman"/>
              <a:sym typeface="Times New Roman"/>
            </a:endParaRPr>
          </a:p>
          <a:p>
            <a:pPr indent="0" lvl="0" marL="457200" marR="0" rtl="0" algn="just">
              <a:lnSpc>
                <a:spcPct val="115000"/>
              </a:lnSpc>
              <a:spcBef>
                <a:spcPts val="1000"/>
              </a:spcBef>
              <a:spcAft>
                <a:spcPts val="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0" lvl="0" marL="0" marR="0" rtl="0" algn="l">
              <a:spcBef>
                <a:spcPts val="100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p:txBody>
      </p:sp>
      <p:sp>
        <p:nvSpPr>
          <p:cNvPr id="132" name="Google Shape;132;p16"/>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pic>
        <p:nvPicPr>
          <p:cNvPr id="133" name="Google Shape;133;p16"/>
          <p:cNvPicPr preferRelativeResize="0"/>
          <p:nvPr/>
        </p:nvPicPr>
        <p:blipFill>
          <a:blip r:embed="rId3">
            <a:alphaModFix/>
          </a:blip>
          <a:stretch>
            <a:fillRect/>
          </a:stretch>
        </p:blipFill>
        <p:spPr>
          <a:xfrm>
            <a:off x="511176" y="2081700"/>
            <a:ext cx="10296675" cy="42833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7"/>
          <p:cNvSpPr txBox="1"/>
          <p:nvPr>
            <p:ph idx="1" type="body"/>
          </p:nvPr>
        </p:nvSpPr>
        <p:spPr>
          <a:xfrm>
            <a:off x="1096964" y="404664"/>
            <a:ext cx="6908947" cy="609157"/>
          </a:xfrm>
          <a:prstGeom prst="rect">
            <a:avLst/>
          </a:prstGeom>
          <a:noFill/>
          <a:ln>
            <a:noFill/>
          </a:ln>
        </p:spPr>
        <p:txBody>
          <a:bodyPr anchorCtr="0" anchor="t" bIns="91425" lIns="91425" spcFirstLastPara="1" rIns="91425" wrap="square" tIns="91425">
            <a:noAutofit/>
          </a:bodyPr>
          <a:lstStyle/>
          <a:p>
            <a:pPr indent="0" lvl="0" marL="228600" rtl="0" algn="ctr">
              <a:spcBef>
                <a:spcPts val="0"/>
              </a:spcBef>
              <a:spcAft>
                <a:spcPts val="0"/>
              </a:spcAft>
              <a:buSzPts val="1400"/>
              <a:buNone/>
            </a:pPr>
            <a:r>
              <a:rPr b="1" lang="en-US"/>
              <a:t>Motivation</a:t>
            </a:r>
            <a:endParaRPr/>
          </a:p>
        </p:txBody>
      </p:sp>
      <p:sp>
        <p:nvSpPr>
          <p:cNvPr id="139" name="Google Shape;139;p17"/>
          <p:cNvSpPr txBox="1"/>
          <p:nvPr/>
        </p:nvSpPr>
        <p:spPr>
          <a:xfrm>
            <a:off x="792225" y="793175"/>
            <a:ext cx="8256300" cy="119292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0" lvl="0" marL="0" rtl="0" algn="just">
              <a:spcBef>
                <a:spcPts val="0"/>
              </a:spcBef>
              <a:spcAft>
                <a:spcPts val="0"/>
              </a:spcAft>
              <a:buNone/>
            </a:pP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317500" lvl="0" marL="457200" rtl="0" algn="just">
              <a:lnSpc>
                <a:spcPct val="115000"/>
              </a:lnSpc>
              <a:spcBef>
                <a:spcPts val="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Air pollution claims 7 million lives a year making it the most dangerous type of pollution</a:t>
            </a:r>
            <a:endParaRPr sz="1800">
              <a:solidFill>
                <a:schemeClr val="dk1"/>
              </a:solidFill>
              <a:latin typeface="Times New Roman"/>
              <a:ea typeface="Times New Roman"/>
              <a:cs typeface="Times New Roman"/>
              <a:sym typeface="Times New Roman"/>
            </a:endParaRPr>
          </a:p>
          <a:p>
            <a:pPr indent="-317500" lvl="0" marL="4572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No present technology that is implemented on a large scale in urban areas</a:t>
            </a:r>
            <a:endParaRPr sz="1800">
              <a:solidFill>
                <a:schemeClr val="dk1"/>
              </a:solidFill>
              <a:latin typeface="Times New Roman"/>
              <a:ea typeface="Times New Roman"/>
              <a:cs typeface="Times New Roman"/>
              <a:sym typeface="Times New Roman"/>
            </a:endParaRPr>
          </a:p>
          <a:p>
            <a:pPr indent="-317500" lvl="0" marL="4572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Lack of effective mobile apps</a:t>
            </a:r>
            <a:endParaRPr sz="1800">
              <a:solidFill>
                <a:schemeClr val="dk1"/>
              </a:solidFill>
              <a:latin typeface="Times New Roman"/>
              <a:ea typeface="Times New Roman"/>
              <a:cs typeface="Times New Roman"/>
              <a:sym typeface="Times New Roman"/>
            </a:endParaRPr>
          </a:p>
          <a:p>
            <a:pPr indent="-317500" lvl="0" marL="4572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Lack of awareness </a:t>
            </a:r>
            <a:endParaRPr sz="1800">
              <a:solidFill>
                <a:schemeClr val="dk1"/>
              </a:solidFill>
              <a:latin typeface="Times New Roman"/>
              <a:ea typeface="Times New Roman"/>
              <a:cs typeface="Times New Roman"/>
              <a:sym typeface="Times New Roman"/>
            </a:endParaRPr>
          </a:p>
          <a:p>
            <a:pPr indent="-317500" lvl="0" marL="4572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Demonstrate </a:t>
            </a:r>
            <a:r>
              <a:rPr lang="en-US" sz="1800">
                <a:solidFill>
                  <a:schemeClr val="dk1"/>
                </a:solidFill>
                <a:latin typeface="Times New Roman"/>
                <a:ea typeface="Times New Roman"/>
                <a:cs typeface="Times New Roman"/>
                <a:sym typeface="Times New Roman"/>
              </a:rPr>
              <a:t>the</a:t>
            </a:r>
            <a:r>
              <a:rPr lang="en-US" sz="1800">
                <a:solidFill>
                  <a:schemeClr val="dk1"/>
                </a:solidFill>
                <a:latin typeface="Times New Roman"/>
                <a:ea typeface="Times New Roman"/>
                <a:cs typeface="Times New Roman"/>
                <a:sym typeface="Times New Roman"/>
              </a:rPr>
              <a:t> possibility of a device to tackle to this problem which  is:</a:t>
            </a:r>
            <a:endParaRPr sz="1800">
              <a:solidFill>
                <a:schemeClr val="dk1"/>
              </a:solidFill>
              <a:latin typeface="Times New Roman"/>
              <a:ea typeface="Times New Roman"/>
              <a:cs typeface="Times New Roman"/>
              <a:sym typeface="Times New Roman"/>
            </a:endParaRPr>
          </a:p>
          <a:p>
            <a:pPr indent="-317500" lvl="1" marL="9144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Cost effective</a:t>
            </a:r>
            <a:endParaRPr sz="1800">
              <a:solidFill>
                <a:schemeClr val="dk1"/>
              </a:solidFill>
              <a:latin typeface="Times New Roman"/>
              <a:ea typeface="Times New Roman"/>
              <a:cs typeface="Times New Roman"/>
              <a:sym typeface="Times New Roman"/>
            </a:endParaRPr>
          </a:p>
          <a:p>
            <a:pPr indent="-317500" lvl="1" marL="9144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Compact</a:t>
            </a:r>
            <a:endParaRPr sz="1800">
              <a:solidFill>
                <a:schemeClr val="dk1"/>
              </a:solidFill>
              <a:latin typeface="Times New Roman"/>
              <a:ea typeface="Times New Roman"/>
              <a:cs typeface="Times New Roman"/>
              <a:sym typeface="Times New Roman"/>
            </a:endParaRPr>
          </a:p>
          <a:p>
            <a:pPr indent="-317500" lvl="1" marL="9144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Easy to use</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10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Help Bengaluru remain the Garden City of India for many years to come</a:t>
            </a:r>
            <a:endParaRPr sz="1800">
              <a:solidFill>
                <a:schemeClr val="dk1"/>
              </a:solidFill>
              <a:latin typeface="Times New Roman"/>
              <a:ea typeface="Times New Roman"/>
              <a:cs typeface="Times New Roman"/>
              <a:sym typeface="Times New Roman"/>
            </a:endParaRPr>
          </a:p>
        </p:txBody>
      </p:sp>
      <p:sp>
        <p:nvSpPr>
          <p:cNvPr id="140" name="Google Shape;140;p17"/>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141" name="Google Shape;141;p17"/>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42" name="Google Shape;142;p17"/>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8"/>
          <p:cNvSpPr txBox="1"/>
          <p:nvPr>
            <p:ph idx="1" type="body"/>
          </p:nvPr>
        </p:nvSpPr>
        <p:spPr>
          <a:xfrm>
            <a:off x="1299842" y="404664"/>
            <a:ext cx="6394280" cy="882316"/>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Existing System</a:t>
            </a:r>
            <a:endParaRPr sz="3600">
              <a:solidFill>
                <a:schemeClr val="dk2"/>
              </a:solidFill>
              <a:latin typeface="Libre Franklin"/>
              <a:ea typeface="Libre Franklin"/>
              <a:cs typeface="Libre Franklin"/>
              <a:sym typeface="Libre Franklin"/>
            </a:endParaRPr>
          </a:p>
        </p:txBody>
      </p:sp>
      <p:sp>
        <p:nvSpPr>
          <p:cNvPr id="148" name="Google Shape;148;p18"/>
          <p:cNvSpPr txBox="1"/>
          <p:nvPr>
            <p:ph idx="3" type="body"/>
          </p:nvPr>
        </p:nvSpPr>
        <p:spPr>
          <a:xfrm>
            <a:off x="511175" y="1396100"/>
            <a:ext cx="8241000" cy="4615200"/>
          </a:xfrm>
          <a:prstGeom prst="rect">
            <a:avLst/>
          </a:prstGeom>
          <a:noFill/>
          <a:ln>
            <a:noFill/>
          </a:ln>
        </p:spPr>
        <p:txBody>
          <a:bodyPr anchorCtr="0" anchor="t" bIns="91425" lIns="91425" spcFirstLastPara="1" rIns="91425" wrap="square" tIns="91425">
            <a:noAutofit/>
          </a:bodyPr>
          <a:lstStyle/>
          <a:p>
            <a:pPr indent="-304800" lvl="0" marL="457200" rtl="0" algn="just">
              <a:lnSpc>
                <a:spcPct val="150000"/>
              </a:lnSpc>
              <a:spcBef>
                <a:spcPts val="0"/>
              </a:spcBef>
              <a:spcAft>
                <a:spcPts val="0"/>
              </a:spcAft>
              <a:buSzPts val="1200"/>
              <a:buFont typeface="Times New Roman"/>
              <a:buChar char="●"/>
            </a:pPr>
            <a:r>
              <a:rPr lang="en-US" sz="1200">
                <a:latin typeface="Times New Roman"/>
                <a:ea typeface="Times New Roman"/>
                <a:cs typeface="Times New Roman"/>
                <a:sym typeface="Times New Roman"/>
              </a:rPr>
              <a:t>There is no one stop solution for eliminating air pollution. With the rising trends of population expansion, urbanisation, industrialization, and increased affluence, the number of potential sources of air pollution grows quickly every year.</a:t>
            </a:r>
            <a:endParaRPr sz="1200">
              <a:latin typeface="Times New Roman"/>
              <a:ea typeface="Times New Roman"/>
              <a:cs typeface="Times New Roman"/>
              <a:sym typeface="Times New Roman"/>
            </a:endParaRPr>
          </a:p>
          <a:p>
            <a:pPr indent="-304800" lvl="0" marL="457200" rtl="0" algn="just">
              <a:lnSpc>
                <a:spcPct val="150000"/>
              </a:lnSpc>
              <a:spcBef>
                <a:spcPts val="0"/>
              </a:spcBef>
              <a:spcAft>
                <a:spcPts val="0"/>
              </a:spcAft>
              <a:buSzPts val="1200"/>
              <a:buFont typeface="Times New Roman"/>
              <a:buChar char="●"/>
            </a:pPr>
            <a:r>
              <a:rPr lang="en-US" sz="1200">
                <a:latin typeface="Times New Roman"/>
                <a:ea typeface="Times New Roman"/>
                <a:cs typeface="Times New Roman"/>
                <a:sym typeface="Times New Roman"/>
              </a:rPr>
              <a:t>The only way people can get accurate updates on air pollution is by reading the Government report at the end of each month. This gives a day by day AQI breakdown for 7 major areas in Bangalore.</a:t>
            </a:r>
            <a:endParaRPr sz="1200">
              <a:latin typeface="Times New Roman"/>
              <a:ea typeface="Times New Roman"/>
              <a:cs typeface="Times New Roman"/>
              <a:sym typeface="Times New Roman"/>
            </a:endParaRPr>
          </a:p>
          <a:p>
            <a:pPr indent="0" lvl="0" marL="0" rtl="0" algn="just">
              <a:lnSpc>
                <a:spcPct val="150000"/>
              </a:lnSpc>
              <a:spcBef>
                <a:spcPts val="1000"/>
              </a:spcBef>
              <a:spcAft>
                <a:spcPts val="0"/>
              </a:spcAft>
              <a:buSzPts val="1100"/>
              <a:buNone/>
            </a:pPr>
            <a:r>
              <a:t/>
            </a:r>
            <a:endParaRPr sz="1200">
              <a:latin typeface="Times New Roman"/>
              <a:ea typeface="Times New Roman"/>
              <a:cs typeface="Times New Roman"/>
              <a:sym typeface="Times New Roman"/>
            </a:endParaRPr>
          </a:p>
          <a:p>
            <a:pPr indent="0" lvl="0" marL="0" rtl="0" algn="just">
              <a:lnSpc>
                <a:spcPct val="150000"/>
              </a:lnSpc>
              <a:spcBef>
                <a:spcPts val="1000"/>
              </a:spcBef>
              <a:spcAft>
                <a:spcPts val="0"/>
              </a:spcAft>
              <a:buSzPts val="1100"/>
              <a:buNone/>
            </a:pPr>
            <a:r>
              <a:t/>
            </a:r>
            <a:endParaRPr sz="1200">
              <a:latin typeface="Times New Roman"/>
              <a:ea typeface="Times New Roman"/>
              <a:cs typeface="Times New Roman"/>
              <a:sym typeface="Times New Roman"/>
            </a:endParaRPr>
          </a:p>
          <a:p>
            <a:pPr indent="0" lvl="0" marL="0" rtl="0" algn="just">
              <a:lnSpc>
                <a:spcPct val="150000"/>
              </a:lnSpc>
              <a:spcBef>
                <a:spcPts val="1000"/>
              </a:spcBef>
              <a:spcAft>
                <a:spcPts val="0"/>
              </a:spcAft>
              <a:buSzPts val="1100"/>
              <a:buNone/>
            </a:pPr>
            <a:r>
              <a:t/>
            </a:r>
            <a:endParaRPr sz="1200">
              <a:latin typeface="Times New Roman"/>
              <a:ea typeface="Times New Roman"/>
              <a:cs typeface="Times New Roman"/>
              <a:sym typeface="Times New Roman"/>
            </a:endParaRPr>
          </a:p>
          <a:p>
            <a:pPr indent="0" lvl="0" marL="0" rtl="0" algn="just">
              <a:lnSpc>
                <a:spcPct val="150000"/>
              </a:lnSpc>
              <a:spcBef>
                <a:spcPts val="1000"/>
              </a:spcBef>
              <a:spcAft>
                <a:spcPts val="0"/>
              </a:spcAft>
              <a:buSzPts val="1100"/>
              <a:buNone/>
            </a:pPr>
            <a:r>
              <a:t/>
            </a:r>
            <a:endParaRPr sz="1200">
              <a:latin typeface="Times New Roman"/>
              <a:ea typeface="Times New Roman"/>
              <a:cs typeface="Times New Roman"/>
              <a:sym typeface="Times New Roman"/>
            </a:endParaRPr>
          </a:p>
          <a:p>
            <a:pPr indent="-304800" lvl="0" marL="457200" rtl="0" algn="just">
              <a:lnSpc>
                <a:spcPct val="150000"/>
              </a:lnSpc>
              <a:spcBef>
                <a:spcPts val="1000"/>
              </a:spcBef>
              <a:spcAft>
                <a:spcPts val="0"/>
              </a:spcAft>
              <a:buSzPts val="1200"/>
              <a:buFont typeface="Times New Roman"/>
              <a:buChar char="●"/>
            </a:pPr>
            <a:r>
              <a:rPr lang="en-US" sz="1200">
                <a:latin typeface="Times New Roman"/>
                <a:ea typeface="Times New Roman"/>
                <a:cs typeface="Times New Roman"/>
                <a:sym typeface="Times New Roman"/>
              </a:rPr>
              <a:t>Another option is going by existing websites; but </a:t>
            </a:r>
            <a:r>
              <a:rPr lang="en-US" sz="1200">
                <a:latin typeface="Times New Roman"/>
                <a:ea typeface="Times New Roman"/>
                <a:cs typeface="Times New Roman"/>
                <a:sym typeface="Times New Roman"/>
              </a:rPr>
              <a:t>these</a:t>
            </a:r>
            <a:r>
              <a:rPr lang="en-US" sz="1200">
                <a:latin typeface="Times New Roman"/>
                <a:ea typeface="Times New Roman"/>
                <a:cs typeface="Times New Roman"/>
                <a:sym typeface="Times New Roman"/>
              </a:rPr>
              <a:t> only predict AQI of Bangalore as whole, which as can be seen from the above example, may not be very accurate. For example, www.iqair.com.</a:t>
            </a:r>
            <a:endParaRPr sz="1200">
              <a:latin typeface="Times New Roman"/>
              <a:ea typeface="Times New Roman"/>
              <a:cs typeface="Times New Roman"/>
              <a:sym typeface="Times New Roman"/>
            </a:endParaRPr>
          </a:p>
          <a:p>
            <a:pPr indent="0" lvl="0" marL="457200" rtl="0" algn="just">
              <a:lnSpc>
                <a:spcPct val="150000"/>
              </a:lnSpc>
              <a:spcBef>
                <a:spcPts val="1000"/>
              </a:spcBef>
              <a:spcAft>
                <a:spcPts val="1000"/>
              </a:spcAft>
              <a:buNone/>
            </a:pPr>
            <a:r>
              <a:t/>
            </a:r>
            <a:endParaRPr sz="1200">
              <a:latin typeface="Times New Roman"/>
              <a:ea typeface="Times New Roman"/>
              <a:cs typeface="Times New Roman"/>
              <a:sym typeface="Times New Roman"/>
            </a:endParaRPr>
          </a:p>
        </p:txBody>
      </p:sp>
      <p:sp>
        <p:nvSpPr>
          <p:cNvPr id="149" name="Google Shape;149;p18"/>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150" name="Google Shape;150;p18"/>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pic>
        <p:nvPicPr>
          <p:cNvPr id="151" name="Google Shape;151;p18"/>
          <p:cNvPicPr preferRelativeResize="0"/>
          <p:nvPr/>
        </p:nvPicPr>
        <p:blipFill>
          <a:blip r:embed="rId3">
            <a:alphaModFix/>
          </a:blip>
          <a:stretch>
            <a:fillRect/>
          </a:stretch>
        </p:blipFill>
        <p:spPr>
          <a:xfrm>
            <a:off x="-2874951" y="1544836"/>
            <a:ext cx="12243701" cy="3275675"/>
          </a:xfrm>
          <a:prstGeom prst="rect">
            <a:avLst/>
          </a:prstGeom>
          <a:noFill/>
          <a:ln>
            <a:noFill/>
          </a:ln>
        </p:spPr>
      </p:pic>
      <p:pic>
        <p:nvPicPr>
          <p:cNvPr id="152" name="Google Shape;152;p18"/>
          <p:cNvPicPr preferRelativeResize="0"/>
          <p:nvPr/>
        </p:nvPicPr>
        <p:blipFill>
          <a:blip r:embed="rId4">
            <a:alphaModFix/>
          </a:blip>
          <a:stretch>
            <a:fillRect/>
          </a:stretch>
        </p:blipFill>
        <p:spPr>
          <a:xfrm>
            <a:off x="1124750" y="4945416"/>
            <a:ext cx="7353301" cy="1065883"/>
          </a:xfrm>
          <a:prstGeom prst="rect">
            <a:avLst/>
          </a:prstGeom>
          <a:noFill/>
          <a:ln>
            <a:noFill/>
          </a:ln>
        </p:spPr>
      </p:pic>
      <p:sp>
        <p:nvSpPr>
          <p:cNvPr id="153" name="Google Shape;153;p18"/>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9"/>
          <p:cNvSpPr txBox="1"/>
          <p:nvPr>
            <p:ph idx="1" type="body"/>
          </p:nvPr>
        </p:nvSpPr>
        <p:spPr>
          <a:xfrm>
            <a:off x="1162692" y="178039"/>
            <a:ext cx="63942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Literature Survey</a:t>
            </a:r>
            <a:endParaRPr sz="3600">
              <a:solidFill>
                <a:schemeClr val="dk2"/>
              </a:solidFill>
              <a:latin typeface="Libre Franklin"/>
              <a:ea typeface="Libre Franklin"/>
              <a:cs typeface="Libre Franklin"/>
              <a:sym typeface="Libre Franklin"/>
            </a:endParaRPr>
          </a:p>
        </p:txBody>
      </p:sp>
      <p:graphicFrame>
        <p:nvGraphicFramePr>
          <p:cNvPr id="159" name="Google Shape;159;p19"/>
          <p:cNvGraphicFramePr/>
          <p:nvPr/>
        </p:nvGraphicFramePr>
        <p:xfrm>
          <a:off x="403425" y="842627"/>
          <a:ext cx="3000000" cy="3000000"/>
        </p:xfrm>
        <a:graphic>
          <a:graphicData uri="http://schemas.openxmlformats.org/drawingml/2006/table">
            <a:tbl>
              <a:tblPr bandRow="1" firstCol="1" firstRow="1">
                <a:noFill/>
                <a:tableStyleId>{A4D8AB64-497F-4718-9F91-532C179451C1}</a:tableStyleId>
              </a:tblPr>
              <a:tblGrid>
                <a:gridCol w="751400"/>
                <a:gridCol w="2080750"/>
                <a:gridCol w="1812575"/>
                <a:gridCol w="1812575"/>
                <a:gridCol w="1879850"/>
              </a:tblGrid>
              <a:tr h="632450">
                <a:tc>
                  <a:txBody>
                    <a:bodyPr/>
                    <a:lstStyle/>
                    <a:p>
                      <a:pPr indent="0" lvl="0" marL="0" marR="0" rtl="0" algn="ctr">
                        <a:lnSpc>
                          <a:spcPct val="115000"/>
                        </a:lnSpc>
                        <a:spcBef>
                          <a:spcPts val="0"/>
                        </a:spcBef>
                        <a:spcAft>
                          <a:spcPts val="0"/>
                        </a:spcAft>
                        <a:buNone/>
                      </a:pPr>
                      <a:r>
                        <a:rPr lang="en-US" sz="1100" u="none" cap="none" strike="noStrike"/>
                        <a:t>SL.NO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Title of the Paper with Year</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Problem Addressed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Authors Approach / Method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Results </a:t>
                      </a:r>
                      <a:endParaRPr sz="1100" u="none" cap="none" strike="noStrike">
                        <a:latin typeface="Calibri"/>
                        <a:ea typeface="Calibri"/>
                        <a:cs typeface="Calibri"/>
                        <a:sym typeface="Calibri"/>
                      </a:endParaRPr>
                    </a:p>
                  </a:txBody>
                  <a:tcPr marT="0" marB="0" marR="68575" marL="68575"/>
                </a:tc>
              </a:tr>
              <a:tr h="1736200">
                <a:tc>
                  <a:txBody>
                    <a:bodyPr/>
                    <a:lstStyle/>
                    <a:p>
                      <a:pPr indent="0" lvl="0" marL="0" marR="0" rtl="0" algn="ctr">
                        <a:lnSpc>
                          <a:spcPct val="115000"/>
                        </a:lnSpc>
                        <a:spcBef>
                          <a:spcPts val="0"/>
                        </a:spcBef>
                        <a:spcAft>
                          <a:spcPts val="0"/>
                        </a:spcAft>
                        <a:buNone/>
                      </a:pPr>
                      <a:r>
                        <a:rPr lang="en-US" sz="1100" u="none" cap="none" strike="noStrike"/>
                        <a:t>1</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200">
                          <a:latin typeface="Times New Roman"/>
                          <a:ea typeface="Times New Roman"/>
                          <a:cs typeface="Times New Roman"/>
                          <a:sym typeface="Times New Roman"/>
                        </a:rPr>
                        <a:t>“Air pollution monitoring and prediction using IoT”</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Air Pollution monitoring and predictions using IoT and sensors</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The system employs IoT in conjunction with the machine learning method known as Recurrent Neural Network, specifically Long Short Term Memory </a:t>
                      </a:r>
                      <a:r>
                        <a:rPr lang="en-US" sz="1200">
                          <a:latin typeface="Times New Roman"/>
                          <a:ea typeface="Times New Roman"/>
                          <a:cs typeface="Times New Roman"/>
                          <a:sym typeface="Times New Roman"/>
                        </a:rPr>
                        <a:t>(LSTM)</a:t>
                      </a:r>
                      <a:r>
                        <a:rPr lang="en-US" sz="1200">
                          <a:latin typeface="Times New Roman"/>
                          <a:ea typeface="Times New Roman"/>
                          <a:cs typeface="Times New Roman"/>
                          <a:sym typeface="Times New Roman"/>
                        </a:rPr>
                        <a:t>, to focus on monitoring air contaminants .</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200">
                          <a:latin typeface="Times New Roman"/>
                          <a:ea typeface="Times New Roman"/>
                          <a:cs typeface="Times New Roman"/>
                          <a:sym typeface="Times New Roman"/>
                        </a:rPr>
                        <a:t>For predicting the LSTM is implemented. It has a quick convergence and reduces the training cycles with a good accuracy.</a:t>
                      </a:r>
                      <a:endParaRPr sz="1100" u="none" cap="none" strike="noStrike">
                        <a:latin typeface="Calibri"/>
                        <a:ea typeface="Calibri"/>
                        <a:cs typeface="Calibri"/>
                        <a:sym typeface="Calibri"/>
                      </a:endParaRPr>
                    </a:p>
                  </a:txBody>
                  <a:tcPr marT="0" marB="0" marR="68575" marL="68575"/>
                </a:tc>
              </a:tr>
              <a:tr h="972850">
                <a:tc>
                  <a:txBody>
                    <a:bodyPr/>
                    <a:lstStyle/>
                    <a:p>
                      <a:pPr indent="0" lvl="0" marL="0" marR="0" rtl="0" algn="ctr">
                        <a:lnSpc>
                          <a:spcPct val="115000"/>
                        </a:lnSpc>
                        <a:spcBef>
                          <a:spcPts val="0"/>
                        </a:spcBef>
                        <a:spcAft>
                          <a:spcPts val="0"/>
                        </a:spcAft>
                        <a:buNone/>
                      </a:pPr>
                      <a:r>
                        <a:rPr lang="en-US" sz="1100" u="none" cap="none" strike="noStrike"/>
                        <a:t>2</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200">
                          <a:latin typeface="Times New Roman"/>
                          <a:ea typeface="Times New Roman"/>
                          <a:cs typeface="Times New Roman"/>
                          <a:sym typeface="Times New Roman"/>
                        </a:rPr>
                        <a:t>“Air Pollution Monitoring and Prediction Using IoT and Machine Learning”</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Air pollution monitoring and forecasting using IoT and ML</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They put out a system that employs a number of sensors to measure the concentration of pollutants, and they created a number of ML models to project future pollution levels.</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The stacking ensemble model had the highest accuracy and lowest error rate of all the implemented ML models.</a:t>
                      </a:r>
                      <a:endParaRPr sz="1100" u="none" cap="none" strike="noStrike">
                        <a:latin typeface="Calibri"/>
                        <a:ea typeface="Calibri"/>
                        <a:cs typeface="Calibri"/>
                        <a:sym typeface="Calibri"/>
                      </a:endParaRPr>
                    </a:p>
                  </a:txBody>
                  <a:tcPr marT="0" marB="0" marR="68575" marL="68575"/>
                </a:tc>
              </a:tr>
              <a:tr h="1071800">
                <a:tc>
                  <a:txBody>
                    <a:bodyPr/>
                    <a:lstStyle/>
                    <a:p>
                      <a:pPr indent="0" lvl="0" marL="0" marR="0" rtl="0" algn="ctr">
                        <a:lnSpc>
                          <a:spcPct val="115000"/>
                        </a:lnSpc>
                        <a:spcBef>
                          <a:spcPts val="0"/>
                        </a:spcBef>
                        <a:spcAft>
                          <a:spcPts val="0"/>
                        </a:spcAft>
                        <a:buNone/>
                      </a:pPr>
                      <a:r>
                        <a:rPr lang="en-US" sz="1100" u="none" cap="none" strike="noStrike"/>
                        <a:t>3</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200">
                          <a:latin typeface="Times New Roman"/>
                          <a:ea typeface="Times New Roman"/>
                          <a:cs typeface="Times New Roman"/>
                          <a:sym typeface="Times New Roman"/>
                        </a:rPr>
                        <a:t>“Air Quality Monitoring And Prediction Using IOT And Machine Learning Approaches”</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200">
                          <a:latin typeface="Times New Roman"/>
                          <a:ea typeface="Times New Roman"/>
                          <a:cs typeface="Times New Roman"/>
                          <a:sym typeface="Times New Roman"/>
                        </a:rPr>
                        <a:t>Air Quality Monitoring And Prediction Using IOT And Machine Learning Approaches</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In this study, arduino-based sensors were used to create an air quality monitoring system that could record parameters of the air quality before the sensors were calibrated to increase accuracy.</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The overall accuracy of the device according to testing was 91%. It demonstrates an increase in accuracy of between 6% to 11%, demonstrating the beneficial effects of the study's calibration processes.</a:t>
                      </a:r>
                      <a:endParaRPr sz="1100" u="none" cap="none" strike="noStrike">
                        <a:latin typeface="Calibri"/>
                        <a:ea typeface="Calibri"/>
                        <a:cs typeface="Calibri"/>
                        <a:sym typeface="Calibri"/>
                      </a:endParaRPr>
                    </a:p>
                  </a:txBody>
                  <a:tcPr marT="0" marB="0" marR="68575" marL="68575"/>
                </a:tc>
              </a:tr>
            </a:tbl>
          </a:graphicData>
        </a:graphic>
      </p:graphicFrame>
      <p:sp>
        <p:nvSpPr>
          <p:cNvPr id="160" name="Google Shape;160;p19"/>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graphicFrame>
        <p:nvGraphicFramePr>
          <p:cNvPr id="165" name="Google Shape;165;p20"/>
          <p:cNvGraphicFramePr/>
          <p:nvPr/>
        </p:nvGraphicFramePr>
        <p:xfrm>
          <a:off x="185725" y="736454"/>
          <a:ext cx="3000000" cy="3000000"/>
        </p:xfrm>
        <a:graphic>
          <a:graphicData uri="http://schemas.openxmlformats.org/drawingml/2006/table">
            <a:tbl>
              <a:tblPr bandRow="1" firstCol="1" firstRow="1">
                <a:noFill/>
                <a:tableStyleId>{A4D8AB64-497F-4718-9F91-532C179451C1}</a:tableStyleId>
              </a:tblPr>
              <a:tblGrid>
                <a:gridCol w="790650"/>
                <a:gridCol w="2189425"/>
                <a:gridCol w="1907225"/>
                <a:gridCol w="1907225"/>
                <a:gridCol w="1978025"/>
              </a:tblGrid>
              <a:tr h="718850">
                <a:tc>
                  <a:txBody>
                    <a:bodyPr/>
                    <a:lstStyle/>
                    <a:p>
                      <a:pPr indent="0" lvl="0" marL="0" marR="0" rtl="0" algn="ctr">
                        <a:lnSpc>
                          <a:spcPct val="115000"/>
                        </a:lnSpc>
                        <a:spcBef>
                          <a:spcPts val="0"/>
                        </a:spcBef>
                        <a:spcAft>
                          <a:spcPts val="0"/>
                        </a:spcAft>
                        <a:buNone/>
                      </a:pPr>
                      <a:r>
                        <a:rPr lang="en-US" sz="1100" u="none" cap="none" strike="noStrike"/>
                        <a:t>SL.NO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Title of the Paper with Year</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Problem Addressed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Authors Approach / Method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Results </a:t>
                      </a:r>
                      <a:endParaRPr sz="1100" u="none" cap="none" strike="noStrike">
                        <a:latin typeface="Calibri"/>
                        <a:ea typeface="Calibri"/>
                        <a:cs typeface="Calibri"/>
                        <a:sym typeface="Calibri"/>
                      </a:endParaRPr>
                    </a:p>
                  </a:txBody>
                  <a:tcPr marT="0" marB="0" marR="68575" marL="68575"/>
                </a:tc>
              </a:tr>
              <a:tr h="1003425">
                <a:tc>
                  <a:txBody>
                    <a:bodyPr/>
                    <a:lstStyle/>
                    <a:p>
                      <a:pPr indent="0" lvl="0" marL="0" marR="0" rtl="0" algn="ctr">
                        <a:lnSpc>
                          <a:spcPct val="115000"/>
                        </a:lnSpc>
                        <a:spcBef>
                          <a:spcPts val="0"/>
                        </a:spcBef>
                        <a:spcAft>
                          <a:spcPts val="0"/>
                        </a:spcAft>
                        <a:buNone/>
                      </a:pPr>
                      <a:r>
                        <a:rPr lang="en-US" sz="1100"/>
                        <a:t>4</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200">
                          <a:latin typeface="Times New Roman"/>
                          <a:ea typeface="Times New Roman"/>
                          <a:cs typeface="Times New Roman"/>
                          <a:sym typeface="Times New Roman"/>
                        </a:rPr>
                        <a:t>“Air Quality Prediction using Machine Learning Algorithms”</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Air Quality predictions using various Machine Learning Algorithms</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Dataset from Kaggle and models used are AutoRegressive model and ARIMA</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Predicted the AQI of Maharashtra with an MSE of 166.358</a:t>
                      </a:r>
                      <a:endParaRPr sz="1100" u="none" cap="none" strike="noStrike">
                        <a:latin typeface="Calibri"/>
                        <a:ea typeface="Calibri"/>
                        <a:cs typeface="Calibri"/>
                        <a:sym typeface="Calibri"/>
                      </a:endParaRPr>
                    </a:p>
                  </a:txBody>
                  <a:tcPr marT="0" marB="0" marR="68575" marL="68575"/>
                </a:tc>
              </a:tr>
              <a:tr h="1489825">
                <a:tc>
                  <a:txBody>
                    <a:bodyPr/>
                    <a:lstStyle/>
                    <a:p>
                      <a:pPr indent="0" lvl="0" marL="0" marR="0" rtl="0" algn="ctr">
                        <a:lnSpc>
                          <a:spcPct val="115000"/>
                        </a:lnSpc>
                        <a:spcBef>
                          <a:spcPts val="0"/>
                        </a:spcBef>
                        <a:spcAft>
                          <a:spcPts val="0"/>
                        </a:spcAft>
                        <a:buNone/>
                      </a:pPr>
                      <a:r>
                        <a:rPr lang="en-US" sz="1100"/>
                        <a:t>5</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200">
                          <a:latin typeface="Times New Roman"/>
                          <a:ea typeface="Times New Roman"/>
                          <a:cs typeface="Times New Roman"/>
                          <a:sym typeface="Times New Roman"/>
                        </a:rPr>
                        <a:t>“Adaptive machine learning strategies for network calibration of IoT smart air quality monitoring devices”</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Overcoming the limited accuracy of long term field deployment of AQMS. </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200">
                          <a:latin typeface="Times New Roman"/>
                          <a:ea typeface="Times New Roman"/>
                          <a:cs typeface="Times New Roman"/>
                          <a:sym typeface="Times New Roman"/>
                        </a:rPr>
                        <a:t>They have obtained results from different calibration update scenarios to overcome drift effects arising due to multi seasonal deployment of low cost AQMS</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200">
                          <a:latin typeface="Times New Roman"/>
                          <a:ea typeface="Times New Roman"/>
                          <a:cs typeface="Times New Roman"/>
                          <a:sym typeface="Times New Roman"/>
                        </a:rPr>
                        <a:t>Results indicate the relevance of both update periods and amount of labelled samples in determining the final performances. Daily updates using a single hour of high accuracy data.</a:t>
                      </a:r>
                      <a:endParaRPr sz="1100" u="none" cap="none" strike="noStrike">
                        <a:latin typeface="Calibri"/>
                        <a:ea typeface="Calibri"/>
                        <a:cs typeface="Calibri"/>
                        <a:sym typeface="Calibri"/>
                      </a:endParaRPr>
                    </a:p>
                  </a:txBody>
                  <a:tcPr marT="0" marB="0" marR="68575" marL="68575"/>
                </a:tc>
              </a:tr>
              <a:tr h="1923575">
                <a:tc>
                  <a:txBody>
                    <a:bodyPr/>
                    <a:lstStyle/>
                    <a:p>
                      <a:pPr indent="0" lvl="0" marL="0" marR="0" rtl="0" algn="ctr">
                        <a:lnSpc>
                          <a:spcPct val="115000"/>
                        </a:lnSpc>
                        <a:spcBef>
                          <a:spcPts val="0"/>
                        </a:spcBef>
                        <a:spcAft>
                          <a:spcPts val="0"/>
                        </a:spcAft>
                        <a:buNone/>
                      </a:pPr>
                      <a:r>
                        <a:rPr lang="en-US" sz="1100"/>
                        <a:t>6</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200">
                          <a:latin typeface="Times New Roman"/>
                          <a:ea typeface="Times New Roman"/>
                          <a:cs typeface="Times New Roman"/>
                          <a:sym typeface="Times New Roman"/>
                        </a:rPr>
                        <a:t>“Air Quality Prediction: Big Data and Machine Learning Approaches”</a:t>
                      </a:r>
                      <a:endParaRPr sz="1200">
                        <a:latin typeface="Times New Roman"/>
                        <a:ea typeface="Times New Roman"/>
                        <a:cs typeface="Times New Roman"/>
                        <a:sym typeface="Times New Roman"/>
                      </a:endParaRPr>
                    </a:p>
                    <a:p>
                      <a:pPr indent="0" lvl="0" marL="0" marR="0" rtl="0" algn="l">
                        <a:spcBef>
                          <a:spcPts val="0"/>
                        </a:spcBef>
                        <a:spcAft>
                          <a:spcPts val="0"/>
                        </a:spcAft>
                        <a:buNone/>
                      </a:pPr>
                      <a:r>
                        <a:t/>
                      </a:r>
                      <a:endParaRPr sz="1100">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Big Data and Machine Learning Approaches for Predicting Air Quality</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This research paper's objective is to examine various big-data and machine learning-based strategies for forecasting air quality. It has also contrasted big data-based models with already published research articles.</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The development of IoT infrastructures, big data technologies, and machine learning techniques has made it desirable for future smart cities to have real-time air quality monitoring and evaluation.</a:t>
                      </a:r>
                      <a:endParaRPr sz="1100" u="none" cap="none" strike="noStrike">
                        <a:latin typeface="Calibri"/>
                        <a:ea typeface="Calibri"/>
                        <a:cs typeface="Calibri"/>
                        <a:sym typeface="Calibri"/>
                      </a:endParaRPr>
                    </a:p>
                  </a:txBody>
                  <a:tcPr marT="0" marB="0" marR="68575" marL="68575"/>
                </a:tc>
              </a:tr>
            </a:tbl>
          </a:graphicData>
        </a:graphic>
      </p:graphicFrame>
      <p:sp>
        <p:nvSpPr>
          <p:cNvPr id="166" name="Google Shape;166;p20"/>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167" name="Google Shape;167;p20"/>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68" name="Google Shape;168;p20"/>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graphicFrame>
        <p:nvGraphicFramePr>
          <p:cNvPr id="173" name="Google Shape;173;p21"/>
          <p:cNvGraphicFramePr/>
          <p:nvPr/>
        </p:nvGraphicFramePr>
        <p:xfrm>
          <a:off x="255788" y="556826"/>
          <a:ext cx="3000000" cy="3000000"/>
        </p:xfrm>
        <a:graphic>
          <a:graphicData uri="http://schemas.openxmlformats.org/drawingml/2006/table">
            <a:tbl>
              <a:tblPr bandRow="1" firstCol="1" firstRow="1">
                <a:noFill/>
                <a:tableStyleId>{A4D8AB64-497F-4718-9F91-532C179451C1}</a:tableStyleId>
              </a:tblPr>
              <a:tblGrid>
                <a:gridCol w="778000"/>
                <a:gridCol w="2154450"/>
                <a:gridCol w="1876775"/>
                <a:gridCol w="1876775"/>
                <a:gridCol w="1946425"/>
              </a:tblGrid>
              <a:tr h="551725">
                <a:tc>
                  <a:txBody>
                    <a:bodyPr/>
                    <a:lstStyle/>
                    <a:p>
                      <a:pPr indent="0" lvl="0" marL="0" marR="0" rtl="0" algn="ctr">
                        <a:lnSpc>
                          <a:spcPct val="115000"/>
                        </a:lnSpc>
                        <a:spcBef>
                          <a:spcPts val="0"/>
                        </a:spcBef>
                        <a:spcAft>
                          <a:spcPts val="0"/>
                        </a:spcAft>
                        <a:buNone/>
                      </a:pPr>
                      <a:r>
                        <a:rPr lang="en-US" sz="1100" u="none" cap="none" strike="noStrike"/>
                        <a:t>SL.NO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Title of the Paper with Year</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Problem Addressed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Authors Approach / Method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Results </a:t>
                      </a:r>
                      <a:endParaRPr sz="1100" u="none" cap="none" strike="noStrike">
                        <a:latin typeface="Calibri"/>
                        <a:ea typeface="Calibri"/>
                        <a:cs typeface="Calibri"/>
                        <a:sym typeface="Calibri"/>
                      </a:endParaRPr>
                    </a:p>
                  </a:txBody>
                  <a:tcPr marT="0" marB="0" marR="68575" marL="68575"/>
                </a:tc>
              </a:tr>
              <a:tr h="1831575">
                <a:tc>
                  <a:txBody>
                    <a:bodyPr/>
                    <a:lstStyle/>
                    <a:p>
                      <a:pPr indent="0" lvl="0" marL="0" marR="0" rtl="0" algn="ctr">
                        <a:lnSpc>
                          <a:spcPct val="115000"/>
                        </a:lnSpc>
                        <a:spcBef>
                          <a:spcPts val="0"/>
                        </a:spcBef>
                        <a:spcAft>
                          <a:spcPts val="0"/>
                        </a:spcAft>
                        <a:buNone/>
                      </a:pPr>
                      <a:r>
                        <a:rPr lang="en-US" sz="1100"/>
                        <a:t>7</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100">
                          <a:latin typeface="Times New Roman"/>
                          <a:ea typeface="Times New Roman"/>
                          <a:cs typeface="Times New Roman"/>
                          <a:sym typeface="Times New Roman"/>
                        </a:rPr>
                        <a:t>“Real Time Localized Air Quality Monitoring and Prediction Through Mobile and Fixed IoT Sensing Network”</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Using mobile and static IoT sensors as well as ML algorithms, air quality is monitored and predicted.</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This study combines both stationary and mobile IoT sensors that are mounted on vehicles that patrol the area to predict the pattern of air quality in that area. With this method, the complete range of how air quality varies in close-by areas may be examined.</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Gradient Boosting Regressor gave the least RMSE for P.M2.5</a:t>
                      </a:r>
                      <a:endParaRPr sz="1100" u="none" cap="none" strike="noStrike">
                        <a:latin typeface="Calibri"/>
                        <a:ea typeface="Calibri"/>
                        <a:cs typeface="Calibri"/>
                        <a:sym typeface="Calibri"/>
                      </a:endParaRPr>
                    </a:p>
                  </a:txBody>
                  <a:tcPr marT="0" marB="0" marR="68575" marL="68575"/>
                </a:tc>
              </a:tr>
              <a:tr h="1460425">
                <a:tc>
                  <a:txBody>
                    <a:bodyPr/>
                    <a:lstStyle/>
                    <a:p>
                      <a:pPr indent="0" lvl="0" marL="0" marR="0" rtl="0" algn="ctr">
                        <a:lnSpc>
                          <a:spcPct val="115000"/>
                        </a:lnSpc>
                        <a:spcBef>
                          <a:spcPts val="0"/>
                        </a:spcBef>
                        <a:spcAft>
                          <a:spcPts val="0"/>
                        </a:spcAft>
                        <a:buNone/>
                      </a:pPr>
                      <a:r>
                        <a:rPr lang="en-US" sz="1100"/>
                        <a:t>8</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100">
                          <a:latin typeface="Times New Roman"/>
                          <a:ea typeface="Times New Roman"/>
                          <a:cs typeface="Times New Roman"/>
                          <a:sym typeface="Times New Roman"/>
                        </a:rPr>
                        <a:t>“IoT enabled Environmental Air Pollution Monitoring and Rerouting system using Machine learning algorithms”</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Air pollution monitoring system used as a rerouting system to find pollution free route</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100">
                          <a:latin typeface="Times New Roman"/>
                          <a:ea typeface="Times New Roman"/>
                          <a:cs typeface="Times New Roman"/>
                          <a:sym typeface="Times New Roman"/>
                        </a:rPr>
                        <a:t>With the collected time series samples, the prediction analysis was done with neural network Multilayer perceptron and support vector machine regression (SVMR) learning algorithm.</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The Google Maps API correctly updated the pollution levels, and the advised route was the one with the lowest levels of pollution based on those levels.</a:t>
                      </a:r>
                      <a:endParaRPr sz="1100" u="none" cap="none" strike="noStrike">
                        <a:latin typeface="Calibri"/>
                        <a:ea typeface="Calibri"/>
                        <a:cs typeface="Calibri"/>
                        <a:sym typeface="Calibri"/>
                      </a:endParaRPr>
                    </a:p>
                  </a:txBody>
                  <a:tcPr marT="0" marB="0" marR="68575" marL="68575"/>
                </a:tc>
              </a:tr>
              <a:tr h="2017175">
                <a:tc>
                  <a:txBody>
                    <a:bodyPr/>
                    <a:lstStyle/>
                    <a:p>
                      <a:pPr indent="0" lvl="0" marL="0" marR="0" rtl="0" algn="ctr">
                        <a:lnSpc>
                          <a:spcPct val="115000"/>
                        </a:lnSpc>
                        <a:spcBef>
                          <a:spcPts val="0"/>
                        </a:spcBef>
                        <a:spcAft>
                          <a:spcPts val="0"/>
                        </a:spcAft>
                        <a:buNone/>
                      </a:pPr>
                      <a:r>
                        <a:rPr lang="en-US" sz="1100"/>
                        <a:t>9</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100">
                          <a:latin typeface="Times New Roman"/>
                          <a:ea typeface="Times New Roman"/>
                          <a:cs typeface="Times New Roman"/>
                          <a:sym typeface="Times New Roman"/>
                        </a:rPr>
                        <a:t>“Air pollution prediction through internet of things technology and big data analytics”</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Using big data analytics and the internet of things, anticipate air pollution</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In the context of forecasting air pollution that results from the introduction of dangerous compounds, such as NO2, SO2, CO, and O3, into the Earth's atmosphere, we explore the potential for a fusion between the two new ideas big data and internet of things in this research.</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With the use of the US pollution dataset and the Databricks platform's Spark technology, it was able to create a precise model that is capable of producing reliable forecasts for air quality.</a:t>
                      </a:r>
                      <a:endParaRPr sz="1100" u="none" cap="none" strike="noStrike">
                        <a:latin typeface="Calibri"/>
                        <a:ea typeface="Calibri"/>
                        <a:cs typeface="Calibri"/>
                        <a:sym typeface="Calibri"/>
                      </a:endParaRPr>
                    </a:p>
                  </a:txBody>
                  <a:tcPr marT="0" marB="0" marR="68575" marL="68575"/>
                </a:tc>
              </a:tr>
            </a:tbl>
          </a:graphicData>
        </a:graphic>
      </p:graphicFrame>
      <p:sp>
        <p:nvSpPr>
          <p:cNvPr id="174" name="Google Shape;174;p21"/>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graphicFrame>
        <p:nvGraphicFramePr>
          <p:cNvPr id="179" name="Google Shape;179;p22"/>
          <p:cNvGraphicFramePr/>
          <p:nvPr/>
        </p:nvGraphicFramePr>
        <p:xfrm>
          <a:off x="255788" y="556826"/>
          <a:ext cx="3000000" cy="3000000"/>
        </p:xfrm>
        <a:graphic>
          <a:graphicData uri="http://schemas.openxmlformats.org/drawingml/2006/table">
            <a:tbl>
              <a:tblPr bandRow="1" firstCol="1" firstRow="1">
                <a:noFill/>
                <a:tableStyleId>{A4D8AB64-497F-4718-9F91-532C179451C1}</a:tableStyleId>
              </a:tblPr>
              <a:tblGrid>
                <a:gridCol w="778000"/>
                <a:gridCol w="2154450"/>
                <a:gridCol w="1876775"/>
                <a:gridCol w="1876775"/>
                <a:gridCol w="1946425"/>
              </a:tblGrid>
              <a:tr h="551725">
                <a:tc>
                  <a:txBody>
                    <a:bodyPr/>
                    <a:lstStyle/>
                    <a:p>
                      <a:pPr indent="0" lvl="0" marL="0" marR="0" rtl="0" algn="ctr">
                        <a:lnSpc>
                          <a:spcPct val="115000"/>
                        </a:lnSpc>
                        <a:spcBef>
                          <a:spcPts val="0"/>
                        </a:spcBef>
                        <a:spcAft>
                          <a:spcPts val="0"/>
                        </a:spcAft>
                        <a:buNone/>
                      </a:pPr>
                      <a:r>
                        <a:rPr lang="en-US" sz="1100" u="none" cap="none" strike="noStrike"/>
                        <a:t>SL.NO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Title of the Paper with Year</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Problem Addressed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Authors Approach / Method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Results </a:t>
                      </a:r>
                      <a:endParaRPr sz="1100" u="none" cap="none" strike="noStrike">
                        <a:latin typeface="Calibri"/>
                        <a:ea typeface="Calibri"/>
                        <a:cs typeface="Calibri"/>
                        <a:sym typeface="Calibri"/>
                      </a:endParaRPr>
                    </a:p>
                  </a:txBody>
                  <a:tcPr marT="0" marB="0" marR="68575" marL="68575"/>
                </a:tc>
              </a:tr>
              <a:tr h="1831575">
                <a:tc>
                  <a:txBody>
                    <a:bodyPr/>
                    <a:lstStyle/>
                    <a:p>
                      <a:pPr indent="0" lvl="0" marL="0" marR="0" rtl="0" algn="ctr">
                        <a:lnSpc>
                          <a:spcPct val="115000"/>
                        </a:lnSpc>
                        <a:spcBef>
                          <a:spcPts val="0"/>
                        </a:spcBef>
                        <a:spcAft>
                          <a:spcPts val="0"/>
                        </a:spcAft>
                        <a:buNone/>
                      </a:pPr>
                      <a:r>
                        <a:rPr lang="en-US" sz="1100"/>
                        <a:t>10</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100">
                          <a:latin typeface="Times New Roman"/>
                          <a:ea typeface="Times New Roman"/>
                          <a:cs typeface="Times New Roman"/>
                          <a:sym typeface="Times New Roman"/>
                        </a:rPr>
                        <a:t>“Developing a risk-based air quality health index”</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Finding out the different pollutants in the air and analysing how the affect the Air Quality and consequently the health of people</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100">
                          <a:latin typeface="Times New Roman"/>
                          <a:ea typeface="Times New Roman"/>
                          <a:cs typeface="Times New Roman"/>
                          <a:sym typeface="Times New Roman"/>
                        </a:rPr>
                        <a:t>Time series studies were performed to obtain the relative risks of hospital admissions for respiratory and cardiovascular diseases associated with four air pollutants: sulphur dioxide, nitrogen dioxide, ozone, and particulate matter with an aerodynamic diameter less than 10 mm (PM10). </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100">
                          <a:latin typeface="Times New Roman"/>
                          <a:ea typeface="Times New Roman"/>
                          <a:cs typeface="Times New Roman"/>
                          <a:sym typeface="Times New Roman"/>
                        </a:rPr>
                        <a:t>All four air pollutants (NO2, O3, PM10 and SO2) had significantly raised RRs of emergency hospital admissions for respiratory and cardiovascular diseases for all age groups combined.</a:t>
                      </a:r>
                      <a:endParaRPr sz="1100" u="none" cap="none" strike="noStrike">
                        <a:latin typeface="Times New Roman"/>
                        <a:ea typeface="Times New Roman"/>
                        <a:cs typeface="Times New Roman"/>
                        <a:sym typeface="Times New Roman"/>
                      </a:endParaRPr>
                    </a:p>
                  </a:txBody>
                  <a:tcPr marT="0" marB="0" marR="68575" marL="68575"/>
                </a:tc>
              </a:tr>
              <a:tr h="1460425">
                <a:tc>
                  <a:txBody>
                    <a:bodyPr/>
                    <a:lstStyle/>
                    <a:p>
                      <a:pPr indent="0" lvl="0" marL="0" marR="0" rtl="0" algn="ctr">
                        <a:lnSpc>
                          <a:spcPct val="115000"/>
                        </a:lnSpc>
                        <a:spcBef>
                          <a:spcPts val="0"/>
                        </a:spcBef>
                        <a:spcAft>
                          <a:spcPts val="0"/>
                        </a:spcAft>
                        <a:buNone/>
                      </a:pPr>
                      <a:r>
                        <a:rPr lang="en-US" sz="1100"/>
                        <a:t>11</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100">
                          <a:latin typeface="Times New Roman"/>
                          <a:ea typeface="Times New Roman"/>
                          <a:cs typeface="Times New Roman"/>
                          <a:sym typeface="Times New Roman"/>
                        </a:rPr>
                        <a:t>“Air pollution monitoring system using IoT and Artificial Intelligence”.</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Air pollution monitoring system using IoT and AI.</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100">
                          <a:latin typeface="Times New Roman"/>
                          <a:ea typeface="Times New Roman"/>
                          <a:cs typeface="Times New Roman"/>
                          <a:sym typeface="Times New Roman"/>
                        </a:rPr>
                        <a:t>In this paper, they have proposed a system which monitors CO2, dust and methane. They have used a IoT device to capture the concentration of these gases in the atmosphere.</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100">
                          <a:latin typeface="Times New Roman"/>
                          <a:ea typeface="Times New Roman"/>
                          <a:cs typeface="Times New Roman"/>
                          <a:sym typeface="Times New Roman"/>
                        </a:rPr>
                        <a:t>They successfully implemented the system and were able to detect the concentration of the various gases in the atmosphere. If a particular gas concentration was greater than the set threshold, an alarm was triggered. </a:t>
                      </a:r>
                      <a:endParaRPr sz="1100" u="none" cap="none" strike="noStrike">
                        <a:latin typeface="Times New Roman"/>
                        <a:ea typeface="Times New Roman"/>
                        <a:cs typeface="Times New Roman"/>
                        <a:sym typeface="Times New Roman"/>
                      </a:endParaRPr>
                    </a:p>
                  </a:txBody>
                  <a:tcPr marT="0" marB="0" marR="68575" marL="68575"/>
                </a:tc>
              </a:tr>
              <a:tr h="2017175">
                <a:tc>
                  <a:txBody>
                    <a:bodyPr/>
                    <a:lstStyle/>
                    <a:p>
                      <a:pPr indent="0" lvl="0" marL="0" marR="0" rtl="0" algn="ctr">
                        <a:lnSpc>
                          <a:spcPct val="115000"/>
                        </a:lnSpc>
                        <a:spcBef>
                          <a:spcPts val="0"/>
                        </a:spcBef>
                        <a:spcAft>
                          <a:spcPts val="0"/>
                        </a:spcAft>
                        <a:buNone/>
                      </a:pPr>
                      <a:r>
                        <a:rPr lang="en-US" sz="1100"/>
                        <a:t>12</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100">
                          <a:latin typeface="Times New Roman"/>
                          <a:ea typeface="Times New Roman"/>
                          <a:cs typeface="Times New Roman"/>
                          <a:sym typeface="Times New Roman"/>
                        </a:rPr>
                        <a:t>“Modelling air quality prediction using a deep learning approach: Method optimization and evaluation”</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Deep learning-based modelling of air quality prediction: method improvement and assessment</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580"/>
                        </a:spcBef>
                        <a:spcAft>
                          <a:spcPts val="0"/>
                        </a:spcAft>
                        <a:buSzPts val="1100"/>
                        <a:buNone/>
                      </a:pPr>
                      <a:r>
                        <a:rPr lang="en-US" sz="1100">
                          <a:latin typeface="Times New Roman"/>
                          <a:ea typeface="Times New Roman"/>
                          <a:cs typeface="Times New Roman"/>
                          <a:sym typeface="Times New Roman"/>
                        </a:rPr>
                        <a:t>In this paper , a deep learning framework to predict air quality in the following 24hrs is proposed. A neural network with a temporal sliding long short-term memory extended model (TS-LSTM)</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580"/>
                        </a:spcBef>
                        <a:spcAft>
                          <a:spcPts val="0"/>
                        </a:spcAft>
                        <a:buSzPts val="1100"/>
                        <a:buNone/>
                      </a:pPr>
                      <a:r>
                        <a:rPr lang="en-US" sz="1100">
                          <a:latin typeface="Times New Roman"/>
                          <a:ea typeface="Times New Roman"/>
                          <a:cs typeface="Times New Roman"/>
                          <a:sym typeface="Times New Roman"/>
                        </a:rPr>
                        <a:t>The proposed model had better stability and performances with high correlation coefficient R Squared, compared to the multiple linear regression, support vector, the traditional LSTM, and the LSTME</a:t>
                      </a:r>
                      <a:endParaRPr sz="1100" u="none" cap="none" strike="noStrike">
                        <a:latin typeface="Times New Roman"/>
                        <a:ea typeface="Times New Roman"/>
                        <a:cs typeface="Times New Roman"/>
                        <a:sym typeface="Times New Roman"/>
                      </a:endParaRPr>
                    </a:p>
                  </a:txBody>
                  <a:tcPr marT="0" marB="0" marR="68575" marL="68575"/>
                </a:tc>
              </a:tr>
            </a:tbl>
          </a:graphicData>
        </a:graphic>
      </p:graphicFrame>
      <p:sp>
        <p:nvSpPr>
          <p:cNvPr id="180" name="Google Shape;180;p22"/>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graphicFrame>
        <p:nvGraphicFramePr>
          <p:cNvPr id="185" name="Google Shape;185;p23"/>
          <p:cNvGraphicFramePr/>
          <p:nvPr/>
        </p:nvGraphicFramePr>
        <p:xfrm>
          <a:off x="255788" y="556826"/>
          <a:ext cx="3000000" cy="3000000"/>
        </p:xfrm>
        <a:graphic>
          <a:graphicData uri="http://schemas.openxmlformats.org/drawingml/2006/table">
            <a:tbl>
              <a:tblPr bandRow="1" firstCol="1" firstRow="1">
                <a:noFill/>
                <a:tableStyleId>{A4D8AB64-497F-4718-9F91-532C179451C1}</a:tableStyleId>
              </a:tblPr>
              <a:tblGrid>
                <a:gridCol w="778000"/>
                <a:gridCol w="2154450"/>
                <a:gridCol w="1876775"/>
                <a:gridCol w="1876775"/>
                <a:gridCol w="1946425"/>
              </a:tblGrid>
              <a:tr h="524450">
                <a:tc>
                  <a:txBody>
                    <a:bodyPr/>
                    <a:lstStyle/>
                    <a:p>
                      <a:pPr indent="0" lvl="0" marL="0" marR="0" rtl="0" algn="ctr">
                        <a:lnSpc>
                          <a:spcPct val="115000"/>
                        </a:lnSpc>
                        <a:spcBef>
                          <a:spcPts val="0"/>
                        </a:spcBef>
                        <a:spcAft>
                          <a:spcPts val="0"/>
                        </a:spcAft>
                        <a:buNone/>
                      </a:pPr>
                      <a:r>
                        <a:rPr lang="en-US" sz="1100" u="none" cap="none" strike="noStrike"/>
                        <a:t>SL.NO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Title of the Paper with Year</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Problem Addressed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Authors Approach / Method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Results </a:t>
                      </a:r>
                      <a:endParaRPr sz="1100" u="none" cap="none" strike="noStrike">
                        <a:latin typeface="Calibri"/>
                        <a:ea typeface="Calibri"/>
                        <a:cs typeface="Calibri"/>
                        <a:sym typeface="Calibri"/>
                      </a:endParaRPr>
                    </a:p>
                  </a:txBody>
                  <a:tcPr marT="0" marB="0" marR="68575" marL="68575"/>
                </a:tc>
              </a:tr>
              <a:tr h="1741025">
                <a:tc>
                  <a:txBody>
                    <a:bodyPr/>
                    <a:lstStyle/>
                    <a:p>
                      <a:pPr indent="0" lvl="0" marL="0" marR="0" rtl="0" algn="ctr">
                        <a:lnSpc>
                          <a:spcPct val="115000"/>
                        </a:lnSpc>
                        <a:spcBef>
                          <a:spcPts val="0"/>
                        </a:spcBef>
                        <a:spcAft>
                          <a:spcPts val="0"/>
                        </a:spcAft>
                        <a:buNone/>
                      </a:pPr>
                      <a:r>
                        <a:rPr lang="en-US" sz="1100"/>
                        <a:t>13</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200">
                          <a:latin typeface="Times New Roman"/>
                          <a:ea typeface="Times New Roman"/>
                          <a:cs typeface="Times New Roman"/>
                          <a:sym typeface="Times New Roman"/>
                        </a:rPr>
                        <a:t>“Impact of lockdown on air quality in India during COVID-19 pandemic”</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Analysing the Air Quality during lockdown to find out the main contributors to pollution and what caused its reduction</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100">
                          <a:latin typeface="Times New Roman"/>
                          <a:ea typeface="Times New Roman"/>
                          <a:cs typeface="Times New Roman"/>
                          <a:sym typeface="Times New Roman"/>
                        </a:rPr>
                        <a:t>The trajectory analysis was performed using HYPSPLIT model. an analysis of air quality (particulate matter-PM2.5, Air Quality Index, and tropospheric NO2) over India using ground and satellite observations. </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100">
                          <a:latin typeface="Times New Roman"/>
                          <a:ea typeface="Times New Roman"/>
                          <a:cs typeface="Times New Roman"/>
                          <a:sym typeface="Times New Roman"/>
                        </a:rPr>
                        <a:t>The key takeaways from the paper were the correlation between PM2.5 and AQI and how Vehicular Motion is one of the major contributors of Air Quality being poor.</a:t>
                      </a:r>
                      <a:endParaRPr sz="1100" u="none" cap="none" strike="noStrike">
                        <a:latin typeface="Times New Roman"/>
                        <a:ea typeface="Times New Roman"/>
                        <a:cs typeface="Times New Roman"/>
                        <a:sym typeface="Times New Roman"/>
                      </a:endParaRPr>
                    </a:p>
                  </a:txBody>
                  <a:tcPr marT="0" marB="0" marR="68575" marL="68575"/>
                </a:tc>
              </a:tr>
              <a:tr h="1808650">
                <a:tc>
                  <a:txBody>
                    <a:bodyPr/>
                    <a:lstStyle/>
                    <a:p>
                      <a:pPr indent="0" lvl="0" marL="0" marR="0" rtl="0" algn="ctr">
                        <a:lnSpc>
                          <a:spcPct val="115000"/>
                        </a:lnSpc>
                        <a:spcBef>
                          <a:spcPts val="0"/>
                        </a:spcBef>
                        <a:spcAft>
                          <a:spcPts val="0"/>
                        </a:spcAft>
                        <a:buNone/>
                      </a:pPr>
                      <a:r>
                        <a:rPr lang="en-US" sz="1100"/>
                        <a:t>14</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“A Review on Indoor Air Quality Monitoring using IoT at Campus Environment”</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Analysis on various indoor air quality measuring systems</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100">
                          <a:latin typeface="Times New Roman"/>
                          <a:ea typeface="Times New Roman"/>
                          <a:cs typeface="Times New Roman"/>
                          <a:sym typeface="Times New Roman"/>
                        </a:rPr>
                        <a:t>Best way to build a low cost IAQMS is by using Arduino. Pollutants most commonly are used in observations are temperature, humidity, and CO2. Next challenges from IAQ monitoring system is to improve the accuracy of sensor with the condition of ‘&lt; 1ppm’</a:t>
                      </a:r>
                      <a:endParaRPr sz="1100" u="none" cap="none" strike="noStrike">
                        <a:latin typeface="Times New Roman"/>
                        <a:ea typeface="Times New Roman"/>
                        <a:cs typeface="Times New Roman"/>
                        <a:sym typeface="Times New Roman"/>
                      </a:endParaRPr>
                    </a:p>
                  </a:txBody>
                  <a:tcPr marT="0" marB="0" marR="68575" marL="68575">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580"/>
                        </a:spcBef>
                        <a:spcAft>
                          <a:spcPts val="0"/>
                        </a:spcAft>
                        <a:buClr>
                          <a:schemeClr val="dk1"/>
                        </a:buClr>
                        <a:buSzPts val="1100"/>
                        <a:buFont typeface="Arial"/>
                        <a:buNone/>
                      </a:pPr>
                      <a:r>
                        <a:rPr lang="en-US" sz="1100">
                          <a:latin typeface="Times New Roman"/>
                          <a:ea typeface="Times New Roman"/>
                          <a:cs typeface="Times New Roman"/>
                          <a:sym typeface="Times New Roman"/>
                        </a:rPr>
                        <a:t>This study was conducted for facilitating researchers to create a monitoring system for the Indoor Air Quality by using the Internet of Things</a:t>
                      </a:r>
                      <a:endParaRPr sz="1100" u="none" cap="none" strike="noStrike">
                        <a:latin typeface="Times New Roman"/>
                        <a:ea typeface="Times New Roman"/>
                        <a:cs typeface="Times New Roman"/>
                        <a:sym typeface="Times New Roman"/>
                      </a:endParaRPr>
                    </a:p>
                  </a:txBody>
                  <a:tcPr marT="0" marB="0" marR="68575" marL="68575"/>
                </a:tc>
              </a:tr>
              <a:tr h="1917450">
                <a:tc>
                  <a:txBody>
                    <a:bodyPr/>
                    <a:lstStyle/>
                    <a:p>
                      <a:pPr indent="0" lvl="0" marL="0" marR="0" rtl="0" algn="ctr">
                        <a:lnSpc>
                          <a:spcPct val="115000"/>
                        </a:lnSpc>
                        <a:spcBef>
                          <a:spcPts val="0"/>
                        </a:spcBef>
                        <a:spcAft>
                          <a:spcPts val="0"/>
                        </a:spcAft>
                        <a:buNone/>
                      </a:pPr>
                      <a:r>
                        <a:rPr lang="en-US" sz="1100"/>
                        <a:t>15</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580"/>
                        </a:spcBef>
                        <a:spcAft>
                          <a:spcPts val="0"/>
                        </a:spcAft>
                        <a:buClr>
                          <a:schemeClr val="dk1"/>
                        </a:buClr>
                        <a:buSzPts val="1100"/>
                        <a:buFont typeface="Arial"/>
                        <a:buNone/>
                      </a:pPr>
                      <a:r>
                        <a:rPr lang="en-US" sz="1200">
                          <a:latin typeface="Times New Roman"/>
                          <a:ea typeface="Times New Roman"/>
                          <a:cs typeface="Times New Roman"/>
                          <a:sym typeface="Times New Roman"/>
                        </a:rPr>
                        <a:t>“Air Quality Monitoring System Based on IoT using Raspberry Pi”</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100">
                          <a:latin typeface="Times New Roman"/>
                          <a:ea typeface="Times New Roman"/>
                          <a:cs typeface="Times New Roman"/>
                          <a:sym typeface="Times New Roman"/>
                        </a:rPr>
                        <a:t>IoT-Based Air Quality Monitoring System Using Raspberry Pi</a:t>
                      </a:r>
                      <a:endParaRPr sz="1100" u="none" cap="none" strike="noStrike">
                        <a:latin typeface="Times New Roman"/>
                        <a:ea typeface="Times New Roman"/>
                        <a:cs typeface="Times New Roman"/>
                        <a:sym typeface="Times New Roman"/>
                      </a:endParaRPr>
                    </a:p>
                  </a:txBody>
                  <a:tcPr marT="0" marB="0" marR="68575" marL="68575">
                    <a:lnR cap="flat" cmpd="sng" w="6350">
                      <a:solidFill>
                        <a:srgbClr val="000000"/>
                      </a:solidFill>
                      <a:prstDash val="solid"/>
                      <a:round/>
                      <a:headEnd len="sm" w="sm" type="none"/>
                      <a:tailEnd len="sm" w="sm" type="none"/>
                    </a:lnR>
                  </a:tcPr>
                </a:tc>
                <a:tc>
                  <a:txBody>
                    <a:bodyPr/>
                    <a:lstStyle/>
                    <a:p>
                      <a:pPr indent="0" lvl="0" marL="0" rtl="0" algn="l">
                        <a:lnSpc>
                          <a:spcPct val="115000"/>
                        </a:lnSpc>
                        <a:spcBef>
                          <a:spcPts val="0"/>
                        </a:spcBef>
                        <a:spcAft>
                          <a:spcPts val="0"/>
                        </a:spcAft>
                        <a:buNone/>
                      </a:pPr>
                      <a:r>
                        <a:rPr lang="en-US" sz="1100">
                          <a:latin typeface="Times New Roman"/>
                          <a:ea typeface="Times New Roman"/>
                          <a:cs typeface="Times New Roman"/>
                          <a:sym typeface="Times New Roman"/>
                        </a:rPr>
                        <a:t>An independent real-time air quality monitoring system is presented in this paper. A cutting-edge method for better managing data from various sensors may be found in the Internet of Things and cloud computing..</a:t>
                      </a:r>
                      <a:endParaRPr sz="1100">
                        <a:latin typeface="Times New Roman"/>
                        <a:ea typeface="Times New Roman"/>
                        <a:cs typeface="Times New Roman"/>
                        <a:sym typeface="Times New Roman"/>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SzPts val="1100"/>
                        <a:buNone/>
                      </a:pPr>
                      <a:r>
                        <a:rPr lang="en-US" sz="1100">
                          <a:latin typeface="Times New Roman"/>
                          <a:ea typeface="Times New Roman"/>
                          <a:cs typeface="Times New Roman"/>
                          <a:sym typeface="Times New Roman"/>
                        </a:rPr>
                        <a:t>A cutting-edge method for improved data management is provided by the Internet of Things and cloud computing. Data from various sensors is collected and transferred by the low-cost, ARM-based Raspberry Pi minicomputer.</a:t>
                      </a:r>
                      <a:endParaRPr sz="1100" u="none" cap="none" strike="noStrike">
                        <a:latin typeface="Times New Roman"/>
                        <a:ea typeface="Times New Roman"/>
                        <a:cs typeface="Times New Roman"/>
                        <a:sym typeface="Times New Roman"/>
                      </a:endParaRPr>
                    </a:p>
                  </a:txBody>
                  <a:tcPr marT="0" marB="0" marR="68575" marL="68575">
                    <a:lnL cap="flat" cmpd="sng" w="6350">
                      <a:solidFill>
                        <a:srgbClr val="000000"/>
                      </a:solidFill>
                      <a:prstDash val="solid"/>
                      <a:round/>
                      <a:headEnd len="sm" w="sm" type="none"/>
                      <a:tailEnd len="sm" w="sm" type="none"/>
                    </a:lnL>
                  </a:tcPr>
                </a:tc>
              </a:tr>
            </a:tbl>
          </a:graphicData>
        </a:graphic>
      </p:graphicFrame>
      <p:sp>
        <p:nvSpPr>
          <p:cNvPr id="186" name="Google Shape;186;p23"/>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graphicFrame>
        <p:nvGraphicFramePr>
          <p:cNvPr id="191" name="Google Shape;191;p24"/>
          <p:cNvGraphicFramePr/>
          <p:nvPr/>
        </p:nvGraphicFramePr>
        <p:xfrm>
          <a:off x="255788" y="556826"/>
          <a:ext cx="3000000" cy="3000000"/>
        </p:xfrm>
        <a:graphic>
          <a:graphicData uri="http://schemas.openxmlformats.org/drawingml/2006/table">
            <a:tbl>
              <a:tblPr bandRow="1" firstCol="1" firstRow="1">
                <a:noFill/>
                <a:tableStyleId>{A4D8AB64-497F-4718-9F91-532C179451C1}</a:tableStyleId>
              </a:tblPr>
              <a:tblGrid>
                <a:gridCol w="778000"/>
                <a:gridCol w="2154450"/>
                <a:gridCol w="1876775"/>
                <a:gridCol w="1876775"/>
                <a:gridCol w="1946425"/>
              </a:tblGrid>
              <a:tr h="524450">
                <a:tc>
                  <a:txBody>
                    <a:bodyPr/>
                    <a:lstStyle/>
                    <a:p>
                      <a:pPr indent="0" lvl="0" marL="0" marR="0" rtl="0" algn="ctr">
                        <a:lnSpc>
                          <a:spcPct val="115000"/>
                        </a:lnSpc>
                        <a:spcBef>
                          <a:spcPts val="0"/>
                        </a:spcBef>
                        <a:spcAft>
                          <a:spcPts val="0"/>
                        </a:spcAft>
                        <a:buNone/>
                      </a:pPr>
                      <a:r>
                        <a:rPr lang="en-US" sz="1100" u="none" cap="none" strike="noStrike"/>
                        <a:t>SL.NO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Title of the Paper with Year</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Problem Addressed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Authors Approach / Method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15000"/>
                        </a:lnSpc>
                        <a:spcBef>
                          <a:spcPts val="0"/>
                        </a:spcBef>
                        <a:spcAft>
                          <a:spcPts val="0"/>
                        </a:spcAft>
                        <a:buNone/>
                      </a:pPr>
                      <a:r>
                        <a:rPr lang="en-US" sz="1100" u="none" cap="none" strike="noStrike"/>
                        <a:t>Results </a:t>
                      </a:r>
                      <a:endParaRPr sz="1100" u="none" cap="none" strike="noStrike">
                        <a:latin typeface="Calibri"/>
                        <a:ea typeface="Calibri"/>
                        <a:cs typeface="Calibri"/>
                        <a:sym typeface="Calibri"/>
                      </a:endParaRPr>
                    </a:p>
                  </a:txBody>
                  <a:tcPr marT="0" marB="0" marR="68575" marL="68575"/>
                </a:tc>
              </a:tr>
              <a:tr h="1741025">
                <a:tc>
                  <a:txBody>
                    <a:bodyPr/>
                    <a:lstStyle/>
                    <a:p>
                      <a:pPr indent="0" lvl="0" marL="0" marR="0" rtl="0" algn="ctr">
                        <a:lnSpc>
                          <a:spcPct val="115000"/>
                        </a:lnSpc>
                        <a:spcBef>
                          <a:spcPts val="0"/>
                        </a:spcBef>
                        <a:spcAft>
                          <a:spcPts val="0"/>
                        </a:spcAft>
                        <a:buNone/>
                      </a:pPr>
                      <a:r>
                        <a:rPr lang="en-US" sz="1100"/>
                        <a:t>16</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“Air Quality Index Forecasting using Auto-regression Models”</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To forecast the AQI while taking into consideration external factors such as Wind speed, Atmospheric Pressure, Mean temperature, etc.</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The ARIMA model is employed. Detrending, differencing, and other techniques can be used to change a non-stationary series into a stationary series.</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0"/>
                        </a:spcBef>
                        <a:spcAft>
                          <a:spcPts val="1000"/>
                        </a:spcAft>
                        <a:buClr>
                          <a:schemeClr val="dk1"/>
                        </a:buClr>
                        <a:buSzPts val="1100"/>
                        <a:buFont typeface="Arial"/>
                        <a:buNone/>
                      </a:pPr>
                      <a:r>
                        <a:rPr lang="en-US" sz="1200">
                          <a:latin typeface="Times New Roman"/>
                          <a:ea typeface="Times New Roman"/>
                          <a:cs typeface="Times New Roman"/>
                          <a:sym typeface="Times New Roman"/>
                        </a:rPr>
                        <a:t>The MSE was 27.00 when auto-regression was used on a time series dataset to forecast the Air Quality Index value seven days in advance.</a:t>
                      </a:r>
                      <a:endParaRPr sz="1100" u="none" cap="none" strike="noStrike">
                        <a:latin typeface="Times New Roman"/>
                        <a:ea typeface="Times New Roman"/>
                        <a:cs typeface="Times New Roman"/>
                        <a:sym typeface="Times New Roman"/>
                      </a:endParaRPr>
                    </a:p>
                  </a:txBody>
                  <a:tcPr marT="0" marB="0" marR="68575" marL="68575"/>
                </a:tc>
              </a:tr>
              <a:tr h="1808650">
                <a:tc>
                  <a:txBody>
                    <a:bodyPr/>
                    <a:lstStyle/>
                    <a:p>
                      <a:pPr indent="0" lvl="0" marL="0" marR="0" rtl="0" algn="ctr">
                        <a:lnSpc>
                          <a:spcPct val="115000"/>
                        </a:lnSpc>
                        <a:spcBef>
                          <a:spcPts val="0"/>
                        </a:spcBef>
                        <a:spcAft>
                          <a:spcPts val="0"/>
                        </a:spcAft>
                        <a:buNone/>
                      </a:pPr>
                      <a:r>
                        <a:rPr lang="en-US" sz="1100"/>
                        <a:t>17</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“Forecasting of Daily Air Quality Index in Delhi”</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To forecast the Daily Air Quality index in Delhi to improve the decision making process of the Government and help people take necessary measures.</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3 different models were built; ARIMA, PCR (a combination of PCA and MLR), and a combination of the aforesaid 2 models.</a:t>
                      </a:r>
                      <a:endParaRPr sz="1100" u="none" cap="none" strike="noStrike">
                        <a:latin typeface="Times New Roman"/>
                        <a:ea typeface="Times New Roman"/>
                        <a:cs typeface="Times New Roman"/>
                        <a:sym typeface="Times New Roman"/>
                      </a:endParaRPr>
                    </a:p>
                  </a:txBody>
                  <a:tcPr marT="0" marB="0" marR="68575" marL="68575">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1000"/>
                        </a:spcAft>
                        <a:buClr>
                          <a:schemeClr val="dk1"/>
                        </a:buClr>
                        <a:buSzPts val="1100"/>
                        <a:buFont typeface="Arial"/>
                        <a:buNone/>
                      </a:pPr>
                      <a:r>
                        <a:rPr lang="en-US" sz="1200">
                          <a:latin typeface="Times New Roman"/>
                          <a:ea typeface="Times New Roman"/>
                          <a:cs typeface="Times New Roman"/>
                          <a:sym typeface="Times New Roman"/>
                        </a:rPr>
                        <a:t>The 3rd model; a combination of PCR and ARIMA, seemed to understand the underlying correlations and patterns between the data points to give the best results.</a:t>
                      </a:r>
                      <a:endParaRPr sz="1100" u="none" cap="none" strike="noStrike">
                        <a:latin typeface="Times New Roman"/>
                        <a:ea typeface="Times New Roman"/>
                        <a:cs typeface="Times New Roman"/>
                        <a:sym typeface="Times New Roman"/>
                      </a:endParaRPr>
                    </a:p>
                  </a:txBody>
                  <a:tcPr marT="0" marB="0" marR="68575" marL="68575"/>
                </a:tc>
              </a:tr>
              <a:tr h="1917450">
                <a:tc>
                  <a:txBody>
                    <a:bodyPr/>
                    <a:lstStyle/>
                    <a:p>
                      <a:pPr indent="0" lvl="0" marL="0" marR="0" rtl="0" algn="ctr">
                        <a:lnSpc>
                          <a:spcPct val="115000"/>
                        </a:lnSpc>
                        <a:spcBef>
                          <a:spcPts val="0"/>
                        </a:spcBef>
                        <a:spcAft>
                          <a:spcPts val="0"/>
                        </a:spcAft>
                        <a:buNone/>
                      </a:pPr>
                      <a:r>
                        <a:rPr lang="en-US" sz="1100"/>
                        <a:t>18</a:t>
                      </a:r>
                      <a:endParaRPr sz="1100" u="none" cap="none" strike="noStrike">
                        <a:latin typeface="Calibri"/>
                        <a:ea typeface="Calibri"/>
                        <a:cs typeface="Calibri"/>
                        <a:sym typeface="Calibri"/>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“Daily Air Quality Index forecasting with hybrid models: A Case in China”</a:t>
                      </a:r>
                      <a:endParaRPr sz="1100" u="none" cap="none" strike="noStrike">
                        <a:latin typeface="Times New Roman"/>
                        <a:ea typeface="Times New Roman"/>
                        <a:cs typeface="Times New Roman"/>
                        <a:sym typeface="Times New Roman"/>
                      </a:endParaRPr>
                    </a:p>
                  </a:txBody>
                  <a:tcPr marT="0" marB="0" marR="68575" marL="68575"/>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To build better and more accurate models than the currently existing models such as ARIMA, multiple linear models and SVR.</a:t>
                      </a:r>
                      <a:endParaRPr sz="1100" u="none" cap="none" strike="noStrike">
                        <a:latin typeface="Times New Roman"/>
                        <a:ea typeface="Times New Roman"/>
                        <a:cs typeface="Times New Roman"/>
                        <a:sym typeface="Times New Roman"/>
                      </a:endParaRPr>
                    </a:p>
                  </a:txBody>
                  <a:tcPr marT="0" marB="0" marR="68575" marL="68575">
                    <a:lnR cap="flat" cmpd="sng" w="6350">
                      <a:solidFill>
                        <a:srgbClr val="000000"/>
                      </a:solidFill>
                      <a:prstDash val="solid"/>
                      <a:round/>
                      <a:headEnd len="sm" w="sm" type="none"/>
                      <a:tailEnd len="sm" w="sm" type="none"/>
                    </a:lnR>
                  </a:tcPr>
                </a:tc>
                <a:tc>
                  <a:txBody>
                    <a:bodyPr/>
                    <a:lstStyle/>
                    <a:p>
                      <a:pPr indent="0" lvl="0" marL="0" rtl="0" algn="l">
                        <a:lnSpc>
                          <a:spcPct val="115000"/>
                        </a:lnSpc>
                        <a:spcBef>
                          <a:spcPts val="0"/>
                        </a:spcBef>
                        <a:spcAft>
                          <a:spcPts val="0"/>
                        </a:spcAft>
                        <a:buClr>
                          <a:schemeClr val="dk1"/>
                        </a:buClr>
                        <a:buSzPts val="1100"/>
                        <a:buFont typeface="Arial"/>
                        <a:buNone/>
                      </a:pPr>
                      <a:r>
                        <a:rPr lang="en-US" sz="1200">
                          <a:latin typeface="Times New Roman"/>
                          <a:ea typeface="Times New Roman"/>
                          <a:cs typeface="Times New Roman"/>
                          <a:sym typeface="Times New Roman"/>
                        </a:rPr>
                        <a:t>Two hybrid models(EMD-SVR-Hybrid and EMD-IMFs-Hybrid) are proposed.</a:t>
                      </a:r>
                      <a:endParaRPr sz="1100">
                        <a:latin typeface="Times New Roman"/>
                        <a:ea typeface="Times New Roman"/>
                        <a:cs typeface="Times New Roman"/>
                        <a:sym typeface="Times New Roman"/>
                      </a:endParaRPr>
                    </a:p>
                  </a:txBody>
                  <a:tcPr marT="0" marB="0" marR="68575" marL="68575">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1000"/>
                        </a:spcAft>
                        <a:buSzPts val="1100"/>
                        <a:buNone/>
                      </a:pPr>
                      <a:r>
                        <a:rPr lang="en-US" sz="1200">
                          <a:latin typeface="Times New Roman"/>
                          <a:ea typeface="Times New Roman"/>
                          <a:cs typeface="Times New Roman"/>
                          <a:sym typeface="Times New Roman"/>
                        </a:rPr>
                        <a:t>The results of these hybrid models are better than ARIMA, SVR and other models such as EMD-GRNN, GRNN, etc.</a:t>
                      </a:r>
                      <a:endParaRPr sz="1100" u="none" cap="none" strike="noStrike">
                        <a:latin typeface="Times New Roman"/>
                        <a:ea typeface="Times New Roman"/>
                        <a:cs typeface="Times New Roman"/>
                        <a:sym typeface="Times New Roman"/>
                      </a:endParaRPr>
                    </a:p>
                  </a:txBody>
                  <a:tcPr marT="0" marB="0" marR="68575" marL="68575">
                    <a:lnL cap="flat" cmpd="sng" w="6350">
                      <a:solidFill>
                        <a:srgbClr val="000000"/>
                      </a:solidFill>
                      <a:prstDash val="solid"/>
                      <a:round/>
                      <a:headEnd len="sm" w="sm" type="none"/>
                      <a:tailEnd len="sm" w="sm" type="none"/>
                    </a:lnL>
                  </a:tcPr>
                </a:tc>
              </a:tr>
            </a:tbl>
          </a:graphicData>
        </a:graphic>
      </p:graphicFrame>
      <p:sp>
        <p:nvSpPr>
          <p:cNvPr id="192" name="Google Shape;192;p24"/>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5"/>
          <p:cNvSpPr txBox="1"/>
          <p:nvPr>
            <p:ph idx="1" type="body"/>
          </p:nvPr>
        </p:nvSpPr>
        <p:spPr>
          <a:xfrm>
            <a:off x="688623" y="476672"/>
            <a:ext cx="7538184" cy="882316"/>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Survey Summary</a:t>
            </a:r>
            <a:r>
              <a:rPr lang="en-US" sz="3600">
                <a:solidFill>
                  <a:schemeClr val="dk2"/>
                </a:solidFill>
                <a:latin typeface="Libre Franklin"/>
                <a:ea typeface="Libre Franklin"/>
                <a:cs typeface="Libre Franklin"/>
                <a:sym typeface="Libre Franklin"/>
              </a:rPr>
              <a:t> </a:t>
            </a:r>
            <a:endParaRPr sz="3600">
              <a:solidFill>
                <a:schemeClr val="dk2"/>
              </a:solidFill>
              <a:latin typeface="Libre Franklin"/>
              <a:ea typeface="Libre Franklin"/>
              <a:cs typeface="Libre Franklin"/>
              <a:sym typeface="Libre Franklin"/>
            </a:endParaRPr>
          </a:p>
        </p:txBody>
      </p:sp>
      <p:sp>
        <p:nvSpPr>
          <p:cNvPr id="198" name="Google Shape;198;p25"/>
          <p:cNvSpPr txBox="1"/>
          <p:nvPr>
            <p:ph idx="3" type="body"/>
          </p:nvPr>
        </p:nvSpPr>
        <p:spPr>
          <a:xfrm>
            <a:off x="589950" y="1166025"/>
            <a:ext cx="7538100" cy="48138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SzPts val="1400"/>
              <a:buNone/>
            </a:pPr>
            <a:r>
              <a:rPr lang="en-US" sz="1300">
                <a:latin typeface="Times New Roman"/>
                <a:ea typeface="Times New Roman"/>
                <a:cs typeface="Times New Roman"/>
                <a:sym typeface="Times New Roman"/>
              </a:rPr>
              <a:t>[1-6]The papers we have surveyed have shown us different approaches of building an IOT device to measure the various pollutants in the atmosphere. We got an idea of the most damaging pollutants and the formula to calculate the AQI. A few papers have built and used the IoT device to capture the concentration of pollutants and then used ML Algorithms to </a:t>
            </a:r>
            <a:r>
              <a:rPr lang="en-US" sz="1300">
                <a:latin typeface="Times New Roman"/>
                <a:ea typeface="Times New Roman"/>
                <a:cs typeface="Times New Roman"/>
                <a:sym typeface="Times New Roman"/>
              </a:rPr>
              <a:t>predict</a:t>
            </a:r>
            <a:r>
              <a:rPr lang="en-US" sz="1300">
                <a:latin typeface="Times New Roman"/>
                <a:ea typeface="Times New Roman"/>
                <a:cs typeface="Times New Roman"/>
                <a:sym typeface="Times New Roman"/>
              </a:rPr>
              <a:t> the AQI. In these papers we were introduced to forecasting and predicting techniques such as ARIMA, Support Vector Regression, LSTM, etc. We also got a rough outline of building the IoT devices.</a:t>
            </a:r>
            <a:endParaRPr sz="1300">
              <a:latin typeface="Times New Roman"/>
              <a:ea typeface="Times New Roman"/>
              <a:cs typeface="Times New Roman"/>
              <a:sym typeface="Times New Roman"/>
            </a:endParaRPr>
          </a:p>
          <a:p>
            <a:pPr indent="0" lvl="0" marL="0" rtl="0" algn="just">
              <a:lnSpc>
                <a:spcPct val="150000"/>
              </a:lnSpc>
              <a:spcBef>
                <a:spcPts val="600"/>
              </a:spcBef>
              <a:spcAft>
                <a:spcPts val="0"/>
              </a:spcAft>
              <a:buSzPts val="1400"/>
              <a:buNone/>
            </a:pPr>
            <a:r>
              <a:rPr lang="en-US" sz="1300">
                <a:latin typeface="Times New Roman"/>
                <a:ea typeface="Times New Roman"/>
                <a:cs typeface="Times New Roman"/>
                <a:sym typeface="Times New Roman"/>
              </a:rPr>
              <a:t>Paper [7] introduced us to using multiple </a:t>
            </a:r>
            <a:r>
              <a:rPr lang="en-US" sz="1300">
                <a:latin typeface="Times New Roman"/>
                <a:ea typeface="Times New Roman"/>
                <a:cs typeface="Times New Roman"/>
                <a:sym typeface="Times New Roman"/>
              </a:rPr>
              <a:t>sensors </a:t>
            </a:r>
            <a:r>
              <a:rPr lang="en-US" sz="1300">
                <a:latin typeface="Times New Roman"/>
                <a:ea typeface="Times New Roman"/>
                <a:cs typeface="Times New Roman"/>
                <a:sym typeface="Times New Roman"/>
              </a:rPr>
              <a:t>(Fixed and Mobile) to improve accuracy while paper [8] spoke about rerouting traffic based on it. Paper [9] discussed using Big Data. Paper [12] introduced using Deep Learning for </a:t>
            </a:r>
            <a:r>
              <a:rPr lang="en-US" sz="1300">
                <a:latin typeface="Times New Roman"/>
                <a:ea typeface="Times New Roman"/>
                <a:cs typeface="Times New Roman"/>
                <a:sym typeface="Times New Roman"/>
              </a:rPr>
              <a:t>forecasting, that is; to use Temporal Sliding along with LSTM.</a:t>
            </a:r>
            <a:endParaRPr sz="1300">
              <a:latin typeface="Times New Roman"/>
              <a:ea typeface="Times New Roman"/>
              <a:cs typeface="Times New Roman"/>
              <a:sym typeface="Times New Roman"/>
            </a:endParaRPr>
          </a:p>
          <a:p>
            <a:pPr indent="0" lvl="0" marL="0" rtl="0" algn="just">
              <a:lnSpc>
                <a:spcPct val="150000"/>
              </a:lnSpc>
              <a:spcBef>
                <a:spcPts val="600"/>
              </a:spcBef>
              <a:spcAft>
                <a:spcPts val="0"/>
              </a:spcAft>
              <a:buSzPts val="1400"/>
              <a:buNone/>
            </a:pPr>
            <a:r>
              <a:rPr lang="en-US" sz="1300">
                <a:latin typeface="Times New Roman"/>
                <a:ea typeface="Times New Roman"/>
                <a:cs typeface="Times New Roman"/>
                <a:sym typeface="Times New Roman"/>
              </a:rPr>
              <a:t>Paper [13] discussed the impact of Covid19 induced lockdown on the Air Quality and this gave us an insight about how a lot of pollution is caused by traffic. Paper [14] discussed modelling an Air Pollution system for an indoor environment (a campus), and [15] spoke about building an IoT device using Raspberry Pi.</a:t>
            </a:r>
            <a:endParaRPr sz="1300">
              <a:latin typeface="Times New Roman"/>
              <a:ea typeface="Times New Roman"/>
              <a:cs typeface="Times New Roman"/>
              <a:sym typeface="Times New Roman"/>
            </a:endParaRPr>
          </a:p>
          <a:p>
            <a:pPr indent="0" lvl="0" marL="0" rtl="0" algn="just">
              <a:lnSpc>
                <a:spcPct val="150000"/>
              </a:lnSpc>
              <a:spcBef>
                <a:spcPts val="600"/>
              </a:spcBef>
              <a:spcAft>
                <a:spcPts val="0"/>
              </a:spcAft>
              <a:buSzPts val="1400"/>
              <a:buNone/>
            </a:pPr>
            <a:r>
              <a:rPr lang="en-US" sz="1300">
                <a:latin typeface="Times New Roman"/>
                <a:ea typeface="Times New Roman"/>
                <a:cs typeface="Times New Roman"/>
                <a:sym typeface="Times New Roman"/>
              </a:rPr>
              <a:t>[16] detailed on ARIMA model and introduced using other features such as wind speed, temperature, humidity, wind direction, etc. Paper [17] gave an insight on on combining PCA and ARIMA for modelling the Time Series. Paper [18] discussed using EMD-SVR and EMD-IMF hybrid models.</a:t>
            </a:r>
            <a:endParaRPr sz="1300">
              <a:latin typeface="Times New Roman"/>
              <a:ea typeface="Times New Roman"/>
              <a:cs typeface="Times New Roman"/>
              <a:sym typeface="Times New Roman"/>
            </a:endParaRPr>
          </a:p>
          <a:p>
            <a:pPr indent="0" lvl="0" marL="0" rtl="0" algn="just">
              <a:lnSpc>
                <a:spcPct val="150000"/>
              </a:lnSpc>
              <a:spcBef>
                <a:spcPts val="600"/>
              </a:spcBef>
              <a:spcAft>
                <a:spcPts val="0"/>
              </a:spcAft>
              <a:buSzPts val="1400"/>
              <a:buNone/>
            </a:pPr>
            <a:r>
              <a:t/>
            </a:r>
            <a:endParaRPr sz="1300">
              <a:latin typeface="Times New Roman"/>
              <a:ea typeface="Times New Roman"/>
              <a:cs typeface="Times New Roman"/>
              <a:sym typeface="Times New Roman"/>
            </a:endParaRPr>
          </a:p>
          <a:p>
            <a:pPr indent="0" lvl="0" marL="0" rtl="0" algn="just">
              <a:lnSpc>
                <a:spcPct val="150000"/>
              </a:lnSpc>
              <a:spcBef>
                <a:spcPts val="600"/>
              </a:spcBef>
              <a:spcAft>
                <a:spcPts val="600"/>
              </a:spcAft>
              <a:buSzPts val="1400"/>
              <a:buNone/>
            </a:pPr>
            <a:r>
              <a:t/>
            </a:r>
            <a:endParaRPr sz="1300">
              <a:latin typeface="Times New Roman"/>
              <a:ea typeface="Times New Roman"/>
              <a:cs typeface="Times New Roman"/>
              <a:sym typeface="Times New Roman"/>
            </a:endParaRPr>
          </a:p>
        </p:txBody>
      </p:sp>
      <p:sp>
        <p:nvSpPr>
          <p:cNvPr id="199" name="Google Shape;199;p25"/>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00" name="Google Shape;200;p25"/>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01" name="Google Shape;201;p25"/>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6"/>
          <p:cNvSpPr txBox="1"/>
          <p:nvPr>
            <p:ph idx="1" type="body"/>
          </p:nvPr>
        </p:nvSpPr>
        <p:spPr>
          <a:xfrm>
            <a:off x="802948" y="213022"/>
            <a:ext cx="75381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Proposed System</a:t>
            </a:r>
            <a:endParaRPr sz="3600">
              <a:solidFill>
                <a:schemeClr val="dk2"/>
              </a:solidFill>
              <a:latin typeface="Libre Franklin"/>
              <a:ea typeface="Libre Franklin"/>
              <a:cs typeface="Libre Franklin"/>
              <a:sym typeface="Libre Franklin"/>
            </a:endParaRPr>
          </a:p>
        </p:txBody>
      </p:sp>
      <p:sp>
        <p:nvSpPr>
          <p:cNvPr id="207" name="Google Shape;207;p26"/>
          <p:cNvSpPr txBox="1"/>
          <p:nvPr>
            <p:ph idx="3" type="body"/>
          </p:nvPr>
        </p:nvSpPr>
        <p:spPr>
          <a:xfrm>
            <a:off x="742950" y="961200"/>
            <a:ext cx="7810500" cy="4935600"/>
          </a:xfrm>
          <a:prstGeom prst="rect">
            <a:avLst/>
          </a:prstGeom>
          <a:noFill/>
          <a:ln>
            <a:noFill/>
          </a:ln>
        </p:spPr>
        <p:txBody>
          <a:bodyPr anchorCtr="0" anchor="t" bIns="91425" lIns="91425" spcFirstLastPara="1" rIns="91425" wrap="square" tIns="91425">
            <a:noAutofit/>
          </a:bodyPr>
          <a:lstStyle/>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We propose to build an IoT device using Arduino Uno and several sensors to detect pollutants such as Particulate Matter, Nitrogen Oxides, Sulphur Dioxide, Ozone, Carbon Monoxide, etc. Using hourly values of these </a:t>
            </a:r>
            <a:r>
              <a:rPr lang="en-US" sz="1400">
                <a:latin typeface="Times New Roman"/>
                <a:ea typeface="Times New Roman"/>
                <a:cs typeface="Times New Roman"/>
                <a:sym typeface="Times New Roman"/>
              </a:rPr>
              <a:t>sensors</a:t>
            </a:r>
            <a:r>
              <a:rPr lang="en-US" sz="1400">
                <a:latin typeface="Times New Roman"/>
                <a:ea typeface="Times New Roman"/>
                <a:cs typeface="Times New Roman"/>
                <a:sym typeface="Times New Roman"/>
              </a:rPr>
              <a:t>, we will calculate the sub indices of each pollutant and hence the AQI. AQI will be calculated per day.</a:t>
            </a:r>
            <a:endParaRPr sz="1400">
              <a:latin typeface="Times New Roman"/>
              <a:ea typeface="Times New Roman"/>
              <a:cs typeface="Times New Roman"/>
              <a:sym typeface="Times New Roman"/>
            </a:endParaRPr>
          </a:p>
          <a:p>
            <a:pPr indent="-317500" lvl="0" marL="457200" rtl="0" algn="just">
              <a:lnSpc>
                <a:spcPct val="150000"/>
              </a:lnSpc>
              <a:spcBef>
                <a:spcPts val="1000"/>
              </a:spcBef>
              <a:spcAft>
                <a:spcPts val="0"/>
              </a:spcAft>
              <a:buSzPts val="1400"/>
              <a:buFont typeface="Times New Roman"/>
              <a:buChar char="●"/>
            </a:pPr>
            <a:r>
              <a:rPr lang="en-US" sz="1400">
                <a:latin typeface="Times New Roman"/>
                <a:ea typeface="Times New Roman"/>
                <a:cs typeface="Times New Roman"/>
                <a:sym typeface="Times New Roman"/>
              </a:rPr>
              <a:t>Using the collected AQI data, and existing dataset from 2015 to 2020, and 2021-2022, we aim to build a Machine Learning model to forecast the AQI for the coming few days in Jayanagar-Basavanagudi region. </a:t>
            </a:r>
            <a:endParaRPr sz="1400">
              <a:latin typeface="Times New Roman"/>
              <a:ea typeface="Times New Roman"/>
              <a:cs typeface="Times New Roman"/>
              <a:sym typeface="Times New Roman"/>
            </a:endParaRPr>
          </a:p>
          <a:p>
            <a:pPr indent="-317500" lvl="0" marL="457200" rtl="0" algn="just">
              <a:lnSpc>
                <a:spcPct val="150000"/>
              </a:lnSpc>
              <a:spcBef>
                <a:spcPts val="1000"/>
              </a:spcBef>
              <a:spcAft>
                <a:spcPts val="0"/>
              </a:spcAft>
              <a:buSzPts val="1400"/>
              <a:buFont typeface="Times New Roman"/>
              <a:buChar char="●"/>
            </a:pPr>
            <a:r>
              <a:rPr lang="en-US" sz="1400">
                <a:latin typeface="Times New Roman"/>
                <a:ea typeface="Times New Roman"/>
                <a:cs typeface="Times New Roman"/>
                <a:sym typeface="Times New Roman"/>
              </a:rPr>
              <a:t>Why only this region? Because the AQI at any given time varies all over Bangalore. Hence, if we can model one area </a:t>
            </a:r>
            <a:r>
              <a:rPr lang="en-US" sz="1400">
                <a:latin typeface="Times New Roman"/>
                <a:ea typeface="Times New Roman"/>
                <a:cs typeface="Times New Roman"/>
                <a:sym typeface="Times New Roman"/>
              </a:rPr>
              <a:t>accurately</a:t>
            </a:r>
            <a:r>
              <a:rPr lang="en-US" sz="1400">
                <a:latin typeface="Times New Roman"/>
                <a:ea typeface="Times New Roman"/>
                <a:cs typeface="Times New Roman"/>
                <a:sym typeface="Times New Roman"/>
              </a:rPr>
              <a:t>, repeating the same for all other areas should be easy.</a:t>
            </a:r>
            <a:endParaRPr sz="1400">
              <a:latin typeface="Times New Roman"/>
              <a:ea typeface="Times New Roman"/>
              <a:cs typeface="Times New Roman"/>
              <a:sym typeface="Times New Roman"/>
            </a:endParaRPr>
          </a:p>
          <a:p>
            <a:pPr indent="-317500" lvl="0" marL="457200" rtl="0" algn="just">
              <a:lnSpc>
                <a:spcPct val="150000"/>
              </a:lnSpc>
              <a:spcBef>
                <a:spcPts val="1000"/>
              </a:spcBef>
              <a:spcAft>
                <a:spcPts val="0"/>
              </a:spcAft>
              <a:buSzPts val="1400"/>
              <a:buFont typeface="Times New Roman"/>
              <a:buChar char="●"/>
            </a:pPr>
            <a:r>
              <a:rPr lang="en-US" sz="1400">
                <a:latin typeface="Times New Roman"/>
                <a:ea typeface="Times New Roman"/>
                <a:cs typeface="Times New Roman"/>
                <a:sym typeface="Times New Roman"/>
              </a:rPr>
              <a:t>We aim to build a website showing daily forecasts of AQI, giving tips on reducing the AQI and </a:t>
            </a:r>
            <a:r>
              <a:rPr lang="en-US" sz="1400">
                <a:latin typeface="Times New Roman"/>
                <a:ea typeface="Times New Roman"/>
                <a:cs typeface="Times New Roman"/>
                <a:sym typeface="Times New Roman"/>
              </a:rPr>
              <a:t>precautionary</a:t>
            </a:r>
            <a:r>
              <a:rPr lang="en-US" sz="1400">
                <a:latin typeface="Times New Roman"/>
                <a:ea typeface="Times New Roman"/>
                <a:cs typeface="Times New Roman"/>
                <a:sym typeface="Times New Roman"/>
              </a:rPr>
              <a:t> measures to help people negate the </a:t>
            </a:r>
            <a:r>
              <a:rPr lang="en-US" sz="1400">
                <a:latin typeface="Times New Roman"/>
                <a:ea typeface="Times New Roman"/>
                <a:cs typeface="Times New Roman"/>
                <a:sym typeface="Times New Roman"/>
              </a:rPr>
              <a:t>effects</a:t>
            </a:r>
            <a:r>
              <a:rPr lang="en-US" sz="1400">
                <a:latin typeface="Times New Roman"/>
                <a:ea typeface="Times New Roman"/>
                <a:cs typeface="Times New Roman"/>
                <a:sym typeface="Times New Roman"/>
              </a:rPr>
              <a:t> of pollution, especially for people </a:t>
            </a:r>
            <a:r>
              <a:rPr lang="en-US" sz="1400">
                <a:latin typeface="Times New Roman"/>
                <a:ea typeface="Times New Roman"/>
                <a:cs typeface="Times New Roman"/>
                <a:sym typeface="Times New Roman"/>
              </a:rPr>
              <a:t>suffering</a:t>
            </a:r>
            <a:r>
              <a:rPr lang="en-US" sz="1400">
                <a:latin typeface="Times New Roman"/>
                <a:ea typeface="Times New Roman"/>
                <a:cs typeface="Times New Roman"/>
                <a:sym typeface="Times New Roman"/>
              </a:rPr>
              <a:t> from respiratory and </a:t>
            </a:r>
            <a:r>
              <a:rPr lang="en-US" sz="1400">
                <a:latin typeface="Times New Roman"/>
                <a:ea typeface="Times New Roman"/>
                <a:cs typeface="Times New Roman"/>
                <a:sym typeface="Times New Roman"/>
              </a:rPr>
              <a:t>cardiovascular complications.</a:t>
            </a:r>
            <a:endParaRPr sz="1400">
              <a:latin typeface="Times New Roman"/>
              <a:ea typeface="Times New Roman"/>
              <a:cs typeface="Times New Roman"/>
              <a:sym typeface="Times New Roman"/>
            </a:endParaRPr>
          </a:p>
          <a:p>
            <a:pPr indent="-317500" lvl="0" marL="457200" rtl="0" algn="just">
              <a:lnSpc>
                <a:spcPct val="150000"/>
              </a:lnSpc>
              <a:spcBef>
                <a:spcPts val="1000"/>
              </a:spcBef>
              <a:spcAft>
                <a:spcPts val="1000"/>
              </a:spcAft>
              <a:buSzPts val="1400"/>
              <a:buFont typeface="Times New Roman"/>
              <a:buChar char="●"/>
            </a:pPr>
            <a:r>
              <a:rPr lang="en-US" sz="1400">
                <a:latin typeface="Times New Roman"/>
                <a:ea typeface="Times New Roman"/>
                <a:cs typeface="Times New Roman"/>
                <a:sym typeface="Times New Roman"/>
              </a:rPr>
              <a:t>We are also planning to implement an automated tweeting system to push tweets on Twitter everyday once the prediction has been made, to ensure easy access of information to all residents.</a:t>
            </a:r>
            <a:r>
              <a:rPr lang="en-US" sz="1400">
                <a:latin typeface="Times New Roman"/>
                <a:ea typeface="Times New Roman"/>
                <a:cs typeface="Times New Roman"/>
                <a:sym typeface="Times New Roman"/>
              </a:rPr>
              <a:t> </a:t>
            </a:r>
            <a:endParaRPr sz="1400">
              <a:latin typeface="Times New Roman"/>
              <a:ea typeface="Times New Roman"/>
              <a:cs typeface="Times New Roman"/>
              <a:sym typeface="Times New Roman"/>
            </a:endParaRPr>
          </a:p>
        </p:txBody>
      </p:sp>
      <p:sp>
        <p:nvSpPr>
          <p:cNvPr id="208" name="Google Shape;208;p26"/>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09" name="Google Shape;209;p26"/>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10" name="Google Shape;210;p26"/>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7"/>
          <p:cNvSpPr txBox="1"/>
          <p:nvPr>
            <p:ph idx="1" type="body"/>
          </p:nvPr>
        </p:nvSpPr>
        <p:spPr>
          <a:xfrm>
            <a:off x="1098696" y="332656"/>
            <a:ext cx="7045200" cy="76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Applications</a:t>
            </a:r>
            <a:r>
              <a:rPr lang="en-US" sz="3600">
                <a:solidFill>
                  <a:schemeClr val="dk2"/>
                </a:solidFill>
                <a:latin typeface="Libre Franklin"/>
                <a:ea typeface="Libre Franklin"/>
                <a:cs typeface="Libre Franklin"/>
                <a:sym typeface="Libre Franklin"/>
              </a:rPr>
              <a:t> </a:t>
            </a:r>
            <a:endParaRPr sz="3600">
              <a:solidFill>
                <a:schemeClr val="dk2"/>
              </a:solidFill>
              <a:latin typeface="Libre Franklin"/>
              <a:ea typeface="Libre Franklin"/>
              <a:cs typeface="Libre Franklin"/>
              <a:sym typeface="Libre Franklin"/>
            </a:endParaRPr>
          </a:p>
        </p:txBody>
      </p:sp>
      <p:sp>
        <p:nvSpPr>
          <p:cNvPr id="216" name="Google Shape;216;p27"/>
          <p:cNvSpPr txBox="1"/>
          <p:nvPr/>
        </p:nvSpPr>
        <p:spPr>
          <a:xfrm>
            <a:off x="1000042" y="1479311"/>
            <a:ext cx="7045200" cy="3206700"/>
          </a:xfrm>
          <a:prstGeom prst="rect">
            <a:avLst/>
          </a:prstGeom>
          <a:noFill/>
          <a:ln>
            <a:noFill/>
          </a:ln>
        </p:spPr>
        <p:txBody>
          <a:bodyPr anchorCtr="0" anchor="t" bIns="45700" lIns="91425" spcFirstLastPara="1" rIns="91425" wrap="square" tIns="45700">
            <a:spAutoFit/>
          </a:bodyPr>
          <a:lstStyle/>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Protecting the environment, ecosystem and biodiversity of the planet</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Protecting the environment, ecosystem and biodiversity of the planet</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Industrial compliance and regulations</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Integration with Google Maps</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Policy making</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City planning</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Research</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Education and awareness</a:t>
            </a:r>
            <a:endParaRPr sz="1500">
              <a:solidFill>
                <a:schemeClr val="dk1"/>
              </a:solidFill>
              <a:latin typeface="Times New Roman"/>
              <a:ea typeface="Times New Roman"/>
              <a:cs typeface="Times New Roman"/>
              <a:sym typeface="Times New Roman"/>
            </a:endParaRPr>
          </a:p>
          <a:p>
            <a:pPr indent="0" lvl="0" marL="0" marR="0" rtl="0" algn="just">
              <a:lnSpc>
                <a:spcPct val="150000"/>
              </a:lnSpc>
              <a:spcBef>
                <a:spcPts val="1000"/>
              </a:spcBef>
              <a:spcAft>
                <a:spcPts val="60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p:txBody>
      </p:sp>
      <p:sp>
        <p:nvSpPr>
          <p:cNvPr id="217" name="Google Shape;217;p27"/>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18" name="Google Shape;218;p27"/>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19" name="Google Shape;219;p27"/>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8"/>
          <p:cNvSpPr txBox="1"/>
          <p:nvPr>
            <p:ph idx="1" type="body"/>
          </p:nvPr>
        </p:nvSpPr>
        <p:spPr>
          <a:xfrm>
            <a:off x="688623" y="476672"/>
            <a:ext cx="7538184" cy="882316"/>
          </a:xfrm>
          <a:prstGeom prst="rect">
            <a:avLst/>
          </a:prstGeom>
          <a:noFill/>
          <a:ln>
            <a:noFill/>
          </a:ln>
        </p:spPr>
        <p:txBody>
          <a:bodyPr anchorCtr="0" anchor="t" bIns="91425" lIns="91425" spcFirstLastPara="1" rIns="91425" wrap="square" tIns="91425">
            <a:noAutofit/>
          </a:bodyPr>
          <a:lstStyle/>
          <a:p>
            <a:pPr indent="-228600" lvl="0" marL="457200" rtl="0" algn="ctr">
              <a:spcBef>
                <a:spcPts val="0"/>
              </a:spcBef>
              <a:spcAft>
                <a:spcPts val="0"/>
              </a:spcAft>
              <a:buSzPts val="1400"/>
              <a:buNone/>
            </a:pPr>
            <a:r>
              <a:rPr b="1" lang="en-US"/>
              <a:t>SYSTEM REQUIREMENT SPECIFICATION</a:t>
            </a:r>
            <a:endParaRPr/>
          </a:p>
        </p:txBody>
      </p:sp>
      <p:sp>
        <p:nvSpPr>
          <p:cNvPr id="225" name="Google Shape;225;p28"/>
          <p:cNvSpPr txBox="1"/>
          <p:nvPr>
            <p:ph idx="3" type="body"/>
          </p:nvPr>
        </p:nvSpPr>
        <p:spPr>
          <a:xfrm>
            <a:off x="917193" y="1907722"/>
            <a:ext cx="7309614" cy="349895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800" u="sng">
                <a:latin typeface="Times New Roman"/>
                <a:ea typeface="Times New Roman"/>
                <a:cs typeface="Times New Roman"/>
                <a:sym typeface="Times New Roman"/>
              </a:rPr>
              <a:t>Functional Requirements</a:t>
            </a:r>
            <a:endParaRPr b="1" sz="1800" u="sng">
              <a:latin typeface="Times New Roman"/>
              <a:ea typeface="Times New Roman"/>
              <a:cs typeface="Times New Roman"/>
              <a:sym typeface="Times New Roman"/>
            </a:endParaRPr>
          </a:p>
          <a:p>
            <a:pPr indent="0" lvl="0" marL="0" rtl="0" algn="l">
              <a:lnSpc>
                <a:spcPct val="115000"/>
              </a:lnSpc>
              <a:spcBef>
                <a:spcPts val="1000"/>
              </a:spcBef>
              <a:spcAft>
                <a:spcPts val="0"/>
              </a:spcAft>
              <a:buClr>
                <a:schemeClr val="dk1"/>
              </a:buClr>
              <a:buSzPts val="1100"/>
              <a:buFont typeface="Arial"/>
              <a:buNone/>
            </a:pPr>
            <a:r>
              <a:t/>
            </a:r>
            <a:endParaRPr b="1" sz="1800" u="sng">
              <a:latin typeface="Times New Roman"/>
              <a:ea typeface="Times New Roman"/>
              <a:cs typeface="Times New Roman"/>
              <a:sym typeface="Times New Roman"/>
            </a:endParaRPr>
          </a:p>
          <a:p>
            <a:pPr indent="-311150" lvl="0" marL="457200" rtl="0" algn="l">
              <a:lnSpc>
                <a:spcPct val="150000"/>
              </a:lnSpc>
              <a:spcBef>
                <a:spcPts val="1000"/>
              </a:spcBef>
              <a:spcAft>
                <a:spcPts val="0"/>
              </a:spcAft>
              <a:buClr>
                <a:schemeClr val="dk1"/>
              </a:buClr>
              <a:buSzPts val="1300"/>
              <a:buFont typeface="Times New Roman"/>
              <a:buAutoNum type="arabicPeriod"/>
            </a:pPr>
            <a:r>
              <a:rPr b="1" lang="en-US" sz="1300" u="sng">
                <a:latin typeface="Times New Roman"/>
                <a:ea typeface="Times New Roman"/>
                <a:cs typeface="Times New Roman"/>
                <a:sym typeface="Times New Roman"/>
              </a:rPr>
              <a:t>Connectivity</a:t>
            </a:r>
            <a:r>
              <a:rPr lang="en-US" sz="1300">
                <a:latin typeface="Times New Roman"/>
                <a:ea typeface="Times New Roman"/>
                <a:cs typeface="Times New Roman"/>
                <a:sym typeface="Times New Roman"/>
              </a:rPr>
              <a:t>: Ability of the system to connect and communicate with various sensors, devices and networks</a:t>
            </a:r>
            <a:endParaRPr sz="1300">
              <a:latin typeface="Times New Roman"/>
              <a:ea typeface="Times New Roman"/>
              <a:cs typeface="Times New Roman"/>
              <a:sym typeface="Times New Roman"/>
            </a:endParaRPr>
          </a:p>
          <a:p>
            <a:pPr indent="-311150" lvl="0" marL="457200" rtl="0" algn="l">
              <a:lnSpc>
                <a:spcPct val="150000"/>
              </a:lnSpc>
              <a:spcBef>
                <a:spcPts val="1000"/>
              </a:spcBef>
              <a:spcAft>
                <a:spcPts val="0"/>
              </a:spcAft>
              <a:buClr>
                <a:schemeClr val="dk1"/>
              </a:buClr>
              <a:buSzPts val="1300"/>
              <a:buFont typeface="Times New Roman"/>
              <a:buAutoNum type="arabicPeriod"/>
            </a:pPr>
            <a:r>
              <a:rPr b="1" lang="en-US" sz="1300" u="sng">
                <a:latin typeface="Times New Roman"/>
                <a:ea typeface="Times New Roman"/>
                <a:cs typeface="Times New Roman"/>
                <a:sym typeface="Times New Roman"/>
              </a:rPr>
              <a:t>Data collection and storage</a:t>
            </a:r>
            <a:r>
              <a:rPr lang="en-US" sz="1300">
                <a:latin typeface="Times New Roman"/>
                <a:ea typeface="Times New Roman"/>
                <a:cs typeface="Times New Roman"/>
                <a:sym typeface="Times New Roman"/>
              </a:rPr>
              <a:t>: Ability of the system to collect data from various sensors, store it and upload it the cloud storage</a:t>
            </a:r>
            <a:endParaRPr sz="1300">
              <a:latin typeface="Times New Roman"/>
              <a:ea typeface="Times New Roman"/>
              <a:cs typeface="Times New Roman"/>
              <a:sym typeface="Times New Roman"/>
            </a:endParaRPr>
          </a:p>
          <a:p>
            <a:pPr indent="-311150" lvl="0" marL="457200" rtl="0" algn="l">
              <a:lnSpc>
                <a:spcPct val="150000"/>
              </a:lnSpc>
              <a:spcBef>
                <a:spcPts val="1000"/>
              </a:spcBef>
              <a:spcAft>
                <a:spcPts val="0"/>
              </a:spcAft>
              <a:buClr>
                <a:schemeClr val="dk1"/>
              </a:buClr>
              <a:buSzPts val="1300"/>
              <a:buFont typeface="Times New Roman"/>
              <a:buAutoNum type="arabicPeriod"/>
            </a:pPr>
            <a:r>
              <a:rPr b="1" lang="en-US" sz="1300" u="sng">
                <a:latin typeface="Times New Roman"/>
                <a:ea typeface="Times New Roman"/>
                <a:cs typeface="Times New Roman"/>
                <a:sym typeface="Times New Roman"/>
              </a:rPr>
              <a:t>Integration</a:t>
            </a:r>
            <a:r>
              <a:rPr lang="en-US" sz="1300">
                <a:latin typeface="Times New Roman"/>
                <a:ea typeface="Times New Roman"/>
                <a:cs typeface="Times New Roman"/>
                <a:sym typeface="Times New Roman"/>
              </a:rPr>
              <a:t>: Ability to integrate the system with other systems like database and cloud offerings</a:t>
            </a:r>
            <a:endParaRPr sz="1300">
              <a:latin typeface="Times New Roman"/>
              <a:ea typeface="Times New Roman"/>
              <a:cs typeface="Times New Roman"/>
              <a:sym typeface="Times New Roman"/>
            </a:endParaRPr>
          </a:p>
          <a:p>
            <a:pPr indent="-311150" lvl="0" marL="457200" rtl="0" algn="l">
              <a:lnSpc>
                <a:spcPct val="150000"/>
              </a:lnSpc>
              <a:spcBef>
                <a:spcPts val="1000"/>
              </a:spcBef>
              <a:spcAft>
                <a:spcPts val="0"/>
              </a:spcAft>
              <a:buClr>
                <a:schemeClr val="dk1"/>
              </a:buClr>
              <a:buSzPts val="1300"/>
              <a:buFont typeface="Times New Roman"/>
              <a:buAutoNum type="arabicPeriod"/>
            </a:pPr>
            <a:r>
              <a:rPr b="1" lang="en-US" sz="1300" u="sng">
                <a:latin typeface="Times New Roman"/>
                <a:ea typeface="Times New Roman"/>
                <a:cs typeface="Times New Roman"/>
                <a:sym typeface="Times New Roman"/>
              </a:rPr>
              <a:t>Alerts and Notifications</a:t>
            </a:r>
            <a:r>
              <a:rPr lang="en-US" sz="1300">
                <a:latin typeface="Times New Roman"/>
                <a:ea typeface="Times New Roman"/>
                <a:cs typeface="Times New Roman"/>
                <a:sym typeface="Times New Roman"/>
              </a:rPr>
              <a:t>: Ability to issue the appropriate notifications and alerts for specific conditions.</a:t>
            </a:r>
            <a:endParaRPr sz="1300">
              <a:latin typeface="Times New Roman"/>
              <a:ea typeface="Times New Roman"/>
              <a:cs typeface="Times New Roman"/>
              <a:sym typeface="Times New Roman"/>
            </a:endParaRPr>
          </a:p>
          <a:p>
            <a:pPr indent="-311150" lvl="0" marL="457200" rtl="0" algn="l">
              <a:lnSpc>
                <a:spcPct val="150000"/>
              </a:lnSpc>
              <a:spcBef>
                <a:spcPts val="1000"/>
              </a:spcBef>
              <a:spcAft>
                <a:spcPts val="1000"/>
              </a:spcAft>
              <a:buClr>
                <a:schemeClr val="dk1"/>
              </a:buClr>
              <a:buSzPts val="1300"/>
              <a:buFont typeface="Times New Roman"/>
              <a:buAutoNum type="arabicPeriod"/>
            </a:pPr>
            <a:r>
              <a:rPr lang="en-US" sz="1300">
                <a:latin typeface="Times New Roman"/>
                <a:ea typeface="Times New Roman"/>
                <a:cs typeface="Times New Roman"/>
                <a:sym typeface="Times New Roman"/>
              </a:rPr>
              <a:t>Ability to analyse the collected data and perform accurate prediction in real time.</a:t>
            </a:r>
            <a:endParaRPr sz="2700">
              <a:latin typeface="Times New Roman"/>
              <a:ea typeface="Times New Roman"/>
              <a:cs typeface="Times New Roman"/>
              <a:sym typeface="Times New Roman"/>
            </a:endParaRPr>
          </a:p>
        </p:txBody>
      </p:sp>
      <p:sp>
        <p:nvSpPr>
          <p:cNvPr id="226" name="Google Shape;226;p28"/>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27" name="Google Shape;227;p28"/>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28" name="Google Shape;228;p28"/>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9"/>
          <p:cNvSpPr txBox="1"/>
          <p:nvPr>
            <p:ph idx="3" type="body"/>
          </p:nvPr>
        </p:nvSpPr>
        <p:spPr>
          <a:xfrm>
            <a:off x="760950" y="584250"/>
            <a:ext cx="7622100" cy="422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800" u="sng">
                <a:latin typeface="Times New Roman"/>
                <a:ea typeface="Times New Roman"/>
                <a:cs typeface="Times New Roman"/>
                <a:sym typeface="Times New Roman"/>
              </a:rPr>
              <a:t>Non-functional Requirements</a:t>
            </a:r>
            <a:endParaRPr b="1" sz="1800" u="sng">
              <a:latin typeface="Times New Roman"/>
              <a:ea typeface="Times New Roman"/>
              <a:cs typeface="Times New Roman"/>
              <a:sym typeface="Times New Roman"/>
            </a:endParaRPr>
          </a:p>
          <a:p>
            <a:pPr indent="0" lvl="0" marL="0" rtl="0" algn="l">
              <a:lnSpc>
                <a:spcPct val="115000"/>
              </a:lnSpc>
              <a:spcBef>
                <a:spcPts val="1000"/>
              </a:spcBef>
              <a:spcAft>
                <a:spcPts val="0"/>
              </a:spcAft>
              <a:buNone/>
            </a:pPr>
            <a:r>
              <a:t/>
            </a:r>
            <a:endParaRPr b="1" sz="1800" u="sng">
              <a:latin typeface="Times New Roman"/>
              <a:ea typeface="Times New Roman"/>
              <a:cs typeface="Times New Roman"/>
              <a:sym typeface="Times New Roman"/>
            </a:endParaRPr>
          </a:p>
          <a:p>
            <a:pPr indent="-311150" lvl="0" marL="457200" rtl="0" algn="just">
              <a:lnSpc>
                <a:spcPct val="150000"/>
              </a:lnSpc>
              <a:spcBef>
                <a:spcPts val="1000"/>
              </a:spcBef>
              <a:spcAft>
                <a:spcPts val="0"/>
              </a:spcAft>
              <a:buClr>
                <a:schemeClr val="dk1"/>
              </a:buClr>
              <a:buSzPts val="1300"/>
              <a:buFont typeface="Times New Roman"/>
              <a:buAutoNum type="arabicPeriod"/>
            </a:pPr>
            <a:r>
              <a:rPr b="1" lang="en-US" sz="1300" u="sng">
                <a:latin typeface="Times New Roman"/>
                <a:ea typeface="Times New Roman"/>
                <a:cs typeface="Times New Roman"/>
                <a:sym typeface="Times New Roman"/>
              </a:rPr>
              <a:t>Accuracy</a:t>
            </a:r>
            <a:r>
              <a:rPr lang="en-US" sz="1300">
                <a:latin typeface="Times New Roman"/>
                <a:ea typeface="Times New Roman"/>
                <a:cs typeface="Times New Roman"/>
                <a:sym typeface="Times New Roman"/>
              </a:rPr>
              <a:t>: Accuracy is predictions and issuing alerts and notifications should be greater than 97%</a:t>
            </a:r>
            <a:endParaRPr sz="1300">
              <a:latin typeface="Times New Roman"/>
              <a:ea typeface="Times New Roman"/>
              <a:cs typeface="Times New Roman"/>
              <a:sym typeface="Times New Roman"/>
            </a:endParaRPr>
          </a:p>
          <a:p>
            <a:pPr indent="-311150" lvl="0" marL="457200" rtl="0" algn="just">
              <a:lnSpc>
                <a:spcPct val="150000"/>
              </a:lnSpc>
              <a:spcBef>
                <a:spcPts val="1000"/>
              </a:spcBef>
              <a:spcAft>
                <a:spcPts val="0"/>
              </a:spcAft>
              <a:buClr>
                <a:schemeClr val="dk1"/>
              </a:buClr>
              <a:buSzPts val="1300"/>
              <a:buFont typeface="Times New Roman"/>
              <a:buAutoNum type="arabicPeriod"/>
            </a:pPr>
            <a:r>
              <a:rPr b="1" lang="en-US" sz="1300" u="sng">
                <a:latin typeface="Times New Roman"/>
                <a:ea typeface="Times New Roman"/>
                <a:cs typeface="Times New Roman"/>
                <a:sym typeface="Times New Roman"/>
              </a:rPr>
              <a:t>Reliability</a:t>
            </a:r>
            <a:r>
              <a:rPr lang="en-US" sz="1300">
                <a:latin typeface="Times New Roman"/>
                <a:ea typeface="Times New Roman"/>
                <a:cs typeface="Times New Roman"/>
                <a:sym typeface="Times New Roman"/>
              </a:rPr>
              <a:t>: Ability to ensure consistent and accurate data collection, data analysis and predictions</a:t>
            </a:r>
            <a:endParaRPr sz="1300">
              <a:latin typeface="Times New Roman"/>
              <a:ea typeface="Times New Roman"/>
              <a:cs typeface="Times New Roman"/>
              <a:sym typeface="Times New Roman"/>
            </a:endParaRPr>
          </a:p>
          <a:p>
            <a:pPr indent="-311150" lvl="0" marL="457200" rtl="0" algn="just">
              <a:lnSpc>
                <a:spcPct val="150000"/>
              </a:lnSpc>
              <a:spcBef>
                <a:spcPts val="1000"/>
              </a:spcBef>
              <a:spcAft>
                <a:spcPts val="0"/>
              </a:spcAft>
              <a:buClr>
                <a:schemeClr val="dk1"/>
              </a:buClr>
              <a:buSzPts val="1300"/>
              <a:buFont typeface="Times New Roman"/>
              <a:buAutoNum type="arabicPeriod"/>
            </a:pPr>
            <a:r>
              <a:rPr b="1" lang="en-US" sz="1300" u="sng">
                <a:latin typeface="Times New Roman"/>
                <a:ea typeface="Times New Roman"/>
                <a:cs typeface="Times New Roman"/>
                <a:sym typeface="Times New Roman"/>
              </a:rPr>
              <a:t>Usability</a:t>
            </a:r>
            <a:r>
              <a:rPr lang="en-US" sz="1300">
                <a:latin typeface="Times New Roman"/>
                <a:ea typeface="Times New Roman"/>
                <a:cs typeface="Times New Roman"/>
                <a:sym typeface="Times New Roman"/>
              </a:rPr>
              <a:t>: Ability to provide an extremely interactive and user friendly interface so that the users can have a good experience using our system</a:t>
            </a:r>
            <a:endParaRPr sz="1300">
              <a:latin typeface="Times New Roman"/>
              <a:ea typeface="Times New Roman"/>
              <a:cs typeface="Times New Roman"/>
              <a:sym typeface="Times New Roman"/>
            </a:endParaRPr>
          </a:p>
          <a:p>
            <a:pPr indent="-311150" lvl="0" marL="457200" rtl="0" algn="just">
              <a:lnSpc>
                <a:spcPct val="150000"/>
              </a:lnSpc>
              <a:spcBef>
                <a:spcPts val="1000"/>
              </a:spcBef>
              <a:spcAft>
                <a:spcPts val="0"/>
              </a:spcAft>
              <a:buClr>
                <a:schemeClr val="dk1"/>
              </a:buClr>
              <a:buSzPts val="1300"/>
              <a:buFont typeface="Times New Roman"/>
              <a:buAutoNum type="arabicPeriod"/>
            </a:pPr>
            <a:r>
              <a:rPr b="1" lang="en-US" sz="1300" u="sng">
                <a:latin typeface="Times New Roman"/>
                <a:ea typeface="Times New Roman"/>
                <a:cs typeface="Times New Roman"/>
                <a:sym typeface="Times New Roman"/>
              </a:rPr>
              <a:t>Cost Effectiveness</a:t>
            </a:r>
            <a:r>
              <a:rPr lang="en-US" sz="1300">
                <a:latin typeface="Times New Roman"/>
                <a:ea typeface="Times New Roman"/>
                <a:cs typeface="Times New Roman"/>
                <a:sym typeface="Times New Roman"/>
              </a:rPr>
              <a:t>: We want to provide a cost effective solution which is economic and affordable.</a:t>
            </a:r>
            <a:endParaRPr sz="1300">
              <a:latin typeface="Times New Roman"/>
              <a:ea typeface="Times New Roman"/>
              <a:cs typeface="Times New Roman"/>
              <a:sym typeface="Times New Roman"/>
            </a:endParaRPr>
          </a:p>
          <a:p>
            <a:pPr indent="-311150" lvl="0" marL="457200" rtl="0" algn="just">
              <a:lnSpc>
                <a:spcPct val="150000"/>
              </a:lnSpc>
              <a:spcBef>
                <a:spcPts val="1000"/>
              </a:spcBef>
              <a:spcAft>
                <a:spcPts val="0"/>
              </a:spcAft>
              <a:buClr>
                <a:schemeClr val="dk1"/>
              </a:buClr>
              <a:buSzPts val="1300"/>
              <a:buFont typeface="Times New Roman"/>
              <a:buAutoNum type="arabicPeriod"/>
            </a:pPr>
            <a:r>
              <a:rPr b="1" lang="en-US" sz="1300" u="sng">
                <a:latin typeface="Times New Roman"/>
                <a:ea typeface="Times New Roman"/>
                <a:cs typeface="Times New Roman"/>
                <a:sym typeface="Times New Roman"/>
              </a:rPr>
              <a:t>Robustness</a:t>
            </a:r>
            <a:r>
              <a:rPr lang="en-US" sz="1300">
                <a:latin typeface="Times New Roman"/>
                <a:ea typeface="Times New Roman"/>
                <a:cs typeface="Times New Roman"/>
                <a:sym typeface="Times New Roman"/>
              </a:rPr>
              <a:t>: Ability to work with noisy and corrupted data and filter them out.</a:t>
            </a:r>
            <a:endParaRPr sz="1300">
              <a:latin typeface="Times New Roman"/>
              <a:ea typeface="Times New Roman"/>
              <a:cs typeface="Times New Roman"/>
              <a:sym typeface="Times New Roman"/>
            </a:endParaRPr>
          </a:p>
          <a:p>
            <a:pPr indent="-311150" lvl="0" marL="457200" rtl="0" algn="just">
              <a:lnSpc>
                <a:spcPct val="150000"/>
              </a:lnSpc>
              <a:spcBef>
                <a:spcPts val="1000"/>
              </a:spcBef>
              <a:spcAft>
                <a:spcPts val="0"/>
              </a:spcAft>
              <a:buClr>
                <a:schemeClr val="dk1"/>
              </a:buClr>
              <a:buSzPts val="1300"/>
              <a:buFont typeface="Times New Roman"/>
              <a:buAutoNum type="arabicPeriod"/>
            </a:pPr>
            <a:r>
              <a:rPr b="1" lang="en-US" sz="1300" u="sng">
                <a:latin typeface="Times New Roman"/>
                <a:ea typeface="Times New Roman"/>
                <a:cs typeface="Times New Roman"/>
                <a:sym typeface="Times New Roman"/>
              </a:rPr>
              <a:t>Scalability</a:t>
            </a:r>
            <a:r>
              <a:rPr lang="en-US" sz="1300">
                <a:latin typeface="Times New Roman"/>
                <a:ea typeface="Times New Roman"/>
                <a:cs typeface="Times New Roman"/>
                <a:sym typeface="Times New Roman"/>
              </a:rPr>
              <a:t>: Ability to handle the enormous amount of data and processing, and also to allow the implementation of more number of devices</a:t>
            </a:r>
            <a:endParaRPr sz="1300">
              <a:latin typeface="Times New Roman"/>
              <a:ea typeface="Times New Roman"/>
              <a:cs typeface="Times New Roman"/>
              <a:sym typeface="Times New Roman"/>
            </a:endParaRPr>
          </a:p>
          <a:p>
            <a:pPr indent="-311150" lvl="0" marL="457200" rtl="0" algn="just">
              <a:lnSpc>
                <a:spcPct val="150000"/>
              </a:lnSpc>
              <a:spcBef>
                <a:spcPts val="1000"/>
              </a:spcBef>
              <a:spcAft>
                <a:spcPts val="1000"/>
              </a:spcAft>
              <a:buClr>
                <a:schemeClr val="dk1"/>
              </a:buClr>
              <a:buSzPts val="1300"/>
              <a:buFont typeface="Times New Roman"/>
              <a:buAutoNum type="arabicPeriod"/>
            </a:pPr>
            <a:r>
              <a:rPr b="1" lang="en-US" sz="1300" u="sng">
                <a:latin typeface="Times New Roman"/>
                <a:ea typeface="Times New Roman"/>
                <a:cs typeface="Times New Roman"/>
                <a:sym typeface="Times New Roman"/>
              </a:rPr>
              <a:t>Supportability</a:t>
            </a:r>
            <a:r>
              <a:rPr lang="en-US" sz="1300">
                <a:latin typeface="Times New Roman"/>
                <a:ea typeface="Times New Roman"/>
                <a:cs typeface="Times New Roman"/>
                <a:sym typeface="Times New Roman"/>
              </a:rPr>
              <a:t>: Ability to perform updates and modifications with ease</a:t>
            </a:r>
            <a:endParaRPr b="1" sz="1900" u="sng">
              <a:latin typeface="Times New Roman"/>
              <a:ea typeface="Times New Roman"/>
              <a:cs typeface="Times New Roman"/>
              <a:sym typeface="Times New Roman"/>
            </a:endParaRPr>
          </a:p>
        </p:txBody>
      </p:sp>
      <p:sp>
        <p:nvSpPr>
          <p:cNvPr id="234" name="Google Shape;234;p29"/>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35" name="Google Shape;235;p29"/>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36" name="Google Shape;236;p29"/>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0"/>
          <p:cNvSpPr txBox="1"/>
          <p:nvPr>
            <p:ph idx="3" type="body"/>
          </p:nvPr>
        </p:nvSpPr>
        <p:spPr>
          <a:xfrm>
            <a:off x="858050" y="825475"/>
            <a:ext cx="3000300" cy="422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b="1" sz="1800">
              <a:latin typeface="Times New Roman"/>
              <a:ea typeface="Times New Roman"/>
              <a:cs typeface="Times New Roman"/>
              <a:sym typeface="Times New Roman"/>
            </a:endParaRPr>
          </a:p>
          <a:p>
            <a:pPr indent="-323850" lvl="0" marL="457200" rtl="0" algn="l">
              <a:spcBef>
                <a:spcPts val="100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Arduino Uno</a:t>
            </a:r>
            <a:endParaRPr sz="14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Breadboard</a:t>
            </a:r>
            <a:endParaRPr sz="14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WiFi module</a:t>
            </a:r>
            <a:endParaRPr sz="14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Jumper Wires</a:t>
            </a:r>
            <a:endParaRPr sz="1400">
              <a:solidFill>
                <a:srgbClr val="000000"/>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Comparator</a:t>
            </a:r>
            <a:endParaRPr sz="1400">
              <a:solidFill>
                <a:srgbClr val="000000"/>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Adjustable potentiometer</a:t>
            </a:r>
            <a:endParaRPr sz="1400">
              <a:solidFill>
                <a:srgbClr val="000000"/>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Resistor set</a:t>
            </a:r>
            <a:endParaRPr sz="1400">
              <a:solidFill>
                <a:srgbClr val="000000"/>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Capacitors</a:t>
            </a:r>
            <a:endParaRPr sz="1400">
              <a:solidFill>
                <a:srgbClr val="000000"/>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Computer/laptop with internet connection</a:t>
            </a:r>
            <a:endParaRPr sz="1400">
              <a:solidFill>
                <a:srgbClr val="000000"/>
              </a:solidFill>
              <a:latin typeface="Times New Roman"/>
              <a:ea typeface="Times New Roman"/>
              <a:cs typeface="Times New Roman"/>
              <a:sym typeface="Times New Roman"/>
            </a:endParaRPr>
          </a:p>
          <a:p>
            <a:pPr indent="0" lvl="0" marL="457200" rtl="0" algn="just">
              <a:lnSpc>
                <a:spcPct val="150000"/>
              </a:lnSpc>
              <a:spcBef>
                <a:spcPts val="0"/>
              </a:spcBef>
              <a:spcAft>
                <a:spcPts val="1000"/>
              </a:spcAft>
              <a:buNone/>
            </a:pPr>
            <a:r>
              <a:t/>
            </a:r>
            <a:endParaRPr b="1" sz="1900" u="sng">
              <a:latin typeface="Times New Roman"/>
              <a:ea typeface="Times New Roman"/>
              <a:cs typeface="Times New Roman"/>
              <a:sym typeface="Times New Roman"/>
            </a:endParaRPr>
          </a:p>
        </p:txBody>
      </p:sp>
      <p:sp>
        <p:nvSpPr>
          <p:cNvPr id="242" name="Google Shape;242;p30"/>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43" name="Google Shape;243;p30"/>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44" name="Google Shape;244;p30"/>
          <p:cNvSpPr txBox="1"/>
          <p:nvPr>
            <p:ph idx="3" type="body"/>
          </p:nvPr>
        </p:nvSpPr>
        <p:spPr>
          <a:xfrm>
            <a:off x="5696775" y="825475"/>
            <a:ext cx="3000300" cy="422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b="1" sz="1800">
              <a:latin typeface="Times New Roman"/>
              <a:ea typeface="Times New Roman"/>
              <a:cs typeface="Times New Roman"/>
              <a:sym typeface="Times New Roman"/>
            </a:endParaRPr>
          </a:p>
          <a:p>
            <a:pPr indent="-323850" lvl="0" marL="457200" rtl="0" algn="l">
              <a:spcBef>
                <a:spcPts val="100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MQ131 Ozone sensor </a:t>
            </a:r>
            <a:endParaRPr sz="14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MQ135 Air Quality sensor</a:t>
            </a:r>
            <a:endParaRPr sz="14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PM 2.5 Particle sensor</a:t>
            </a:r>
            <a:endParaRPr sz="14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MQ7 CO sensor</a:t>
            </a:r>
            <a:endParaRPr sz="14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DHT11 sensor</a:t>
            </a:r>
            <a:endParaRPr sz="1400">
              <a:solidFill>
                <a:srgbClr val="000000"/>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110-602 SO2 Sensor</a:t>
            </a:r>
            <a:endParaRPr sz="1400">
              <a:solidFill>
                <a:srgbClr val="000000"/>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dk1"/>
              </a:buClr>
              <a:buSzPts val="1500"/>
              <a:buFont typeface="Times New Roman"/>
              <a:buChar char="●"/>
            </a:pPr>
            <a:r>
              <a:rPr lang="en-US" sz="1400">
                <a:solidFill>
                  <a:srgbClr val="000000"/>
                </a:solidFill>
                <a:latin typeface="Times New Roman"/>
                <a:ea typeface="Times New Roman"/>
                <a:cs typeface="Times New Roman"/>
                <a:sym typeface="Times New Roman"/>
              </a:rPr>
              <a:t>mics-6814</a:t>
            </a:r>
            <a:endParaRPr sz="1400">
              <a:solidFill>
                <a:srgbClr val="000000"/>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1200">
              <a:solidFill>
                <a:srgbClr val="000000"/>
              </a:solidFill>
              <a:latin typeface="Times New Roman"/>
              <a:ea typeface="Times New Roman"/>
              <a:cs typeface="Times New Roman"/>
              <a:sym typeface="Times New Roman"/>
            </a:endParaRPr>
          </a:p>
          <a:p>
            <a:pPr indent="0" lvl="0" marL="457200" rtl="0" algn="just">
              <a:lnSpc>
                <a:spcPct val="150000"/>
              </a:lnSpc>
              <a:spcBef>
                <a:spcPts val="0"/>
              </a:spcBef>
              <a:spcAft>
                <a:spcPts val="1000"/>
              </a:spcAft>
              <a:buNone/>
            </a:pPr>
            <a:r>
              <a:t/>
            </a:r>
            <a:endParaRPr b="1" sz="1900" u="sng">
              <a:latin typeface="Times New Roman"/>
              <a:ea typeface="Times New Roman"/>
              <a:cs typeface="Times New Roman"/>
              <a:sym typeface="Times New Roman"/>
            </a:endParaRPr>
          </a:p>
        </p:txBody>
      </p:sp>
      <p:sp>
        <p:nvSpPr>
          <p:cNvPr id="245" name="Google Shape;245;p30"/>
          <p:cNvSpPr txBox="1"/>
          <p:nvPr/>
        </p:nvSpPr>
        <p:spPr>
          <a:xfrm>
            <a:off x="3116550" y="493400"/>
            <a:ext cx="29109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Clr>
                <a:schemeClr val="dk1"/>
              </a:buClr>
              <a:buSzPts val="1100"/>
              <a:buFont typeface="Arial"/>
              <a:buNone/>
            </a:pPr>
            <a:r>
              <a:rPr b="1" lang="en-US" sz="1800" u="sng">
                <a:solidFill>
                  <a:schemeClr val="dk1"/>
                </a:solidFill>
                <a:latin typeface="Times New Roman"/>
                <a:ea typeface="Times New Roman"/>
                <a:cs typeface="Times New Roman"/>
                <a:sym typeface="Times New Roman"/>
              </a:rPr>
              <a:t>Hardware Requirements</a:t>
            </a:r>
            <a:endParaRPr>
              <a:latin typeface="Libre Baskerville"/>
              <a:ea typeface="Libre Baskerville"/>
              <a:cs typeface="Libre Baskerville"/>
              <a:sym typeface="Libre Baskerville"/>
            </a:endParaRPr>
          </a:p>
        </p:txBody>
      </p:sp>
      <p:sp>
        <p:nvSpPr>
          <p:cNvPr id="246" name="Google Shape;246;p30"/>
          <p:cNvSpPr txBox="1"/>
          <p:nvPr/>
        </p:nvSpPr>
        <p:spPr>
          <a:xfrm>
            <a:off x="3280650" y="4050125"/>
            <a:ext cx="2582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800" u="sng">
                <a:solidFill>
                  <a:schemeClr val="dk1"/>
                </a:solidFill>
                <a:latin typeface="Times New Roman"/>
                <a:ea typeface="Times New Roman"/>
                <a:cs typeface="Times New Roman"/>
                <a:sym typeface="Times New Roman"/>
              </a:rPr>
              <a:t>Software</a:t>
            </a:r>
            <a:r>
              <a:rPr b="1" lang="en-US" sz="1800" u="sng">
                <a:solidFill>
                  <a:schemeClr val="dk1"/>
                </a:solidFill>
                <a:latin typeface="Times New Roman"/>
                <a:ea typeface="Times New Roman"/>
                <a:cs typeface="Times New Roman"/>
                <a:sym typeface="Times New Roman"/>
              </a:rPr>
              <a:t> Requirements</a:t>
            </a:r>
            <a:endParaRPr>
              <a:latin typeface="Libre Baskerville"/>
              <a:ea typeface="Libre Baskerville"/>
              <a:cs typeface="Libre Baskerville"/>
              <a:sym typeface="Libre Baskerville"/>
            </a:endParaRPr>
          </a:p>
        </p:txBody>
      </p:sp>
      <p:sp>
        <p:nvSpPr>
          <p:cNvPr id="247" name="Google Shape;247;p30"/>
          <p:cNvSpPr txBox="1"/>
          <p:nvPr>
            <p:ph idx="3" type="body"/>
          </p:nvPr>
        </p:nvSpPr>
        <p:spPr>
          <a:xfrm>
            <a:off x="599750" y="4511825"/>
            <a:ext cx="4107000" cy="1835400"/>
          </a:xfrm>
          <a:prstGeom prst="rect">
            <a:avLst/>
          </a:prstGeom>
          <a:noFill/>
          <a:ln>
            <a:noFill/>
          </a:ln>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Clr>
                <a:schemeClr val="dk1"/>
              </a:buClr>
              <a:buSzPts val="1200"/>
              <a:buFont typeface="Times New Roman"/>
              <a:buChar char="●"/>
            </a:pPr>
            <a:r>
              <a:rPr lang="en-US" sz="1400">
                <a:solidFill>
                  <a:srgbClr val="000000"/>
                </a:solidFill>
                <a:latin typeface="Times New Roman"/>
                <a:ea typeface="Times New Roman"/>
                <a:cs typeface="Times New Roman"/>
                <a:sym typeface="Times New Roman"/>
              </a:rPr>
              <a:t>IDEs such as Visual Studio Code, Google Colab and Arduino IDE</a:t>
            </a:r>
            <a:endParaRPr sz="1400">
              <a:solidFill>
                <a:srgbClr val="000000"/>
              </a:solidFill>
              <a:latin typeface="Times New Roman"/>
              <a:ea typeface="Times New Roman"/>
              <a:cs typeface="Times New Roman"/>
              <a:sym typeface="Times New Roman"/>
            </a:endParaRPr>
          </a:p>
          <a:p>
            <a:pPr indent="-304800" lvl="0" marL="457200" rtl="0" algn="l">
              <a:lnSpc>
                <a:spcPct val="150000"/>
              </a:lnSpc>
              <a:spcBef>
                <a:spcPts val="0"/>
              </a:spcBef>
              <a:spcAft>
                <a:spcPts val="0"/>
              </a:spcAft>
              <a:buClr>
                <a:schemeClr val="dk1"/>
              </a:buClr>
              <a:buSzPts val="1200"/>
              <a:buFont typeface="Times New Roman"/>
              <a:buChar char="●"/>
            </a:pPr>
            <a:r>
              <a:rPr lang="en-US" sz="1400">
                <a:solidFill>
                  <a:srgbClr val="000000"/>
                </a:solidFill>
                <a:latin typeface="Times New Roman"/>
                <a:ea typeface="Times New Roman"/>
                <a:cs typeface="Times New Roman"/>
                <a:sym typeface="Times New Roman"/>
              </a:rPr>
              <a:t>Python and libraries like NumPy, Pandas, Tensorflow</a:t>
            </a:r>
            <a:endParaRPr sz="1200">
              <a:latin typeface="Times New Roman"/>
              <a:ea typeface="Times New Roman"/>
              <a:cs typeface="Times New Roman"/>
              <a:sym typeface="Times New Roman"/>
            </a:endParaRPr>
          </a:p>
          <a:p>
            <a:pPr indent="0" lvl="0" marL="457200" rtl="0" algn="l">
              <a:lnSpc>
                <a:spcPct val="150000"/>
              </a:lnSpc>
              <a:spcBef>
                <a:spcPts val="1000"/>
              </a:spcBef>
              <a:spcAft>
                <a:spcPts val="1000"/>
              </a:spcAft>
              <a:buNone/>
            </a:pPr>
            <a:r>
              <a:t/>
            </a:r>
            <a:endParaRPr b="1" sz="1800">
              <a:latin typeface="Times New Roman"/>
              <a:ea typeface="Times New Roman"/>
              <a:cs typeface="Times New Roman"/>
              <a:sym typeface="Times New Roman"/>
            </a:endParaRPr>
          </a:p>
        </p:txBody>
      </p:sp>
      <p:sp>
        <p:nvSpPr>
          <p:cNvPr id="248" name="Google Shape;248;p30"/>
          <p:cNvSpPr txBox="1"/>
          <p:nvPr/>
        </p:nvSpPr>
        <p:spPr>
          <a:xfrm>
            <a:off x="5279200" y="4511825"/>
            <a:ext cx="3000000" cy="7233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ThingSpeak</a:t>
            </a:r>
            <a:endParaRPr>
              <a:latin typeface="Times New Roman"/>
              <a:ea typeface="Times New Roman"/>
              <a:cs typeface="Times New Roman"/>
              <a:sym typeface="Times New Roman"/>
            </a:endParaRPr>
          </a:p>
          <a:p>
            <a:pPr indent="-304800" lvl="0" marL="457200" rtl="0" algn="l">
              <a:lnSpc>
                <a:spcPct val="150000"/>
              </a:lnSpc>
              <a:spcBef>
                <a:spcPts val="0"/>
              </a:spcBef>
              <a:spcAft>
                <a:spcPts val="0"/>
              </a:spcAft>
              <a:buClr>
                <a:schemeClr val="dk1"/>
              </a:buClr>
              <a:buSzPts val="1200"/>
              <a:buFont typeface="Times New Roman"/>
              <a:buChar char="●"/>
            </a:pPr>
            <a:r>
              <a:rPr lang="en-US">
                <a:latin typeface="Times New Roman"/>
                <a:ea typeface="Times New Roman"/>
                <a:cs typeface="Times New Roman"/>
                <a:sym typeface="Times New Roman"/>
              </a:rPr>
              <a:t>Cloud database such as Firebase</a:t>
            </a:r>
            <a:endParaRPr/>
          </a:p>
        </p:txBody>
      </p:sp>
      <p:sp>
        <p:nvSpPr>
          <p:cNvPr id="249" name="Google Shape;249;p30"/>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1"/>
          <p:cNvSpPr txBox="1"/>
          <p:nvPr>
            <p:ph idx="1" type="body"/>
          </p:nvPr>
        </p:nvSpPr>
        <p:spPr>
          <a:xfrm>
            <a:off x="688623" y="476672"/>
            <a:ext cx="7538184" cy="882316"/>
          </a:xfrm>
          <a:prstGeom prst="rect">
            <a:avLst/>
          </a:prstGeom>
          <a:noFill/>
          <a:ln>
            <a:noFill/>
          </a:ln>
        </p:spPr>
        <p:txBody>
          <a:bodyPr anchorCtr="0" anchor="t" bIns="91425" lIns="91425" spcFirstLastPara="1" rIns="91425" wrap="square" tIns="91425">
            <a:noAutofit/>
          </a:bodyPr>
          <a:lstStyle/>
          <a:p>
            <a:pPr indent="-228600" lvl="0" marL="457200" rtl="0" algn="ctr">
              <a:spcBef>
                <a:spcPts val="0"/>
              </a:spcBef>
              <a:spcAft>
                <a:spcPts val="0"/>
              </a:spcAft>
              <a:buSzPts val="1400"/>
              <a:buNone/>
            </a:pPr>
            <a:r>
              <a:rPr b="1" lang="en-US"/>
              <a:t>SYSTEM DESIGN</a:t>
            </a:r>
            <a:endParaRPr/>
          </a:p>
        </p:txBody>
      </p:sp>
      <p:sp>
        <p:nvSpPr>
          <p:cNvPr id="255" name="Google Shape;255;p31"/>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56" name="Google Shape;256;p31"/>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57" name="Google Shape;257;p31"/>
          <p:cNvSpPr txBox="1"/>
          <p:nvPr/>
        </p:nvSpPr>
        <p:spPr>
          <a:xfrm>
            <a:off x="3280650" y="1306925"/>
            <a:ext cx="2582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800" u="sng">
                <a:solidFill>
                  <a:schemeClr val="dk1"/>
                </a:solidFill>
                <a:latin typeface="Times New Roman"/>
                <a:ea typeface="Times New Roman"/>
                <a:cs typeface="Times New Roman"/>
                <a:sym typeface="Times New Roman"/>
              </a:rPr>
              <a:t>System Architecture</a:t>
            </a:r>
            <a:endParaRPr>
              <a:latin typeface="Libre Baskerville"/>
              <a:ea typeface="Libre Baskerville"/>
              <a:cs typeface="Libre Baskerville"/>
              <a:sym typeface="Libre Baskerville"/>
            </a:endParaRPr>
          </a:p>
        </p:txBody>
      </p:sp>
      <p:pic>
        <p:nvPicPr>
          <p:cNvPr id="258" name="Google Shape;258;p31"/>
          <p:cNvPicPr preferRelativeResize="0"/>
          <p:nvPr/>
        </p:nvPicPr>
        <p:blipFill>
          <a:blip r:embed="rId3">
            <a:alphaModFix/>
          </a:blip>
          <a:stretch>
            <a:fillRect/>
          </a:stretch>
        </p:blipFill>
        <p:spPr>
          <a:xfrm>
            <a:off x="1612800" y="1905000"/>
            <a:ext cx="6538652" cy="3657987"/>
          </a:xfrm>
          <a:prstGeom prst="rect">
            <a:avLst/>
          </a:prstGeom>
          <a:noFill/>
          <a:ln cap="flat" cmpd="sng" w="12700">
            <a:solidFill>
              <a:srgbClr val="000000"/>
            </a:solidFill>
            <a:prstDash val="solid"/>
            <a:miter lim="8000"/>
            <a:headEnd len="sm" w="sm" type="none"/>
            <a:tailEnd len="sm" w="sm" type="none"/>
          </a:ln>
        </p:spPr>
      </p:pic>
      <p:sp>
        <p:nvSpPr>
          <p:cNvPr id="259" name="Google Shape;259;p31"/>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2"/>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65" name="Google Shape;265;p32"/>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66" name="Google Shape;266;p32"/>
          <p:cNvSpPr txBox="1"/>
          <p:nvPr/>
        </p:nvSpPr>
        <p:spPr>
          <a:xfrm>
            <a:off x="3510000" y="241225"/>
            <a:ext cx="2582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800" u="sng">
                <a:solidFill>
                  <a:schemeClr val="dk1"/>
                </a:solidFill>
                <a:latin typeface="Times New Roman"/>
                <a:ea typeface="Times New Roman"/>
                <a:cs typeface="Times New Roman"/>
                <a:sym typeface="Times New Roman"/>
              </a:rPr>
              <a:t>Module Design</a:t>
            </a:r>
            <a:endParaRPr>
              <a:latin typeface="Libre Baskerville"/>
              <a:ea typeface="Libre Baskerville"/>
              <a:cs typeface="Libre Baskerville"/>
              <a:sym typeface="Libre Baskerville"/>
            </a:endParaRPr>
          </a:p>
        </p:txBody>
      </p:sp>
      <p:pic>
        <p:nvPicPr>
          <p:cNvPr id="267" name="Google Shape;267;p32"/>
          <p:cNvPicPr preferRelativeResize="0"/>
          <p:nvPr/>
        </p:nvPicPr>
        <p:blipFill>
          <a:blip r:embed="rId3">
            <a:alphaModFix/>
          </a:blip>
          <a:stretch>
            <a:fillRect/>
          </a:stretch>
        </p:blipFill>
        <p:spPr>
          <a:xfrm>
            <a:off x="1395725" y="702925"/>
            <a:ext cx="5534025" cy="2326425"/>
          </a:xfrm>
          <a:prstGeom prst="rect">
            <a:avLst/>
          </a:prstGeom>
          <a:noFill/>
          <a:ln>
            <a:noFill/>
          </a:ln>
        </p:spPr>
      </p:pic>
      <p:pic>
        <p:nvPicPr>
          <p:cNvPr id="268" name="Google Shape;268;p32"/>
          <p:cNvPicPr preferRelativeResize="0"/>
          <p:nvPr/>
        </p:nvPicPr>
        <p:blipFill>
          <a:blip r:embed="rId4">
            <a:alphaModFix/>
          </a:blip>
          <a:stretch>
            <a:fillRect/>
          </a:stretch>
        </p:blipFill>
        <p:spPr>
          <a:xfrm>
            <a:off x="1395725" y="3083075"/>
            <a:ext cx="1667275" cy="2679625"/>
          </a:xfrm>
          <a:prstGeom prst="rect">
            <a:avLst/>
          </a:prstGeom>
          <a:noFill/>
          <a:ln>
            <a:noFill/>
          </a:ln>
        </p:spPr>
      </p:pic>
      <p:pic>
        <p:nvPicPr>
          <p:cNvPr id="269" name="Google Shape;269;p32"/>
          <p:cNvPicPr preferRelativeResize="0"/>
          <p:nvPr/>
        </p:nvPicPr>
        <p:blipFill>
          <a:blip r:embed="rId5">
            <a:alphaModFix/>
          </a:blip>
          <a:stretch>
            <a:fillRect/>
          </a:stretch>
        </p:blipFill>
        <p:spPr>
          <a:xfrm>
            <a:off x="3296575" y="3083075"/>
            <a:ext cx="1667275" cy="2796707"/>
          </a:xfrm>
          <a:prstGeom prst="rect">
            <a:avLst/>
          </a:prstGeom>
          <a:noFill/>
          <a:ln>
            <a:noFill/>
          </a:ln>
        </p:spPr>
      </p:pic>
      <p:pic>
        <p:nvPicPr>
          <p:cNvPr id="270" name="Google Shape;270;p32"/>
          <p:cNvPicPr preferRelativeResize="0"/>
          <p:nvPr/>
        </p:nvPicPr>
        <p:blipFill>
          <a:blip r:embed="rId6">
            <a:alphaModFix/>
          </a:blip>
          <a:stretch>
            <a:fillRect/>
          </a:stretch>
        </p:blipFill>
        <p:spPr>
          <a:xfrm>
            <a:off x="5197425" y="3083075"/>
            <a:ext cx="1724025" cy="2796700"/>
          </a:xfrm>
          <a:prstGeom prst="rect">
            <a:avLst/>
          </a:prstGeom>
          <a:noFill/>
          <a:ln>
            <a:noFill/>
          </a:ln>
        </p:spPr>
      </p:pic>
      <p:sp>
        <p:nvSpPr>
          <p:cNvPr id="271" name="Google Shape;271;p32"/>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3"/>
          <p:cNvSpPr txBox="1"/>
          <p:nvPr>
            <p:ph idx="1" type="body"/>
          </p:nvPr>
        </p:nvSpPr>
        <p:spPr>
          <a:xfrm>
            <a:off x="688623" y="476672"/>
            <a:ext cx="7538184" cy="882316"/>
          </a:xfrm>
          <a:prstGeom prst="rect">
            <a:avLst/>
          </a:prstGeom>
          <a:noFill/>
          <a:ln>
            <a:noFill/>
          </a:ln>
        </p:spPr>
        <p:txBody>
          <a:bodyPr anchorCtr="0" anchor="t" bIns="91425" lIns="91425" spcFirstLastPara="1" rIns="91425" wrap="square" tIns="91425">
            <a:noAutofit/>
          </a:bodyPr>
          <a:lstStyle/>
          <a:p>
            <a:pPr indent="-228600" lvl="0" marL="457200" rtl="0" algn="ctr">
              <a:spcBef>
                <a:spcPts val="0"/>
              </a:spcBef>
              <a:spcAft>
                <a:spcPts val="0"/>
              </a:spcAft>
              <a:buSzPts val="1400"/>
              <a:buNone/>
            </a:pPr>
            <a:r>
              <a:rPr b="1" lang="en-US"/>
              <a:t>DETAILED DESIGN</a:t>
            </a:r>
            <a:endParaRPr/>
          </a:p>
        </p:txBody>
      </p:sp>
      <p:sp>
        <p:nvSpPr>
          <p:cNvPr id="277" name="Google Shape;277;p33"/>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78" name="Google Shape;278;p33"/>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79" name="Google Shape;279;p33"/>
          <p:cNvSpPr txBox="1"/>
          <p:nvPr/>
        </p:nvSpPr>
        <p:spPr>
          <a:xfrm>
            <a:off x="3616363" y="1158925"/>
            <a:ext cx="1682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800" u="sng">
                <a:solidFill>
                  <a:schemeClr val="dk1"/>
                </a:solidFill>
                <a:latin typeface="Times New Roman"/>
                <a:ea typeface="Times New Roman"/>
                <a:cs typeface="Times New Roman"/>
                <a:sym typeface="Times New Roman"/>
              </a:rPr>
              <a:t>Class Diagram</a:t>
            </a:r>
            <a:endParaRPr>
              <a:latin typeface="Libre Baskerville"/>
              <a:ea typeface="Libre Baskerville"/>
              <a:cs typeface="Libre Baskerville"/>
              <a:sym typeface="Libre Baskerville"/>
            </a:endParaRPr>
          </a:p>
        </p:txBody>
      </p:sp>
      <p:pic>
        <p:nvPicPr>
          <p:cNvPr id="280" name="Google Shape;280;p33"/>
          <p:cNvPicPr preferRelativeResize="0"/>
          <p:nvPr/>
        </p:nvPicPr>
        <p:blipFill>
          <a:blip r:embed="rId3">
            <a:alphaModFix/>
          </a:blip>
          <a:stretch>
            <a:fillRect/>
          </a:stretch>
        </p:blipFill>
        <p:spPr>
          <a:xfrm>
            <a:off x="1191938" y="2059175"/>
            <a:ext cx="6531575" cy="2983175"/>
          </a:xfrm>
          <a:prstGeom prst="rect">
            <a:avLst/>
          </a:prstGeom>
          <a:noFill/>
          <a:ln cap="flat" cmpd="sng" w="12700">
            <a:solidFill>
              <a:srgbClr val="000000"/>
            </a:solidFill>
            <a:prstDash val="solid"/>
            <a:miter lim="8000"/>
            <a:headEnd len="sm" w="sm" type="none"/>
            <a:tailEnd len="sm" w="sm" type="none"/>
          </a:ln>
        </p:spPr>
      </p:pic>
      <p:sp>
        <p:nvSpPr>
          <p:cNvPr id="281" name="Google Shape;281;p33"/>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4"/>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87" name="Google Shape;287;p34"/>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88" name="Google Shape;288;p34"/>
          <p:cNvSpPr txBox="1"/>
          <p:nvPr/>
        </p:nvSpPr>
        <p:spPr>
          <a:xfrm>
            <a:off x="2159079" y="2550250"/>
            <a:ext cx="2264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800" u="sng">
                <a:solidFill>
                  <a:schemeClr val="dk1"/>
                </a:solidFill>
                <a:latin typeface="Times New Roman"/>
                <a:ea typeface="Times New Roman"/>
                <a:cs typeface="Times New Roman"/>
                <a:sym typeface="Times New Roman"/>
              </a:rPr>
              <a:t>Activity Diagram</a:t>
            </a:r>
            <a:endParaRPr>
              <a:latin typeface="Libre Baskerville"/>
              <a:ea typeface="Libre Baskerville"/>
              <a:cs typeface="Libre Baskerville"/>
              <a:sym typeface="Libre Baskerville"/>
            </a:endParaRPr>
          </a:p>
        </p:txBody>
      </p:sp>
      <p:pic>
        <p:nvPicPr>
          <p:cNvPr id="289" name="Google Shape;289;p34"/>
          <p:cNvPicPr preferRelativeResize="0"/>
          <p:nvPr/>
        </p:nvPicPr>
        <p:blipFill>
          <a:blip r:embed="rId3">
            <a:alphaModFix/>
          </a:blip>
          <a:stretch>
            <a:fillRect/>
          </a:stretch>
        </p:blipFill>
        <p:spPr>
          <a:xfrm>
            <a:off x="4879000" y="369500"/>
            <a:ext cx="2706451" cy="5831424"/>
          </a:xfrm>
          <a:prstGeom prst="rect">
            <a:avLst/>
          </a:prstGeom>
          <a:noFill/>
          <a:ln>
            <a:noFill/>
          </a:ln>
        </p:spPr>
      </p:pic>
      <p:sp>
        <p:nvSpPr>
          <p:cNvPr id="290" name="Google Shape;290;p34"/>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5"/>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96" name="Google Shape;296;p35"/>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97" name="Google Shape;297;p35"/>
          <p:cNvSpPr txBox="1"/>
          <p:nvPr/>
        </p:nvSpPr>
        <p:spPr>
          <a:xfrm>
            <a:off x="3439654" y="458300"/>
            <a:ext cx="2264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800" u="sng">
                <a:solidFill>
                  <a:schemeClr val="dk1"/>
                </a:solidFill>
                <a:latin typeface="Times New Roman"/>
                <a:ea typeface="Times New Roman"/>
                <a:cs typeface="Times New Roman"/>
                <a:sym typeface="Times New Roman"/>
              </a:rPr>
              <a:t>Use Case</a:t>
            </a:r>
            <a:r>
              <a:rPr b="1" lang="en-US" sz="1800" u="sng">
                <a:solidFill>
                  <a:schemeClr val="dk1"/>
                </a:solidFill>
                <a:latin typeface="Times New Roman"/>
                <a:ea typeface="Times New Roman"/>
                <a:cs typeface="Times New Roman"/>
                <a:sym typeface="Times New Roman"/>
              </a:rPr>
              <a:t> Diagram</a:t>
            </a:r>
            <a:endParaRPr>
              <a:latin typeface="Libre Baskerville"/>
              <a:ea typeface="Libre Baskerville"/>
              <a:cs typeface="Libre Baskerville"/>
              <a:sym typeface="Libre Baskerville"/>
            </a:endParaRPr>
          </a:p>
        </p:txBody>
      </p:sp>
      <p:pic>
        <p:nvPicPr>
          <p:cNvPr id="298" name="Google Shape;298;p35"/>
          <p:cNvPicPr preferRelativeResize="0"/>
          <p:nvPr/>
        </p:nvPicPr>
        <p:blipFill>
          <a:blip r:embed="rId3">
            <a:alphaModFix/>
          </a:blip>
          <a:stretch>
            <a:fillRect/>
          </a:stretch>
        </p:blipFill>
        <p:spPr>
          <a:xfrm>
            <a:off x="2524567" y="1117738"/>
            <a:ext cx="4415421" cy="4622524"/>
          </a:xfrm>
          <a:prstGeom prst="rect">
            <a:avLst/>
          </a:prstGeom>
          <a:noFill/>
          <a:ln cap="flat" cmpd="sng" w="12700">
            <a:solidFill>
              <a:srgbClr val="000000"/>
            </a:solidFill>
            <a:prstDash val="solid"/>
            <a:miter lim="8000"/>
            <a:headEnd len="sm" w="sm" type="none"/>
            <a:tailEnd len="sm" w="sm" type="none"/>
          </a:ln>
        </p:spPr>
      </p:pic>
      <p:sp>
        <p:nvSpPr>
          <p:cNvPr id="299" name="Google Shape;299;p35"/>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6"/>
          <p:cNvSpPr txBox="1"/>
          <p:nvPr>
            <p:ph idx="1" type="body"/>
          </p:nvPr>
        </p:nvSpPr>
        <p:spPr>
          <a:xfrm>
            <a:off x="688623" y="404664"/>
            <a:ext cx="7538184" cy="882316"/>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References </a:t>
            </a:r>
            <a:endParaRPr sz="3600">
              <a:solidFill>
                <a:schemeClr val="dk2"/>
              </a:solidFill>
              <a:latin typeface="Libre Franklin"/>
              <a:ea typeface="Libre Franklin"/>
              <a:cs typeface="Libre Franklin"/>
              <a:sym typeface="Libre Franklin"/>
            </a:endParaRPr>
          </a:p>
        </p:txBody>
      </p:sp>
      <p:sp>
        <p:nvSpPr>
          <p:cNvPr id="305" name="Google Shape;305;p36"/>
          <p:cNvSpPr txBox="1"/>
          <p:nvPr>
            <p:ph idx="3" type="body"/>
          </p:nvPr>
        </p:nvSpPr>
        <p:spPr>
          <a:xfrm>
            <a:off x="897475" y="1182625"/>
            <a:ext cx="7538100" cy="4953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US" sz="1400">
                <a:latin typeface="Times New Roman"/>
                <a:ea typeface="Times New Roman"/>
                <a:cs typeface="Times New Roman"/>
                <a:sym typeface="Times New Roman"/>
              </a:rPr>
              <a:t>[1] Temesegan Walelign Ayele, et. al “Air pollution monitoring and prediction using IoT'', Inventive Communication and Computational Technologies, 2018.</a:t>
            </a:r>
            <a:endParaRPr sz="14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ts val="1100"/>
              <a:buFont typeface="Arial"/>
              <a:buNone/>
            </a:pPr>
            <a:r>
              <a:rPr lang="en-US" sz="1400">
                <a:latin typeface="Times New Roman"/>
                <a:ea typeface="Times New Roman"/>
                <a:cs typeface="Times New Roman"/>
                <a:sym typeface="Times New Roman"/>
              </a:rPr>
              <a:t>[2] Ssneha Balasubramanian et al. “Air Pollution Monitoring and Prediction Using IoT and Machine Learning”, IJCSIT, 2021.</a:t>
            </a:r>
            <a:endParaRPr sz="14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ts val="1100"/>
              <a:buFont typeface="Arial"/>
              <a:buNone/>
            </a:pPr>
            <a:r>
              <a:rPr lang="en-US" sz="1400">
                <a:latin typeface="Times New Roman"/>
                <a:ea typeface="Times New Roman"/>
                <a:cs typeface="Times New Roman"/>
                <a:sym typeface="Times New Roman"/>
              </a:rPr>
              <a:t>[3] T.S. Kitchilan,  M.D.B.C.K. Abeyratne et al. “Air Quality Monitoring And Prediction Using IOT And Machine Learning Approaches”, IJSRP, 2022.</a:t>
            </a:r>
            <a:endParaRPr sz="14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ts val="1100"/>
              <a:buFont typeface="Arial"/>
              <a:buNone/>
            </a:pPr>
            <a:r>
              <a:rPr lang="en-US" sz="1400">
                <a:latin typeface="Times New Roman"/>
                <a:ea typeface="Times New Roman"/>
                <a:cs typeface="Times New Roman"/>
                <a:sym typeface="Times New Roman"/>
              </a:rPr>
              <a:t>[4] Sachin Bhimrao Bhoite et al. “Air Quality Prediction using Machine Learning Algorithms”, International Journal of Computer Applications Technology and Research, 2019.</a:t>
            </a:r>
            <a:endParaRPr sz="1400">
              <a:latin typeface="Times New Roman"/>
              <a:ea typeface="Times New Roman"/>
              <a:cs typeface="Times New Roman"/>
              <a:sym typeface="Times New Roman"/>
            </a:endParaRPr>
          </a:p>
          <a:p>
            <a:pPr indent="0" lvl="0" marL="0" rtl="0" algn="l">
              <a:lnSpc>
                <a:spcPct val="150000"/>
              </a:lnSpc>
              <a:spcBef>
                <a:spcPts val="1000"/>
              </a:spcBef>
              <a:spcAft>
                <a:spcPts val="0"/>
              </a:spcAft>
              <a:buNone/>
            </a:pPr>
            <a:r>
              <a:rPr lang="en-US" sz="1400">
                <a:latin typeface="Times New Roman"/>
                <a:ea typeface="Times New Roman"/>
                <a:cs typeface="Times New Roman"/>
                <a:sym typeface="Times New Roman"/>
              </a:rPr>
              <a:t>[5] Saverio De Vito, et al. “Adaptive machine learning strategies for network calibration of IoT smart air quality monitoring devices”, Pattern Recognition Letters, 2020.</a:t>
            </a:r>
            <a:endParaRPr sz="1400">
              <a:latin typeface="Times New Roman"/>
              <a:ea typeface="Times New Roman"/>
              <a:cs typeface="Times New Roman"/>
              <a:sym typeface="Times New Roman"/>
            </a:endParaRPr>
          </a:p>
          <a:p>
            <a:pPr indent="0" lvl="0" marL="0" rtl="0" algn="l">
              <a:lnSpc>
                <a:spcPct val="150000"/>
              </a:lnSpc>
              <a:spcBef>
                <a:spcPts val="1000"/>
              </a:spcBef>
              <a:spcAft>
                <a:spcPts val="0"/>
              </a:spcAft>
              <a:buClr>
                <a:schemeClr val="dk1"/>
              </a:buClr>
              <a:buSzPts val="1100"/>
              <a:buFont typeface="Arial"/>
              <a:buNone/>
            </a:pPr>
            <a:r>
              <a:rPr lang="en-US" sz="1400">
                <a:latin typeface="Times New Roman"/>
                <a:ea typeface="Times New Roman"/>
                <a:cs typeface="Times New Roman"/>
                <a:sym typeface="Times New Roman"/>
              </a:rPr>
              <a:t>[6] Gaganjot Kaur, et. al “Air Quality Prediction: Big Data and Machine Learning Approaches”, International Journal of Environmental Science and Development, 2018.</a:t>
            </a:r>
            <a:endParaRPr sz="1400">
              <a:latin typeface="Times New Roman"/>
              <a:ea typeface="Times New Roman"/>
              <a:cs typeface="Times New Roman"/>
              <a:sym typeface="Times New Roman"/>
            </a:endParaRPr>
          </a:p>
          <a:p>
            <a:pPr indent="0" lvl="0" marL="457200" rtl="0" algn="l">
              <a:spcBef>
                <a:spcPts val="1000"/>
              </a:spcBef>
              <a:spcAft>
                <a:spcPts val="0"/>
              </a:spcAft>
              <a:buNone/>
            </a:pPr>
            <a:r>
              <a:t/>
            </a:r>
            <a:endParaRPr/>
          </a:p>
          <a:p>
            <a:pPr indent="0" lvl="0" marL="0" rtl="0" algn="just">
              <a:lnSpc>
                <a:spcPct val="150000"/>
              </a:lnSpc>
              <a:spcBef>
                <a:spcPts val="0"/>
              </a:spcBef>
              <a:spcAft>
                <a:spcPts val="600"/>
              </a:spcAft>
              <a:buSzPts val="1400"/>
              <a:buNone/>
            </a:pPr>
            <a:r>
              <a:t/>
            </a:r>
            <a:endParaRPr>
              <a:latin typeface="Times New Roman"/>
              <a:ea typeface="Times New Roman"/>
              <a:cs typeface="Times New Roman"/>
              <a:sym typeface="Times New Roman"/>
            </a:endParaRPr>
          </a:p>
        </p:txBody>
      </p:sp>
      <p:sp>
        <p:nvSpPr>
          <p:cNvPr id="306" name="Google Shape;306;p36"/>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307" name="Google Shape;307;p36"/>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308" name="Google Shape;308;p36"/>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7"/>
          <p:cNvSpPr txBox="1"/>
          <p:nvPr>
            <p:ph idx="1" type="body"/>
          </p:nvPr>
        </p:nvSpPr>
        <p:spPr>
          <a:xfrm>
            <a:off x="688623" y="404664"/>
            <a:ext cx="75381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References </a:t>
            </a:r>
            <a:endParaRPr sz="3600">
              <a:solidFill>
                <a:schemeClr val="dk2"/>
              </a:solidFill>
              <a:latin typeface="Libre Franklin"/>
              <a:ea typeface="Libre Franklin"/>
              <a:cs typeface="Libre Franklin"/>
              <a:sym typeface="Libre Franklin"/>
            </a:endParaRPr>
          </a:p>
        </p:txBody>
      </p:sp>
      <p:sp>
        <p:nvSpPr>
          <p:cNvPr id="314" name="Google Shape;314;p37"/>
          <p:cNvSpPr txBox="1"/>
          <p:nvPr>
            <p:ph idx="3" type="body"/>
          </p:nvPr>
        </p:nvSpPr>
        <p:spPr>
          <a:xfrm>
            <a:off x="897475" y="1182625"/>
            <a:ext cx="7538100" cy="4953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1400">
                <a:latin typeface="Times New Roman"/>
                <a:ea typeface="Times New Roman"/>
                <a:cs typeface="Times New Roman"/>
                <a:sym typeface="Times New Roman"/>
              </a:rPr>
              <a:t>[7] Dan Zhang, et al. “Real Time Localized Air Quality Monitoring and Prediction Through Mobile and Fixed IoT Sensing Network”, IEEE Access, 2020.</a:t>
            </a:r>
            <a:endParaRPr sz="1400">
              <a:latin typeface="Times New Roman"/>
              <a:ea typeface="Times New Roman"/>
              <a:cs typeface="Times New Roman"/>
              <a:sym typeface="Times New Roman"/>
            </a:endParaRPr>
          </a:p>
          <a:p>
            <a:pPr indent="0" lvl="0" marL="0" rtl="0" algn="l">
              <a:lnSpc>
                <a:spcPct val="150000"/>
              </a:lnSpc>
              <a:spcBef>
                <a:spcPts val="1000"/>
              </a:spcBef>
              <a:spcAft>
                <a:spcPts val="0"/>
              </a:spcAft>
              <a:buNone/>
            </a:pPr>
            <a:r>
              <a:rPr lang="en-US" sz="1400">
                <a:latin typeface="Times New Roman"/>
                <a:ea typeface="Times New Roman"/>
                <a:cs typeface="Times New Roman"/>
                <a:sym typeface="Times New Roman"/>
              </a:rPr>
              <a:t>[8] Leeban Moses, et al. “IoT enabled Environmental Air Pollution Monitoring and Rerouting system using Machine learning algorithms”, IOP Conference Series, 2020.</a:t>
            </a:r>
            <a:endParaRPr sz="1400">
              <a:latin typeface="Times New Roman"/>
              <a:ea typeface="Times New Roman"/>
              <a:cs typeface="Times New Roman"/>
              <a:sym typeface="Times New Roman"/>
            </a:endParaRPr>
          </a:p>
          <a:p>
            <a:pPr indent="0" lvl="0" marL="0" rtl="0" algn="l">
              <a:lnSpc>
                <a:spcPct val="150000"/>
              </a:lnSpc>
              <a:spcBef>
                <a:spcPts val="1000"/>
              </a:spcBef>
              <a:spcAft>
                <a:spcPts val="0"/>
              </a:spcAft>
              <a:buNone/>
            </a:pPr>
            <a:r>
              <a:rPr lang="en-US" sz="1400">
                <a:latin typeface="Times New Roman"/>
                <a:ea typeface="Times New Roman"/>
                <a:cs typeface="Times New Roman"/>
                <a:sym typeface="Times New Roman"/>
              </a:rPr>
              <a:t>[9] Safae Sossi Alaoui et al, “Air pollution prediction through internet of things technology and big data analytics” ,International Journal of Computational Intelligence Studies, 2019.</a:t>
            </a:r>
            <a:endParaRPr sz="1400">
              <a:latin typeface="Times New Roman"/>
              <a:ea typeface="Times New Roman"/>
              <a:cs typeface="Times New Roman"/>
              <a:sym typeface="Times New Roman"/>
            </a:endParaRPr>
          </a:p>
          <a:p>
            <a:pPr indent="0" lvl="0" marL="0" rtl="0" algn="l">
              <a:lnSpc>
                <a:spcPct val="150000"/>
              </a:lnSpc>
              <a:spcBef>
                <a:spcPts val="1000"/>
              </a:spcBef>
              <a:spcAft>
                <a:spcPts val="0"/>
              </a:spcAft>
              <a:buNone/>
            </a:pPr>
            <a:r>
              <a:rPr lang="en-US" sz="1400">
                <a:latin typeface="Times New Roman"/>
                <a:ea typeface="Times New Roman"/>
                <a:cs typeface="Times New Roman"/>
                <a:sym typeface="Times New Roman"/>
              </a:rPr>
              <a:t>[10] Tze Wai Wong, et al. “Developing a risk-based air quality health index”, Elesevire, 2012.</a:t>
            </a:r>
            <a:endParaRPr sz="1400">
              <a:latin typeface="Times New Roman"/>
              <a:ea typeface="Times New Roman"/>
              <a:cs typeface="Times New Roman"/>
              <a:sym typeface="Times New Roman"/>
            </a:endParaRPr>
          </a:p>
          <a:p>
            <a:pPr indent="0" lvl="0" marL="0" rtl="0" algn="l">
              <a:lnSpc>
                <a:spcPct val="150000"/>
              </a:lnSpc>
              <a:spcBef>
                <a:spcPts val="1000"/>
              </a:spcBef>
              <a:spcAft>
                <a:spcPts val="0"/>
              </a:spcAft>
              <a:buNone/>
            </a:pPr>
            <a:r>
              <a:rPr lang="en-US" sz="1400">
                <a:latin typeface="Times New Roman"/>
                <a:ea typeface="Times New Roman"/>
                <a:cs typeface="Times New Roman"/>
                <a:sym typeface="Times New Roman"/>
              </a:rPr>
              <a:t>[11] Meivel S, et. al “Air pollution monitoring system using IoT and Artificial Intelligence”, International Journal of Modern Agriculture, 2021.</a:t>
            </a:r>
            <a:endParaRPr sz="1400">
              <a:latin typeface="Times New Roman"/>
              <a:ea typeface="Times New Roman"/>
              <a:cs typeface="Times New Roman"/>
              <a:sym typeface="Times New Roman"/>
            </a:endParaRPr>
          </a:p>
          <a:p>
            <a:pPr indent="0" lvl="0" marL="0" rtl="0" algn="l">
              <a:lnSpc>
                <a:spcPct val="150000"/>
              </a:lnSpc>
              <a:spcBef>
                <a:spcPts val="1000"/>
              </a:spcBef>
              <a:spcAft>
                <a:spcPts val="0"/>
              </a:spcAft>
              <a:buNone/>
            </a:pPr>
            <a:r>
              <a:rPr lang="en-US" sz="1400">
                <a:latin typeface="Times New Roman"/>
                <a:ea typeface="Times New Roman"/>
                <a:cs typeface="Times New Roman"/>
                <a:sym typeface="Times New Roman"/>
              </a:rPr>
              <a:t>[12] Wenjing Mao, Weilin Wang, Limin Jiao, Suli Zhao, Anbao Liu, “Modeling air quality prediction using a deep learning approach: Method optimization and evaluation”, Elsevier, 2020.</a:t>
            </a:r>
            <a:endParaRPr sz="1400">
              <a:latin typeface="Times New Roman"/>
              <a:ea typeface="Times New Roman"/>
              <a:cs typeface="Times New Roman"/>
              <a:sym typeface="Times New Roman"/>
            </a:endParaRPr>
          </a:p>
          <a:p>
            <a:pPr indent="0" lvl="0" marL="457200" rtl="0" algn="l">
              <a:spcBef>
                <a:spcPts val="1000"/>
              </a:spcBef>
              <a:spcAft>
                <a:spcPts val="0"/>
              </a:spcAft>
              <a:buNone/>
            </a:pPr>
            <a:r>
              <a:t/>
            </a:r>
            <a:endParaRPr/>
          </a:p>
          <a:p>
            <a:pPr indent="0" lvl="0" marL="0" rtl="0" algn="just">
              <a:lnSpc>
                <a:spcPct val="150000"/>
              </a:lnSpc>
              <a:spcBef>
                <a:spcPts val="0"/>
              </a:spcBef>
              <a:spcAft>
                <a:spcPts val="600"/>
              </a:spcAft>
              <a:buSzPts val="1400"/>
              <a:buNone/>
            </a:pPr>
            <a:r>
              <a:t/>
            </a:r>
            <a:endParaRPr>
              <a:latin typeface="Times New Roman"/>
              <a:ea typeface="Times New Roman"/>
              <a:cs typeface="Times New Roman"/>
              <a:sym typeface="Times New Roman"/>
            </a:endParaRPr>
          </a:p>
        </p:txBody>
      </p:sp>
      <p:sp>
        <p:nvSpPr>
          <p:cNvPr id="315" name="Google Shape;315;p37"/>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316" name="Google Shape;316;p37"/>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317" name="Google Shape;317;p37"/>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8"/>
          <p:cNvSpPr txBox="1"/>
          <p:nvPr>
            <p:ph idx="1" type="body"/>
          </p:nvPr>
        </p:nvSpPr>
        <p:spPr>
          <a:xfrm>
            <a:off x="688623" y="404664"/>
            <a:ext cx="75381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3600"/>
              <a:buNone/>
            </a:pPr>
            <a:r>
              <a:rPr lang="en-US" sz="3600">
                <a:solidFill>
                  <a:schemeClr val="dk2"/>
                </a:solidFill>
                <a:latin typeface="Libre Franklin"/>
                <a:ea typeface="Libre Franklin"/>
                <a:cs typeface="Libre Franklin"/>
                <a:sym typeface="Libre Franklin"/>
              </a:rPr>
              <a:t>References </a:t>
            </a:r>
            <a:endParaRPr sz="3600">
              <a:solidFill>
                <a:schemeClr val="dk2"/>
              </a:solidFill>
              <a:latin typeface="Libre Franklin"/>
              <a:ea typeface="Libre Franklin"/>
              <a:cs typeface="Libre Franklin"/>
              <a:sym typeface="Libre Franklin"/>
            </a:endParaRPr>
          </a:p>
        </p:txBody>
      </p:sp>
      <p:sp>
        <p:nvSpPr>
          <p:cNvPr id="323" name="Google Shape;323;p38"/>
          <p:cNvSpPr txBox="1"/>
          <p:nvPr>
            <p:ph idx="3" type="body"/>
          </p:nvPr>
        </p:nvSpPr>
        <p:spPr>
          <a:xfrm>
            <a:off x="897475" y="1182625"/>
            <a:ext cx="7538100" cy="49536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1400">
                <a:latin typeface="Times New Roman"/>
                <a:ea typeface="Times New Roman"/>
                <a:cs typeface="Times New Roman"/>
                <a:sym typeface="Times New Roman"/>
              </a:rPr>
              <a:t>[13] Ramesh P. Singh, et al. “Impact of lockdown on air quality in India during COVID-19 pandemic”, Springer Nature B.V., 2020.</a:t>
            </a:r>
            <a:endParaRPr sz="1400">
              <a:latin typeface="Times New Roman"/>
              <a:ea typeface="Times New Roman"/>
              <a:cs typeface="Times New Roman"/>
              <a:sym typeface="Times New Roman"/>
            </a:endParaRPr>
          </a:p>
          <a:p>
            <a:pPr indent="0" lvl="0" marL="0" rtl="0" algn="l">
              <a:lnSpc>
                <a:spcPct val="150000"/>
              </a:lnSpc>
              <a:spcBef>
                <a:spcPts val="1000"/>
              </a:spcBef>
              <a:spcAft>
                <a:spcPts val="0"/>
              </a:spcAft>
              <a:buNone/>
            </a:pPr>
            <a:r>
              <a:rPr lang="en-US" sz="1400">
                <a:latin typeface="Times New Roman"/>
                <a:ea typeface="Times New Roman"/>
                <a:cs typeface="Times New Roman"/>
                <a:sym typeface="Times New Roman"/>
              </a:rPr>
              <a:t>[14] Anindya Ananda Hapsari, et al. “A Review on Indoor Air Quality Monitoring using IoT at Campus Environment”, International Journal of Engineering and Technology, 2018.</a:t>
            </a:r>
            <a:endParaRPr sz="1400">
              <a:latin typeface="Times New Roman"/>
              <a:ea typeface="Times New Roman"/>
              <a:cs typeface="Times New Roman"/>
              <a:sym typeface="Times New Roman"/>
            </a:endParaRPr>
          </a:p>
          <a:p>
            <a:pPr indent="0" lvl="0" marL="0" rtl="0" algn="l">
              <a:lnSpc>
                <a:spcPct val="150000"/>
              </a:lnSpc>
              <a:spcBef>
                <a:spcPts val="1000"/>
              </a:spcBef>
              <a:spcAft>
                <a:spcPts val="0"/>
              </a:spcAft>
              <a:buNone/>
            </a:pPr>
            <a:r>
              <a:rPr lang="en-US" sz="1400">
                <a:latin typeface="Times New Roman"/>
                <a:ea typeface="Times New Roman"/>
                <a:cs typeface="Times New Roman"/>
                <a:sym typeface="Times New Roman"/>
              </a:rPr>
              <a:t>[15] Somansh Kumar, “Air Quality Monitoring System Based on IoT using Raspberry Pi”, IEEE, 2017.</a:t>
            </a:r>
            <a:endParaRPr sz="1400">
              <a:latin typeface="Times New Roman"/>
              <a:ea typeface="Times New Roman"/>
              <a:cs typeface="Times New Roman"/>
              <a:sym typeface="Times New Roman"/>
            </a:endParaRPr>
          </a:p>
          <a:p>
            <a:pPr indent="0" lvl="0" marL="0" rtl="0" algn="l">
              <a:lnSpc>
                <a:spcPct val="150000"/>
              </a:lnSpc>
              <a:spcBef>
                <a:spcPts val="1000"/>
              </a:spcBef>
              <a:spcAft>
                <a:spcPts val="0"/>
              </a:spcAft>
              <a:buNone/>
            </a:pPr>
            <a:r>
              <a:rPr lang="en-US" sz="1400">
                <a:latin typeface="Times New Roman"/>
                <a:ea typeface="Times New Roman"/>
                <a:cs typeface="Times New Roman"/>
                <a:sym typeface="Times New Roman"/>
              </a:rPr>
              <a:t>[16] Nimisha Tomar, et al., “Air Quality Index Forecasting using Auto-regression Models”, IEEE, 2020.</a:t>
            </a:r>
            <a:endParaRPr sz="1400">
              <a:latin typeface="Times New Roman"/>
              <a:ea typeface="Times New Roman"/>
              <a:cs typeface="Times New Roman"/>
              <a:sym typeface="Times New Roman"/>
            </a:endParaRPr>
          </a:p>
          <a:p>
            <a:pPr indent="0" lvl="0" marL="0" rtl="0" algn="l">
              <a:lnSpc>
                <a:spcPct val="150000"/>
              </a:lnSpc>
              <a:spcBef>
                <a:spcPts val="1000"/>
              </a:spcBef>
              <a:spcAft>
                <a:spcPts val="0"/>
              </a:spcAft>
              <a:buNone/>
            </a:pPr>
            <a:r>
              <a:rPr lang="en-US" sz="1400">
                <a:latin typeface="Times New Roman"/>
                <a:ea typeface="Times New Roman"/>
                <a:cs typeface="Times New Roman"/>
                <a:sym typeface="Times New Roman"/>
              </a:rPr>
              <a:t>[17] Anikendar Kumar, et al.“Forecasting of daily Air Quality Index in Delhi”, Elsevier, 2012.</a:t>
            </a:r>
            <a:endParaRPr sz="1400">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sz="1400">
              <a:latin typeface="Times New Roman"/>
              <a:ea typeface="Times New Roman"/>
              <a:cs typeface="Times New Roman"/>
              <a:sym typeface="Times New Roman"/>
            </a:endParaRPr>
          </a:p>
          <a:p>
            <a:pPr indent="0" lvl="0" marL="0" rtl="0" algn="l">
              <a:lnSpc>
                <a:spcPct val="150000"/>
              </a:lnSpc>
              <a:spcBef>
                <a:spcPts val="0"/>
              </a:spcBef>
              <a:spcAft>
                <a:spcPts val="0"/>
              </a:spcAft>
              <a:buNone/>
            </a:pPr>
            <a:r>
              <a:rPr lang="en-US" sz="1400">
                <a:latin typeface="Times New Roman"/>
                <a:ea typeface="Times New Roman"/>
                <a:cs typeface="Times New Roman"/>
                <a:sym typeface="Times New Roman"/>
              </a:rPr>
              <a:t>[18] Suling Zhu, et al.,  “Daily Air Quality Index forecasting with hybrid models: A Case in China”, Elsevier, 2017.</a:t>
            </a:r>
            <a:endParaRPr sz="1200">
              <a:latin typeface="Times New Roman"/>
              <a:ea typeface="Times New Roman"/>
              <a:cs typeface="Times New Roman"/>
              <a:sym typeface="Times New Roman"/>
            </a:endParaRPr>
          </a:p>
          <a:p>
            <a:pPr indent="0" lvl="0" marL="0" rtl="0" algn="l">
              <a:lnSpc>
                <a:spcPct val="150000"/>
              </a:lnSpc>
              <a:spcBef>
                <a:spcPts val="0"/>
              </a:spcBef>
              <a:spcAft>
                <a:spcPts val="0"/>
              </a:spcAft>
              <a:buNone/>
            </a:pPr>
            <a:r>
              <a:t/>
            </a:r>
            <a:endParaRPr sz="1400">
              <a:latin typeface="Times New Roman"/>
              <a:ea typeface="Times New Roman"/>
              <a:cs typeface="Times New Roman"/>
              <a:sym typeface="Times New Roman"/>
            </a:endParaRPr>
          </a:p>
          <a:p>
            <a:pPr indent="0" lvl="0" marL="457200" rtl="0" algn="l">
              <a:spcBef>
                <a:spcPts val="1000"/>
              </a:spcBef>
              <a:spcAft>
                <a:spcPts val="0"/>
              </a:spcAft>
              <a:buNone/>
            </a:pPr>
            <a:r>
              <a:t/>
            </a:r>
            <a:endParaRPr/>
          </a:p>
          <a:p>
            <a:pPr indent="0" lvl="0" marL="0" rtl="0" algn="just">
              <a:lnSpc>
                <a:spcPct val="150000"/>
              </a:lnSpc>
              <a:spcBef>
                <a:spcPts val="0"/>
              </a:spcBef>
              <a:spcAft>
                <a:spcPts val="600"/>
              </a:spcAft>
              <a:buSzPts val="1400"/>
              <a:buNone/>
            </a:pPr>
            <a:r>
              <a:t/>
            </a:r>
            <a:endParaRPr>
              <a:latin typeface="Times New Roman"/>
              <a:ea typeface="Times New Roman"/>
              <a:cs typeface="Times New Roman"/>
              <a:sym typeface="Times New Roman"/>
            </a:endParaRPr>
          </a:p>
        </p:txBody>
      </p:sp>
      <p:sp>
        <p:nvSpPr>
          <p:cNvPr id="324" name="Google Shape;324;p38"/>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325" name="Google Shape;325;p38"/>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326" name="Google Shape;326;p38"/>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descr="Icon&#10;&#10;Description automatically generated" id="331" name="Google Shape;331;p39"/>
          <p:cNvPicPr preferRelativeResize="0"/>
          <p:nvPr/>
        </p:nvPicPr>
        <p:blipFill rotWithShape="1">
          <a:blip r:embed="rId3">
            <a:alphaModFix/>
          </a:blip>
          <a:srcRect b="0" l="0" r="0" t="0"/>
          <a:stretch/>
        </p:blipFill>
        <p:spPr>
          <a:xfrm>
            <a:off x="2409695" y="1587674"/>
            <a:ext cx="3612192" cy="3212926"/>
          </a:xfrm>
          <a:prstGeom prst="rect">
            <a:avLst/>
          </a:prstGeom>
          <a:noFill/>
          <a:ln>
            <a:noFill/>
          </a:ln>
        </p:spPr>
      </p:pic>
      <p:sp>
        <p:nvSpPr>
          <p:cNvPr id="332" name="Google Shape;332;p39"/>
          <p:cNvSpPr txBox="1"/>
          <p:nvPr/>
        </p:nvSpPr>
        <p:spPr>
          <a:xfrm>
            <a:off x="564062" y="5597960"/>
            <a:ext cx="57463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000">
                <a:solidFill>
                  <a:schemeClr val="lt1"/>
                </a:solidFill>
                <a:latin typeface="Century Gothic"/>
                <a:ea typeface="Century Gothic"/>
                <a:cs typeface="Century Gothic"/>
                <a:sym typeface="Century Gothic"/>
              </a:rPr>
              <a:t>12</a:t>
            </a:r>
            <a:endParaRPr i="1" sz="2000">
              <a:solidFill>
                <a:schemeClr val="lt1"/>
              </a:solidFill>
              <a:latin typeface="Century Gothic"/>
              <a:ea typeface="Century Gothic"/>
              <a:cs typeface="Century Gothic"/>
              <a:sym typeface="Century Gothic"/>
            </a:endParaRPr>
          </a:p>
        </p:txBody>
      </p:sp>
      <p:sp>
        <p:nvSpPr>
          <p:cNvPr id="333" name="Google Shape;333;p39"/>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Department of ISE, BMSCE</a:t>
            </a:r>
            <a:endParaRPr/>
          </a:p>
        </p:txBody>
      </p:sp>
      <p:sp>
        <p:nvSpPr>
          <p:cNvPr id="334" name="Google Shape;334;p39"/>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0"/>
          <p:cNvSpPr txBox="1"/>
          <p:nvPr/>
        </p:nvSpPr>
        <p:spPr>
          <a:xfrm>
            <a:off x="650081" y="5600700"/>
            <a:ext cx="64293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000">
                <a:solidFill>
                  <a:schemeClr val="lt1"/>
                </a:solidFill>
                <a:latin typeface="Century Gothic"/>
                <a:ea typeface="Century Gothic"/>
                <a:cs typeface="Century Gothic"/>
                <a:sym typeface="Century Gothic"/>
              </a:rPr>
              <a:t>13</a:t>
            </a:r>
            <a:endParaRPr b="1" i="1" sz="2000">
              <a:solidFill>
                <a:schemeClr val="lt1"/>
              </a:solidFill>
              <a:latin typeface="Century Gothic"/>
              <a:ea typeface="Century Gothic"/>
              <a:cs typeface="Century Gothic"/>
              <a:sym typeface="Century Gothic"/>
            </a:endParaRPr>
          </a:p>
        </p:txBody>
      </p:sp>
      <p:sp>
        <p:nvSpPr>
          <p:cNvPr id="340" name="Google Shape;340;p40"/>
          <p:cNvSpPr txBox="1"/>
          <p:nvPr/>
        </p:nvSpPr>
        <p:spPr>
          <a:xfrm>
            <a:off x="3200400" y="3200401"/>
            <a:ext cx="27432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400">
              <a:solidFill>
                <a:srgbClr val="000000"/>
              </a:solidFill>
              <a:latin typeface="Arial"/>
              <a:ea typeface="Arial"/>
              <a:cs typeface="Arial"/>
              <a:sym typeface="Arial"/>
            </a:endParaRPr>
          </a:p>
        </p:txBody>
      </p:sp>
      <p:pic>
        <p:nvPicPr>
          <p:cNvPr descr="A picture containing text, stationary, writing implement, pen&#10;&#10;Description automatically generated" id="341" name="Google Shape;341;p40"/>
          <p:cNvPicPr preferRelativeResize="0"/>
          <p:nvPr/>
        </p:nvPicPr>
        <p:blipFill rotWithShape="1">
          <a:blip r:embed="rId3">
            <a:alphaModFix/>
          </a:blip>
          <a:srcRect b="0" l="0" r="0" t="0"/>
          <a:stretch/>
        </p:blipFill>
        <p:spPr>
          <a:xfrm>
            <a:off x="1131454" y="1987851"/>
            <a:ext cx="7017705" cy="3247121"/>
          </a:xfrm>
          <a:prstGeom prst="rect">
            <a:avLst/>
          </a:prstGeom>
          <a:noFill/>
          <a:ln>
            <a:noFill/>
          </a:ln>
        </p:spPr>
      </p:pic>
      <p:sp>
        <p:nvSpPr>
          <p:cNvPr id="342" name="Google Shape;342;p40"/>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Department of ISE, BMSCE</a:t>
            </a:r>
            <a:endParaRPr/>
          </a:p>
        </p:txBody>
      </p:sp>
      <p:sp>
        <p:nvSpPr>
          <p:cNvPr id="343" name="Google Shape;343;p40"/>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theme/theme1.xml><?xml version="1.0" encoding="utf-8"?>
<a:theme xmlns:a="http://schemas.openxmlformats.org/drawingml/2006/main" xmlns:r="http://schemas.openxmlformats.org/officeDocument/2006/relationships"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