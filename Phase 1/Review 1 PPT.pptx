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9144000"/>
  <p:notesSz cx="6858000" cy="9144000"/>
  <p:embeddedFontLst>
    <p:embeddedFont>
      <p:font typeface="Libre Franklin"/>
      <p:regular r:id="rId35"/>
      <p:bold r:id="rId36"/>
      <p:italic r:id="rId37"/>
      <p:boldItalic r:id="rId38"/>
    </p:embeddedFont>
    <p:embeddedFont>
      <p:font typeface="Libre Baskerville"/>
      <p:regular r:id="rId39"/>
      <p:bold r:id="rId40"/>
      <p:italic r:id="rId41"/>
    </p:embeddedFont>
    <p:embeddedFont>
      <p:font typeface="Century Gothic"/>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1FC79A-32B9-4EE3-B692-57ABB818A6D0}">
  <a:tblStyle styleId="{FC1FC79A-32B9-4EE3-B692-57ABB818A6D0}" styleName="Table_0">
    <a:wholeTbl>
      <a:tcTxStyle b="off" i="off">
        <a:font>
          <a:latin typeface="Perpetua"/>
          <a:ea typeface="Perpetua"/>
          <a:cs typeface="Perpetu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7E8E7"/>
          </a:solidFill>
        </a:fill>
      </a:tcStyle>
    </a:wholeTbl>
    <a:band1H>
      <a:tcTxStyle/>
      <a:tcStyle>
        <a:fill>
          <a:solidFill>
            <a:srgbClr val="EFCECA"/>
          </a:solidFill>
        </a:fill>
      </a:tcStyle>
    </a:band1H>
    <a:band2H>
      <a:tcTxStyle/>
    </a:band2H>
    <a:band1V>
      <a:tcTxStyle/>
      <a:tcStyle>
        <a:fill>
          <a:solidFill>
            <a:srgbClr val="EFCECA"/>
          </a:solidFill>
        </a:fill>
      </a:tcStyle>
    </a:band1V>
    <a:band2V>
      <a:tcTxStyle/>
    </a:band2V>
    <a:lastCol>
      <a:tcTxStyle b="on" i="off">
        <a:font>
          <a:latin typeface="Perpetua"/>
          <a:ea typeface="Perpetua"/>
          <a:cs typeface="Perpetua"/>
        </a:font>
        <a:schemeClr val="lt1"/>
      </a:tcTxStyle>
      <a:tcStyle>
        <a:fill>
          <a:solidFill>
            <a:schemeClr val="accent1"/>
          </a:solidFill>
        </a:fill>
      </a:tcStyle>
    </a:lastCol>
    <a:firstCol>
      <a:tcTxStyle b="on" i="off">
        <a:font>
          <a:latin typeface="Perpetua"/>
          <a:ea typeface="Perpetua"/>
          <a:cs typeface="Perpetua"/>
        </a:font>
        <a:schemeClr val="lt1"/>
      </a:tcTxStyle>
      <a:tcStyle>
        <a:fill>
          <a:solidFill>
            <a:schemeClr val="accent1"/>
          </a:solidFill>
        </a:fill>
      </a:tcStyle>
    </a:firstCol>
    <a:lastRow>
      <a:tcTxStyle b="on" i="off">
        <a:font>
          <a:latin typeface="Perpetua"/>
          <a:ea typeface="Perpetua"/>
          <a:cs typeface="Perpetu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Perpetua"/>
          <a:ea typeface="Perpetua"/>
          <a:cs typeface="Perpetu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Baskerville-bold.fntdata"/><Relationship Id="rId20" Type="http://schemas.openxmlformats.org/officeDocument/2006/relationships/slide" Target="slides/slide14.xml"/><Relationship Id="rId42" Type="http://schemas.openxmlformats.org/officeDocument/2006/relationships/font" Target="fonts/CenturyGothic-regular.fntdata"/><Relationship Id="rId41" Type="http://schemas.openxmlformats.org/officeDocument/2006/relationships/font" Target="fonts/LibreBaskerville-italic.fntdata"/><Relationship Id="rId22" Type="http://schemas.openxmlformats.org/officeDocument/2006/relationships/slide" Target="slides/slide16.xml"/><Relationship Id="rId44" Type="http://schemas.openxmlformats.org/officeDocument/2006/relationships/font" Target="fonts/CenturyGothic-italic.fntdata"/><Relationship Id="rId21" Type="http://schemas.openxmlformats.org/officeDocument/2006/relationships/slide" Target="slides/slide15.xml"/><Relationship Id="rId43" Type="http://schemas.openxmlformats.org/officeDocument/2006/relationships/font" Target="fonts/CenturyGothic-bold.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CenturyGothic-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LibreFranklin-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LibreFranklin-italic.fntdata"/><Relationship Id="rId14" Type="http://schemas.openxmlformats.org/officeDocument/2006/relationships/slide" Target="slides/slide8.xml"/><Relationship Id="rId36" Type="http://schemas.openxmlformats.org/officeDocument/2006/relationships/font" Target="fonts/LibreFranklin-bold.fntdata"/><Relationship Id="rId17" Type="http://schemas.openxmlformats.org/officeDocument/2006/relationships/slide" Target="slides/slide11.xml"/><Relationship Id="rId39" Type="http://schemas.openxmlformats.org/officeDocument/2006/relationships/font" Target="fonts/LibreBaskerville-regular.fntdata"/><Relationship Id="rId16" Type="http://schemas.openxmlformats.org/officeDocument/2006/relationships/slide" Target="slides/slide10.xml"/><Relationship Id="rId38" Type="http://schemas.openxmlformats.org/officeDocument/2006/relationships/font" Target="fonts/LibreFranklin-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25" name="Google Shape;12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32" name="Google Shape;13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bc2b9b151e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bc2b9b151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Prateek</a:t>
            </a:r>
            <a:endParaRPr/>
          </a:p>
        </p:txBody>
      </p:sp>
      <p:sp>
        <p:nvSpPr>
          <p:cNvPr id="141" name="Google Shape;141;g1bc2b9b151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c1b51b0e6c_0_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c1b51b0e6c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Sam</a:t>
            </a:r>
            <a:endParaRPr/>
          </a:p>
        </p:txBody>
      </p:sp>
      <p:sp>
        <p:nvSpPr>
          <p:cNvPr id="147" name="Google Shape;147;g1c1b51b0e6c_0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c1b51b0e6c_0_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c1b51b0e6c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Ruchi</a:t>
            </a:r>
            <a:endParaRPr/>
          </a:p>
        </p:txBody>
      </p:sp>
      <p:sp>
        <p:nvSpPr>
          <p:cNvPr id="153" name="Google Shape;153;g1c1b51b0e6c_0_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bc2b9b151e_0_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bc2b9b151e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Prateek</a:t>
            </a:r>
            <a:endParaRPr/>
          </a:p>
        </p:txBody>
      </p:sp>
      <p:sp>
        <p:nvSpPr>
          <p:cNvPr id="159" name="Google Shape;159;g1bc2b9b151e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c1b51b0e6c_0_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c1b51b0e6c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Sam</a:t>
            </a:r>
            <a:endParaRPr/>
          </a:p>
        </p:txBody>
      </p:sp>
      <p:sp>
        <p:nvSpPr>
          <p:cNvPr id="165" name="Google Shape;165;g1c1b51b0e6c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c1b51b0e6c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c1b51b0e6c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Ruchi</a:t>
            </a:r>
            <a:endParaRPr/>
          </a:p>
        </p:txBody>
      </p:sp>
      <p:sp>
        <p:nvSpPr>
          <p:cNvPr id="171" name="Google Shape;171;g1c1b51b0e6c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bc2b9b151e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bc2b9b151e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Prateek</a:t>
            </a:r>
            <a:endParaRPr/>
          </a:p>
        </p:txBody>
      </p:sp>
      <p:sp>
        <p:nvSpPr>
          <p:cNvPr id="178" name="Google Shape;178;g1bc2b9b151e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c1b51b0e6c_0_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c1b51b0e6c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Sam</a:t>
            </a:r>
            <a:endParaRPr/>
          </a:p>
        </p:txBody>
      </p:sp>
      <p:sp>
        <p:nvSpPr>
          <p:cNvPr id="185" name="Google Shape;185;g1c1b51b0e6c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c1b51b0e6c_0_5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c1b51b0e6c_0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Ruchi</a:t>
            </a:r>
            <a:endParaRPr/>
          </a:p>
        </p:txBody>
      </p:sp>
      <p:sp>
        <p:nvSpPr>
          <p:cNvPr id="191" name="Google Shape;191;g1c1b51b0e6c_0_5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bc2b9b151e_0_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bc2b9b151e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Prateek</a:t>
            </a:r>
            <a:endParaRPr/>
          </a:p>
          <a:p>
            <a:pPr indent="0" lvl="0" marL="0" rtl="0" algn="l">
              <a:spcBef>
                <a:spcPts val="0"/>
              </a:spcBef>
              <a:spcAft>
                <a:spcPts val="0"/>
              </a:spcAft>
              <a:buNone/>
            </a:pPr>
            <a:r>
              <a:t/>
            </a:r>
            <a:endParaRPr/>
          </a:p>
        </p:txBody>
      </p:sp>
      <p:sp>
        <p:nvSpPr>
          <p:cNvPr id="197" name="Google Shape;197;g1bc2b9b151e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c1b51b0e6c_0_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c1b51b0e6c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Sam</a:t>
            </a:r>
            <a:endParaRPr/>
          </a:p>
        </p:txBody>
      </p:sp>
      <p:sp>
        <p:nvSpPr>
          <p:cNvPr id="203" name="Google Shape;203;g1c1b51b0e6c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c1b51b0e6c_0_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c1b51b0e6c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Ruchi</a:t>
            </a:r>
            <a:endParaRPr/>
          </a:p>
        </p:txBody>
      </p:sp>
      <p:sp>
        <p:nvSpPr>
          <p:cNvPr id="209" name="Google Shape;209;g1c1b51b0e6c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bc2b9b151e_0_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bc2b9b151e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Prateek</a:t>
            </a:r>
            <a:endParaRPr/>
          </a:p>
        </p:txBody>
      </p:sp>
      <p:sp>
        <p:nvSpPr>
          <p:cNvPr id="215" name="Google Shape;215;g1bc2b9b151e_0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c1b51b0e6c_0_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c1b51b0e6c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Sam</a:t>
            </a:r>
            <a:endParaRPr/>
          </a:p>
        </p:txBody>
      </p:sp>
      <p:sp>
        <p:nvSpPr>
          <p:cNvPr id="221" name="Google Shape;221;g1c1b51b0e6c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c1b51b0e6c_0_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c1b51b0e6c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Ruchi</a:t>
            </a:r>
            <a:endParaRPr/>
          </a:p>
        </p:txBody>
      </p:sp>
      <p:sp>
        <p:nvSpPr>
          <p:cNvPr id="227" name="Google Shape;227;g1c1b51b0e6c_0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34" name="Google Shape;23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41" name="Google Shape;24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bc2b9b151e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48" name="Google Shape;248;g1bc2b9b151e_0_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bc2b9b151e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55" name="Google Shape;255;g1bc2b9b151e_0_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62" name="Google Shape;26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69" name="Google Shape;26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76" name="Google Shape;27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c1df0644ac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83" name="Google Shape;283;g1c1df0644ac_2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90" name="Google Shape;29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5000" ty="0" sy="55000"/>
        </a:blipFill>
      </p:bgPr>
    </p:bg>
    <p:spTree>
      <p:nvGrpSpPr>
        <p:cNvPr id="17" name="Shape 17"/>
        <p:cNvGrpSpPr/>
        <p:nvPr/>
      </p:nvGrpSpPr>
      <p:grpSpPr>
        <a:xfrm>
          <a:off x="0" y="0"/>
          <a:ext cx="0" cy="0"/>
          <a:chOff x="0" y="0"/>
          <a:chExt cx="0" cy="0"/>
        </a:xfrm>
      </p:grpSpPr>
      <p:sp>
        <p:nvSpPr>
          <p:cNvPr id="18" name="Google Shape;18;p2"/>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9" name="Google Shape;19;p2"/>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0" name="Google Shape;20;p2"/>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rm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defRPr/>
            </a:lvl2pPr>
            <a:lvl3pPr lvl="2" algn="ctr">
              <a:spcBef>
                <a:spcPts val="370"/>
              </a:spcBef>
              <a:spcAft>
                <a:spcPts val="0"/>
              </a:spcAft>
              <a:buSzPts val="1530"/>
              <a:buNone/>
              <a:defRPr/>
            </a:lvl3pPr>
            <a:lvl4pPr lvl="3" algn="ctr">
              <a:spcBef>
                <a:spcPts val="370"/>
              </a:spcBef>
              <a:spcAft>
                <a:spcPts val="0"/>
              </a:spcAft>
              <a:buSzPts val="1440"/>
              <a:buNone/>
              <a:defRPr/>
            </a:lvl4pPr>
            <a:lvl5pPr lvl="4" algn="ctr">
              <a:spcBef>
                <a:spcPts val="370"/>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p:txBody>
      </p:sp>
      <p:sp>
        <p:nvSpPr>
          <p:cNvPr id="21" name="Google Shape;21;p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algn="ctr">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algn="ctr">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algn="ctr">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algn="ctr">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algn="ctr">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algn="ctr">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algn="ctr">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algn="ctr">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24" name="Google Shape;24;p2"/>
          <p:cNvSpPr/>
          <p:nvPr/>
        </p:nvSpPr>
        <p:spPr>
          <a:xfrm>
            <a:off x="62931" y="1449303"/>
            <a:ext cx="9021537" cy="152734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5" name="Google Shape;25;p2"/>
          <p:cNvSpPr/>
          <p:nvPr/>
        </p:nvSpPr>
        <p:spPr>
          <a:xfrm>
            <a:off x="62931" y="1396720"/>
            <a:ext cx="9021537" cy="12058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6" name="Google Shape;26;p2"/>
          <p:cNvSpPr/>
          <p:nvPr/>
        </p:nvSpPr>
        <p:spPr>
          <a:xfrm>
            <a:off x="62931" y="2976649"/>
            <a:ext cx="9021537" cy="11053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7" name="Google Shape;27;p2"/>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rmAutofit/>
          </a:bodyPr>
          <a:lstStyle>
            <a:lvl1pPr lvl="0" algn="ctr">
              <a:spcBef>
                <a:spcPts val="0"/>
              </a:spcBef>
              <a:spcAft>
                <a:spcPts val="0"/>
              </a:spcAft>
              <a:buClr>
                <a:srgbClr val="FFFFFF"/>
              </a:buClr>
              <a:buSzPts val="4000"/>
              <a:buFont typeface="Libre Franklin"/>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34" name="Shape 34"/>
        <p:cNvGrpSpPr/>
        <p:nvPr/>
      </p:nvGrpSpPr>
      <p:grpSpPr>
        <a:xfrm>
          <a:off x="0" y="0"/>
          <a:ext cx="0" cy="0"/>
          <a:chOff x="0" y="0"/>
          <a:chExt cx="0" cy="0"/>
        </a:xfrm>
      </p:grpSpPr>
      <p:sp>
        <p:nvSpPr>
          <p:cNvPr id="35" name="Google Shape;35;p4"/>
          <p:cNvSpPr/>
          <p:nvPr>
            <p:ph idx="2" type="pic"/>
          </p:nvPr>
        </p:nvSpPr>
        <p:spPr>
          <a:xfrm>
            <a:off x="3429000" y="1295400"/>
            <a:ext cx="2362200" cy="4267200"/>
          </a:xfrm>
          <a:prstGeom prst="rect">
            <a:avLst/>
          </a:prstGeom>
          <a:noFill/>
          <a:ln>
            <a:noFill/>
          </a:ln>
        </p:spPr>
      </p:sp>
      <p:sp>
        <p:nvSpPr>
          <p:cNvPr id="36" name="Google Shape;36;p4"/>
          <p:cNvSpPr txBox="1"/>
          <p:nvPr>
            <p:ph idx="1" type="body"/>
          </p:nvPr>
        </p:nvSpPr>
        <p:spPr>
          <a:xfrm>
            <a:off x="381000" y="76200"/>
            <a:ext cx="4191000" cy="1016000"/>
          </a:xfrm>
          <a:prstGeom prst="rect">
            <a:avLst/>
          </a:prstGeom>
          <a:noFill/>
          <a:ln>
            <a:noFill/>
          </a:ln>
        </p:spPr>
        <p:txBody>
          <a:bodyPr anchorCtr="0" anchor="t" bIns="91425" lIns="91425" spcFirstLastPara="1" rIns="91425" wrap="square" tIns="91425">
            <a:noAutofit/>
          </a:bodyPr>
          <a:lstStyle>
            <a:lvl1pPr indent="-228600" lvl="0" marL="457200" algn="l">
              <a:spcBef>
                <a:spcPts val="0"/>
              </a:spcBef>
              <a:spcAft>
                <a:spcPts val="0"/>
              </a:spcAft>
              <a:buClr>
                <a:srgbClr val="000000"/>
              </a:buClr>
              <a:buSzPts val="1400"/>
              <a:buFont typeface="Arial"/>
              <a:buNone/>
              <a:defRPr/>
            </a:lvl1pPr>
            <a:lvl2pPr indent="-342900" lvl="1" marL="914400" algn="l">
              <a:spcBef>
                <a:spcPts val="0"/>
              </a:spcBef>
              <a:spcAft>
                <a:spcPts val="0"/>
              </a:spcAft>
              <a:buClr>
                <a:srgbClr val="000000"/>
              </a:buClr>
              <a:buSzPts val="1800"/>
              <a:buChar char="–"/>
              <a:defRPr/>
            </a:lvl2pPr>
            <a:lvl3pPr indent="-342900" lvl="2" marL="1371600" algn="l">
              <a:spcBef>
                <a:spcPts val="0"/>
              </a:spcBef>
              <a:spcAft>
                <a:spcPts val="0"/>
              </a:spcAft>
              <a:buClr>
                <a:srgbClr val="000000"/>
              </a:buClr>
              <a:buSzPts val="1800"/>
              <a:buChar char="•"/>
              <a:defRPr/>
            </a:lvl3pPr>
            <a:lvl4pPr indent="-342900" lvl="3" marL="1828800" algn="l">
              <a:spcBef>
                <a:spcPts val="0"/>
              </a:spcBef>
              <a:spcAft>
                <a:spcPts val="0"/>
              </a:spcAft>
              <a:buClr>
                <a:srgbClr val="000000"/>
              </a:buClr>
              <a:buSzPts val="1800"/>
              <a:buChar char="–"/>
              <a:defRPr/>
            </a:lvl4pPr>
            <a:lvl5pPr indent="-342900" lvl="4" marL="2286000" algn="l">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7" name="Google Shape;37;p4"/>
          <p:cNvSpPr txBox="1"/>
          <p:nvPr>
            <p:ph idx="3" type="body"/>
          </p:nvPr>
        </p:nvSpPr>
        <p:spPr>
          <a:xfrm>
            <a:off x="4800600" y="76200"/>
            <a:ext cx="3276600" cy="1016000"/>
          </a:xfrm>
          <a:prstGeom prst="rect">
            <a:avLst/>
          </a:prstGeom>
          <a:noFill/>
          <a:ln>
            <a:noFill/>
          </a:ln>
        </p:spPr>
        <p:txBody>
          <a:bodyPr anchorCtr="0" anchor="t" bIns="91425" lIns="91425" spcFirstLastPara="1" rIns="91425" wrap="square" tIns="91425">
            <a:noAutofit/>
          </a:bodyPr>
          <a:lstStyle>
            <a:lvl1pPr indent="-228600" lvl="0" marL="457200" algn="l">
              <a:spcBef>
                <a:spcPts val="0"/>
              </a:spcBef>
              <a:spcAft>
                <a:spcPts val="0"/>
              </a:spcAft>
              <a:buClr>
                <a:srgbClr val="000000"/>
              </a:buClr>
              <a:buSzPts val="1400"/>
              <a:buFont typeface="Arial"/>
              <a:buNone/>
              <a:defRPr/>
            </a:lvl1pPr>
            <a:lvl2pPr indent="-342900" lvl="1" marL="914400" algn="l">
              <a:spcBef>
                <a:spcPts val="0"/>
              </a:spcBef>
              <a:spcAft>
                <a:spcPts val="0"/>
              </a:spcAft>
              <a:buClr>
                <a:srgbClr val="000000"/>
              </a:buClr>
              <a:buSzPts val="1800"/>
              <a:buChar char="–"/>
              <a:defRPr/>
            </a:lvl2pPr>
            <a:lvl3pPr indent="-342900" lvl="2" marL="1371600" algn="l">
              <a:spcBef>
                <a:spcPts val="0"/>
              </a:spcBef>
              <a:spcAft>
                <a:spcPts val="0"/>
              </a:spcAft>
              <a:buClr>
                <a:srgbClr val="000000"/>
              </a:buClr>
              <a:buSzPts val="1800"/>
              <a:buChar char="•"/>
              <a:defRPr/>
            </a:lvl3pPr>
            <a:lvl4pPr indent="-342900" lvl="3" marL="1828800" algn="l">
              <a:spcBef>
                <a:spcPts val="0"/>
              </a:spcBef>
              <a:spcAft>
                <a:spcPts val="0"/>
              </a:spcAft>
              <a:buClr>
                <a:srgbClr val="000000"/>
              </a:buClr>
              <a:buSzPts val="1800"/>
              <a:buChar char="–"/>
              <a:defRPr/>
            </a:lvl4pPr>
            <a:lvl5pPr indent="-342900" lvl="4" marL="2286000" algn="l">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8" name="Google Shape;38;p4"/>
          <p:cNvSpPr txBox="1"/>
          <p:nvPr>
            <p:ph idx="10" type="dt"/>
          </p:nvPr>
        </p:nvSpPr>
        <p:spPr>
          <a:xfrm>
            <a:off x="7772401" y="6136218"/>
            <a:ext cx="766763" cy="368300"/>
          </a:xfrm>
          <a:prstGeom prst="rect">
            <a:avLst/>
          </a:prstGeom>
          <a:noFill/>
          <a:ln>
            <a:noFill/>
          </a:ln>
        </p:spPr>
        <p:txBody>
          <a:bodyPr anchorCtr="0" anchor="ctr" bIns="91425" lIns="91425" spcFirstLastPara="1" rIns="91425" wrap="square" tIns="91425">
            <a:noAutofit/>
          </a:bodyPr>
          <a:lstStyle>
            <a:lvl1pPr lvl="0" algn="r">
              <a:spcBef>
                <a:spcPts val="0"/>
              </a:spcBef>
              <a:spcAft>
                <a:spcPts val="0"/>
              </a:spcAft>
              <a:buClr>
                <a:schemeClr val="dk2"/>
              </a:buClr>
              <a:buSzPts val="1400"/>
              <a:buFont typeface="Libre Baskerville"/>
              <a:buNone/>
              <a:defRPr/>
            </a:lvl1pPr>
            <a:lvl2pPr lvl="1" algn="l">
              <a:spcBef>
                <a:spcPts val="0"/>
              </a:spcBef>
              <a:spcAft>
                <a:spcPts val="0"/>
              </a:spcAft>
              <a:buClr>
                <a:schemeClr val="dk1"/>
              </a:buClr>
              <a:buSzPts val="1400"/>
              <a:buFont typeface="Libre Baskerville"/>
              <a:buNone/>
              <a:defRPr/>
            </a:lvl2pPr>
            <a:lvl3pPr lvl="2" algn="l">
              <a:spcBef>
                <a:spcPts val="0"/>
              </a:spcBef>
              <a:spcAft>
                <a:spcPts val="0"/>
              </a:spcAft>
              <a:buClr>
                <a:schemeClr val="dk1"/>
              </a:buClr>
              <a:buSzPts val="1400"/>
              <a:buFont typeface="Libre Baskerville"/>
              <a:buNone/>
              <a:defRPr/>
            </a:lvl3pPr>
            <a:lvl4pPr lvl="3" algn="l">
              <a:spcBef>
                <a:spcPts val="0"/>
              </a:spcBef>
              <a:spcAft>
                <a:spcPts val="0"/>
              </a:spcAft>
              <a:buClr>
                <a:schemeClr val="dk1"/>
              </a:buClr>
              <a:buSzPts val="1400"/>
              <a:buFont typeface="Libre Baskerville"/>
              <a:buNone/>
              <a:defRPr/>
            </a:lvl4pPr>
            <a:lvl5pPr lvl="4" algn="l">
              <a:spcBef>
                <a:spcPts val="0"/>
              </a:spcBef>
              <a:spcAft>
                <a:spcPts val="0"/>
              </a:spcAft>
              <a:buClr>
                <a:schemeClr val="dk1"/>
              </a:buClr>
              <a:buSzPts val="1400"/>
              <a:buFont typeface="Libre Baskerville"/>
              <a:buNone/>
              <a:defRPr/>
            </a:lvl5pPr>
            <a:lvl6pPr lvl="5" algn="l">
              <a:spcBef>
                <a:spcPts val="0"/>
              </a:spcBef>
              <a:spcAft>
                <a:spcPts val="0"/>
              </a:spcAft>
              <a:buClr>
                <a:schemeClr val="dk1"/>
              </a:buClr>
              <a:buSzPts val="1400"/>
              <a:buFont typeface="Libre Baskerville"/>
              <a:buNone/>
              <a:defRPr/>
            </a:lvl6pPr>
            <a:lvl7pPr lvl="6" algn="l">
              <a:spcBef>
                <a:spcPts val="0"/>
              </a:spcBef>
              <a:spcAft>
                <a:spcPts val="0"/>
              </a:spcAft>
              <a:buClr>
                <a:schemeClr val="dk1"/>
              </a:buClr>
              <a:buSzPts val="1400"/>
              <a:buFont typeface="Libre Baskerville"/>
              <a:buNone/>
              <a:defRPr/>
            </a:lvl7pPr>
            <a:lvl8pPr lvl="7" algn="l">
              <a:spcBef>
                <a:spcPts val="0"/>
              </a:spcBef>
              <a:spcAft>
                <a:spcPts val="0"/>
              </a:spcAft>
              <a:buClr>
                <a:schemeClr val="dk1"/>
              </a:buClr>
              <a:buSzPts val="1400"/>
              <a:buFont typeface="Libre Baskerville"/>
              <a:buNone/>
              <a:defRPr/>
            </a:lvl8pPr>
            <a:lvl9pPr lvl="8" algn="l">
              <a:spcBef>
                <a:spcPts val="0"/>
              </a:spcBef>
              <a:spcAft>
                <a:spcPts val="0"/>
              </a:spcAft>
              <a:buClr>
                <a:schemeClr val="dk1"/>
              </a:buClr>
              <a:buSzPts val="1400"/>
              <a:buFont typeface="Libre Baskerville"/>
              <a:buNone/>
              <a:defRPr/>
            </a:lvl9pPr>
          </a:lstStyle>
          <a:p/>
        </p:txBody>
      </p:sp>
      <p:sp>
        <p:nvSpPr>
          <p:cNvPr id="39" name="Google Shape;39;p4"/>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lvl1pPr lvl="0" algn="l">
              <a:spcBef>
                <a:spcPts val="0"/>
              </a:spcBef>
              <a:spcAft>
                <a:spcPts val="0"/>
              </a:spcAft>
              <a:buClr>
                <a:schemeClr val="dk2"/>
              </a:buClr>
              <a:buSzPts val="1400"/>
              <a:buFont typeface="Libre Baskerville"/>
              <a:buNone/>
              <a:defRPr/>
            </a:lvl1pPr>
            <a:lvl2pPr lvl="1" algn="l">
              <a:spcBef>
                <a:spcPts val="0"/>
              </a:spcBef>
              <a:spcAft>
                <a:spcPts val="0"/>
              </a:spcAft>
              <a:buClr>
                <a:schemeClr val="dk1"/>
              </a:buClr>
              <a:buSzPts val="1400"/>
              <a:buFont typeface="Libre Baskerville"/>
              <a:buNone/>
              <a:defRPr/>
            </a:lvl2pPr>
            <a:lvl3pPr lvl="2" algn="l">
              <a:spcBef>
                <a:spcPts val="0"/>
              </a:spcBef>
              <a:spcAft>
                <a:spcPts val="0"/>
              </a:spcAft>
              <a:buClr>
                <a:schemeClr val="dk1"/>
              </a:buClr>
              <a:buSzPts val="1400"/>
              <a:buFont typeface="Libre Baskerville"/>
              <a:buNone/>
              <a:defRPr/>
            </a:lvl3pPr>
            <a:lvl4pPr lvl="3" algn="l">
              <a:spcBef>
                <a:spcPts val="0"/>
              </a:spcBef>
              <a:spcAft>
                <a:spcPts val="0"/>
              </a:spcAft>
              <a:buClr>
                <a:schemeClr val="dk1"/>
              </a:buClr>
              <a:buSzPts val="1400"/>
              <a:buFont typeface="Libre Baskerville"/>
              <a:buNone/>
              <a:defRPr/>
            </a:lvl4pPr>
            <a:lvl5pPr lvl="4" algn="l">
              <a:spcBef>
                <a:spcPts val="0"/>
              </a:spcBef>
              <a:spcAft>
                <a:spcPts val="0"/>
              </a:spcAft>
              <a:buClr>
                <a:schemeClr val="dk1"/>
              </a:buClr>
              <a:buSzPts val="1400"/>
              <a:buFont typeface="Libre Baskerville"/>
              <a:buNone/>
              <a:defRPr/>
            </a:lvl5pPr>
            <a:lvl6pPr lvl="5" algn="l">
              <a:spcBef>
                <a:spcPts val="0"/>
              </a:spcBef>
              <a:spcAft>
                <a:spcPts val="0"/>
              </a:spcAft>
              <a:buClr>
                <a:schemeClr val="dk1"/>
              </a:buClr>
              <a:buSzPts val="1400"/>
              <a:buFont typeface="Libre Baskerville"/>
              <a:buNone/>
              <a:defRPr/>
            </a:lvl6pPr>
            <a:lvl7pPr lvl="6" algn="l">
              <a:spcBef>
                <a:spcPts val="0"/>
              </a:spcBef>
              <a:spcAft>
                <a:spcPts val="0"/>
              </a:spcAft>
              <a:buClr>
                <a:schemeClr val="dk1"/>
              </a:buClr>
              <a:buSzPts val="1400"/>
              <a:buFont typeface="Libre Baskerville"/>
              <a:buNone/>
              <a:defRPr/>
            </a:lvl7pPr>
            <a:lvl8pPr lvl="7" algn="l">
              <a:spcBef>
                <a:spcPts val="0"/>
              </a:spcBef>
              <a:spcAft>
                <a:spcPts val="0"/>
              </a:spcAft>
              <a:buClr>
                <a:schemeClr val="dk1"/>
              </a:buClr>
              <a:buSzPts val="1400"/>
              <a:buFont typeface="Libre Baskerville"/>
              <a:buNone/>
              <a:defRPr/>
            </a:lvl8pPr>
            <a:lvl9pPr lvl="8" algn="l">
              <a:spcBef>
                <a:spcPts val="0"/>
              </a:spcBef>
              <a:spcAft>
                <a:spcPts val="0"/>
              </a:spcAft>
              <a:buClr>
                <a:schemeClr val="dk1"/>
              </a:buClr>
              <a:buSzPts val="1400"/>
              <a:buFont typeface="Libre Baskerville"/>
              <a:buNone/>
              <a:defRPr/>
            </a:lvl9pPr>
          </a:lstStyle>
          <a:p/>
        </p:txBody>
      </p:sp>
      <p:sp>
        <p:nvSpPr>
          <p:cNvPr id="40" name="Google Shape;40;p4"/>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1pPr>
            <a:lvl2pPr indent="0" lvl="1"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2pPr>
            <a:lvl3pPr indent="0" lvl="2"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3pPr>
            <a:lvl4pPr indent="0" lvl="3"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4pPr>
            <a:lvl5pPr indent="0" lvl="4"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5pPr>
            <a:lvl6pPr indent="0" lvl="5"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6pPr>
            <a:lvl7pPr indent="0" lvl="6"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7pPr>
            <a:lvl8pPr indent="0" lvl="7"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8pPr>
            <a:lvl9pPr indent="0" lvl="8"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r>
              <a:rPr lang="en-US"/>
              <a:t>1</a:t>
            </a:r>
            <a:endParaRPr b="0" i="0" sz="1400">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
        <p:nvSpPr>
          <p:cNvPr id="42" name="Google Shape;42;p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5000" ty="0" sy="55000"/>
        </a:blipFill>
      </p:bgPr>
    </p:bg>
    <p:spTree>
      <p:nvGrpSpPr>
        <p:cNvPr id="45" name="Shape 45"/>
        <p:cNvGrpSpPr/>
        <p:nvPr/>
      </p:nvGrpSpPr>
      <p:grpSpPr>
        <a:xfrm>
          <a:off x="0" y="0"/>
          <a:ext cx="0" cy="0"/>
          <a:chOff x="0" y="0"/>
          <a:chExt cx="0" cy="0"/>
        </a:xfrm>
      </p:grpSpPr>
      <p:sp>
        <p:nvSpPr>
          <p:cNvPr id="46" name="Google Shape;46;p6"/>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47" name="Google Shape;47;p6"/>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48" name="Google Shape;48;p6"/>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4000"/>
              <a:buFont typeface="Libre Franklin"/>
              <a:buNone/>
              <a:defRPr b="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6"/>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rmAutofit/>
          </a:bodyPr>
          <a:lstStyle>
            <a:lvl1pPr indent="-228600" lvl="0" marL="457200" algn="l">
              <a:spcBef>
                <a:spcPts val="580"/>
              </a:spcBef>
              <a:spcAft>
                <a:spcPts val="0"/>
              </a:spcAft>
              <a:buSzPts val="2040"/>
              <a:buNone/>
              <a:defRPr sz="2400">
                <a:solidFill>
                  <a:srgbClr val="888888"/>
                </a:solidFill>
              </a:defRPr>
            </a:lvl1pPr>
            <a:lvl2pPr indent="-228600" lvl="1" marL="914400" algn="l">
              <a:spcBef>
                <a:spcPts val="370"/>
              </a:spcBef>
              <a:spcAft>
                <a:spcPts val="0"/>
              </a:spcAft>
              <a:buSzPts val="1530"/>
              <a:buNone/>
              <a:defRPr sz="1800">
                <a:solidFill>
                  <a:srgbClr val="888888"/>
                </a:solidFill>
              </a:defRPr>
            </a:lvl2pPr>
            <a:lvl3pPr indent="-228600" lvl="2" marL="1371600" algn="l">
              <a:spcBef>
                <a:spcPts val="370"/>
              </a:spcBef>
              <a:spcAft>
                <a:spcPts val="0"/>
              </a:spcAft>
              <a:buSzPts val="1360"/>
              <a:buNone/>
              <a:defRPr sz="1600">
                <a:solidFill>
                  <a:srgbClr val="888888"/>
                </a:solidFill>
              </a:defRPr>
            </a:lvl3pPr>
            <a:lvl4pPr indent="-228600" lvl="3" marL="1828800" algn="l">
              <a:spcBef>
                <a:spcPts val="370"/>
              </a:spcBef>
              <a:spcAft>
                <a:spcPts val="0"/>
              </a:spcAft>
              <a:buSzPts val="1120"/>
              <a:buNone/>
              <a:defRPr sz="1400">
                <a:solidFill>
                  <a:srgbClr val="888888"/>
                </a:solidFill>
              </a:defRPr>
            </a:lvl4pPr>
            <a:lvl5pPr indent="-228600" lvl="4" marL="2286000" algn="l">
              <a:spcBef>
                <a:spcPts val="370"/>
              </a:spcBef>
              <a:spcAft>
                <a:spcPts val="0"/>
              </a:spcAft>
              <a:buSzPts val="1400"/>
              <a:buFont typeface="Libre Baskerville"/>
              <a:buNone/>
              <a:defRPr sz="1400">
                <a:solidFill>
                  <a:srgbClr val="888888"/>
                </a:solidFill>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0" name="Google Shape;50;p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p:nvPr/>
        </p:nvSpPr>
        <p:spPr>
          <a:xfrm flipH="1" rot="10800000">
            <a:off x="69412" y="2376830"/>
            <a:ext cx="9013515"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53" name="Google Shape;53;p6"/>
          <p:cNvSpPr/>
          <p:nvPr/>
        </p:nvSpPr>
        <p:spPr>
          <a:xfrm>
            <a:off x="69146" y="2341475"/>
            <a:ext cx="9013781"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54" name="Google Shape;54;p6"/>
          <p:cNvSpPr/>
          <p:nvPr/>
        </p:nvSpPr>
        <p:spPr>
          <a:xfrm>
            <a:off x="68306" y="2468880"/>
            <a:ext cx="9014621" cy="4572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55" name="Google Shape;55;p6"/>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7"/>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2" name="Google Shape;62;p7"/>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8"/>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4000"/>
              <a:buFont typeface="Libre Frankli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8"/>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6" name="Google Shape;66;p8"/>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7" name="Google Shape;67;p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0" name="Google Shape;70;p8"/>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71" name="Google Shape;71;p8"/>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10"/>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79" name="Google Shape;79;p10"/>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80" name="Google Shape;80;p10"/>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4000"/>
              <a:buFont typeface="Libre Franklin"/>
              <a:buNone/>
              <a:defRPr b="0"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0"/>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rmAutofit/>
          </a:bodyPr>
          <a:lstStyle>
            <a:lvl1pPr indent="-228600" lvl="0" marL="457200" algn="l">
              <a:spcBef>
                <a:spcPts val="580"/>
              </a:spcBef>
              <a:spcAft>
                <a:spcPts val="0"/>
              </a:spcAft>
              <a:buSzPts val="1530"/>
              <a:buNone/>
              <a:defRPr sz="1800"/>
            </a:lvl1pPr>
            <a:lvl2pPr indent="-228600" lvl="1" marL="914400" algn="l">
              <a:spcBef>
                <a:spcPts val="370"/>
              </a:spcBef>
              <a:spcAft>
                <a:spcPts val="0"/>
              </a:spcAft>
              <a:buSzPts val="1020"/>
              <a:buNone/>
              <a:defRPr sz="1200"/>
            </a:lvl2pPr>
            <a:lvl3pPr indent="-228600" lvl="2" marL="1371600" algn="l">
              <a:spcBef>
                <a:spcPts val="370"/>
              </a:spcBef>
              <a:spcAft>
                <a:spcPts val="0"/>
              </a:spcAft>
              <a:buSzPts val="850"/>
              <a:buNone/>
              <a:defRPr sz="1000"/>
            </a:lvl3pPr>
            <a:lvl4pPr indent="-228600" lvl="3" marL="1828800" algn="l">
              <a:spcBef>
                <a:spcPts val="370"/>
              </a:spcBef>
              <a:spcAft>
                <a:spcPts val="0"/>
              </a:spcAft>
              <a:buSzPts val="720"/>
              <a:buNone/>
              <a:defRPr sz="900"/>
            </a:lvl4pPr>
            <a:lvl5pPr indent="-228600" lvl="4" marL="2286000" algn="l">
              <a:spcBef>
                <a:spcPts val="370"/>
              </a:spcBef>
              <a:spcAft>
                <a:spcPts val="0"/>
              </a:spcAft>
              <a:buSzPts val="900"/>
              <a:buFont typeface="Libre Baskerville"/>
              <a:buNone/>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82" name="Google Shape;82;p1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0"/>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5" name="Google Shape;85;p10"/>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11"/>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spcBef>
                <a:spcPts val="0"/>
              </a:spcBef>
              <a:spcAft>
                <a:spcPts val="0"/>
              </a:spcAft>
              <a:buClr>
                <a:schemeClr val="dk2"/>
              </a:buClr>
              <a:buSzPts val="2800"/>
              <a:buFont typeface="Libre Franklin"/>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1"/>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rmAutofit/>
          </a:bodyPr>
          <a:lstStyle>
            <a:lvl1pPr indent="-228600" lvl="0" marL="457200" algn="l">
              <a:spcBef>
                <a:spcPts val="580"/>
              </a:spcBef>
              <a:spcAft>
                <a:spcPts val="0"/>
              </a:spcAft>
              <a:buSzPts val="1360"/>
              <a:buFont typeface="Libre Baskerville"/>
              <a:buNone/>
              <a:defRPr sz="1600"/>
            </a:lvl1pPr>
            <a:lvl2pPr indent="-293369" lvl="1" marL="914400" algn="l">
              <a:spcBef>
                <a:spcPts val="370"/>
              </a:spcBef>
              <a:spcAft>
                <a:spcPts val="0"/>
              </a:spcAft>
              <a:buSzPts val="1020"/>
              <a:buChar char="⚫"/>
              <a:defRPr sz="1200"/>
            </a:lvl2pPr>
            <a:lvl3pPr indent="-282575" lvl="2" marL="1371600" algn="l">
              <a:spcBef>
                <a:spcPts val="370"/>
              </a:spcBef>
              <a:spcAft>
                <a:spcPts val="0"/>
              </a:spcAft>
              <a:buSzPts val="850"/>
              <a:buChar char="⚫"/>
              <a:defRPr sz="1000"/>
            </a:lvl3pPr>
            <a:lvl4pPr indent="-274319" lvl="3" marL="1828800" algn="l">
              <a:spcBef>
                <a:spcPts val="370"/>
              </a:spcBef>
              <a:spcAft>
                <a:spcPts val="0"/>
              </a:spcAft>
              <a:buSzPts val="720"/>
              <a:buChar char="⚫"/>
              <a:defRPr sz="900"/>
            </a:lvl4pPr>
            <a:lvl5pPr indent="-285750" lvl="4" marL="2286000" algn="l">
              <a:spcBef>
                <a:spcPts val="370"/>
              </a:spcBef>
              <a:spcAft>
                <a:spcPts val="0"/>
              </a:spcAft>
              <a:buSzPts val="900"/>
              <a:buFont typeface="Libre Baskerville"/>
              <a:buChar char="o"/>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89" name="Google Shape;89;p1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1"/>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1"/>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2" name="Google Shape;92;p11"/>
          <p:cNvSpPr/>
          <p:nvPr/>
        </p:nvSpPr>
        <p:spPr>
          <a:xfrm flipH="1" rot="10800000">
            <a:off x="68307" y="4683555"/>
            <a:ext cx="9006840"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93" name="Google Shape;93;p11"/>
          <p:cNvSpPr/>
          <p:nvPr/>
        </p:nvSpPr>
        <p:spPr>
          <a:xfrm>
            <a:off x="68508" y="4650474"/>
            <a:ext cx="9006639"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94" name="Google Shape;94;p11"/>
          <p:cNvSpPr/>
          <p:nvPr/>
        </p:nvSpPr>
        <p:spPr>
          <a:xfrm>
            <a:off x="68510" y="4773224"/>
            <a:ext cx="9006637" cy="48807"/>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95" name="Google Shape;95;p11"/>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1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2"/>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99" name="Google Shape;99;p1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2" name="Shape 102"/>
        <p:cNvGrpSpPr/>
        <p:nvPr/>
      </p:nvGrpSpPr>
      <p:grpSpPr>
        <a:xfrm>
          <a:off x="0" y="0"/>
          <a:ext cx="0" cy="0"/>
          <a:chOff x="0" y="0"/>
          <a:chExt cx="0" cy="0"/>
        </a:xfrm>
      </p:grpSpPr>
      <p:sp>
        <p:nvSpPr>
          <p:cNvPr id="103" name="Google Shape;103;p13"/>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3"/>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05" name="Google Shape;105;p1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1" name="Google Shape;11;p1"/>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2" name="Google Shape;12;p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marR="0" rtl="0" algn="l">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68935" lvl="0" marL="457200" marR="0" rtl="0" algn="l">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spcBef>
                <a:spcPts val="370"/>
              </a:spcBef>
              <a:spcAft>
                <a:spcPts val="0"/>
              </a:spcAft>
              <a:buClr>
                <a:srgbClr val="E6AFA9"/>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4" name="Google Shape;14;p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Libre Baskerville"/>
                <a:ea typeface="Libre Baskerville"/>
                <a:cs typeface="Libre Baskerville"/>
                <a:sym typeface="Libre Baskerville"/>
              </a:defRPr>
            </a:lvl1pPr>
            <a:lvl2pPr lvl="1"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2pPr>
            <a:lvl3pPr lvl="2"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3pPr>
            <a:lvl4pPr lvl="3"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4pPr>
            <a:lvl5pPr lvl="4"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5pPr>
            <a:lvl6pPr lvl="5"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6pPr>
            <a:lvl7pPr lvl="6"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7pPr>
            <a:lvl8pPr lvl="7"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8pPr>
            <a:lvl9pPr lvl="8"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5" name="Google Shape;15;p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Libre Baskerville"/>
                <a:ea typeface="Libre Baskerville"/>
                <a:cs typeface="Libre Baskerville"/>
                <a:sym typeface="Libre Baskerville"/>
              </a:defRPr>
            </a:lvl1pPr>
            <a:lvl2pPr lvl="1"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2pPr>
            <a:lvl3pPr lvl="2"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3pPr>
            <a:lvl4pPr lvl="3"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4pPr>
            <a:lvl5pPr lvl="4"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5pPr>
            <a:lvl6pPr lvl="5"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6pPr>
            <a:lvl7pPr lvl="6"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7pPr>
            <a:lvl8pPr lvl="7"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8pPr>
            <a:lvl9pPr lvl="8"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6" name="Google Shape;16;p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marR="0" rtl="0" algn="ctr">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marR="0" rtl="0" algn="ctr">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marR="0" rtl="0" algn="ctr">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marR="0" rtl="0" algn="ctr">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marR="0" rtl="0" algn="ctr">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marR="0" rtl="0" algn="ctr">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marR="0" rtl="0" algn="ctr">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marR="0" rtl="0" algn="ctr">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8.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4"/>
          <p:cNvSpPr txBox="1"/>
          <p:nvPr>
            <p:ph type="ctrTitle"/>
          </p:nvPr>
        </p:nvSpPr>
        <p:spPr>
          <a:xfrm>
            <a:off x="391175" y="2024755"/>
            <a:ext cx="8229600" cy="1470000"/>
          </a:xfrm>
          <a:prstGeom prst="rect">
            <a:avLst/>
          </a:prstGeom>
          <a:noFill/>
          <a:ln>
            <a:noFill/>
          </a:ln>
        </p:spPr>
        <p:txBody>
          <a:bodyPr anchorCtr="0" anchor="ctr" bIns="91425" lIns="91425" spcFirstLastPara="1" rIns="91425" wrap="square" tIns="45700">
            <a:normAutofit fontScale="90000"/>
          </a:bodyPr>
          <a:lstStyle/>
          <a:p>
            <a:pPr indent="0" lvl="0" marL="0" rtl="0" algn="ctr">
              <a:spcBef>
                <a:spcPts val="0"/>
              </a:spcBef>
              <a:spcAft>
                <a:spcPts val="0"/>
              </a:spcAft>
              <a:buClr>
                <a:schemeClr val="dk1"/>
              </a:buClr>
              <a:buSzPct val="35357"/>
              <a:buFont typeface="Arial"/>
              <a:buNone/>
            </a:pPr>
            <a:r>
              <a:rPr b="1" lang="en-US" sz="3111"/>
              <a:t>Air quality monitoring, forecasting and controlling system using IoT and Data Science</a:t>
            </a:r>
            <a:endParaRPr b="1" sz="3111"/>
          </a:p>
          <a:p>
            <a:pPr indent="0" lvl="0" marL="0" rtl="0" algn="ctr">
              <a:spcBef>
                <a:spcPts val="0"/>
              </a:spcBef>
              <a:spcAft>
                <a:spcPts val="0"/>
              </a:spcAft>
              <a:buClr>
                <a:schemeClr val="dk1"/>
              </a:buClr>
              <a:buSzPct val="27500"/>
              <a:buFont typeface="Arial"/>
              <a:buNone/>
            </a:pPr>
            <a:r>
              <a:t/>
            </a:r>
            <a:endParaRPr/>
          </a:p>
          <a:p>
            <a:pPr indent="0" lvl="0" marL="0" rtl="0" algn="ctr">
              <a:spcBef>
                <a:spcPts val="0"/>
              </a:spcBef>
              <a:spcAft>
                <a:spcPts val="0"/>
              </a:spcAft>
              <a:buClr>
                <a:srgbClr val="FFFFFF"/>
              </a:buClr>
              <a:buSzPct val="100000"/>
              <a:buFont typeface="Libre Franklin"/>
              <a:buNone/>
            </a:pPr>
            <a:r>
              <a:t/>
            </a:r>
            <a:endParaRPr/>
          </a:p>
        </p:txBody>
      </p:sp>
      <p:sp>
        <p:nvSpPr>
          <p:cNvPr id="113" name="Google Shape;113;p14"/>
          <p:cNvSpPr txBox="1"/>
          <p:nvPr/>
        </p:nvSpPr>
        <p:spPr>
          <a:xfrm>
            <a:off x="5652120" y="3212976"/>
            <a:ext cx="3024336" cy="19442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1"/>
              </a:buClr>
              <a:buSzPts val="1530"/>
              <a:buFont typeface="Noto Sans Symbols"/>
              <a:buNone/>
            </a:pPr>
            <a:r>
              <a:rPr b="1" i="0" lang="en-US" sz="1800" u="none" cap="none" strike="noStrike">
                <a:solidFill>
                  <a:srgbClr val="000000"/>
                </a:solidFill>
                <a:latin typeface="Arial"/>
                <a:ea typeface="Arial"/>
                <a:cs typeface="Arial"/>
                <a:sym typeface="Arial"/>
              </a:rPr>
              <a:t>Under the Guidance of</a:t>
            </a:r>
            <a:endParaRPr/>
          </a:p>
          <a:p>
            <a:pPr indent="0" lvl="0" marL="0" marR="0" rtl="0" algn="l">
              <a:spcBef>
                <a:spcPts val="580"/>
              </a:spcBef>
              <a:spcAft>
                <a:spcPts val="0"/>
              </a:spcAft>
              <a:buClr>
                <a:schemeClr val="accent1"/>
              </a:buClr>
              <a:buSzPts val="1530"/>
              <a:buFont typeface="Noto Sans Symbols"/>
              <a:buNone/>
            </a:pPr>
            <a:r>
              <a:t/>
            </a:r>
            <a:endParaRPr b="1" i="0" sz="1800" u="none" cap="none" strike="noStrike">
              <a:solidFill>
                <a:srgbClr val="000000"/>
              </a:solidFill>
              <a:latin typeface="Arial"/>
              <a:ea typeface="Arial"/>
              <a:cs typeface="Arial"/>
              <a:sym typeface="Arial"/>
            </a:endParaRPr>
          </a:p>
          <a:p>
            <a:pPr indent="0" lvl="0" marL="0" marR="0" rtl="0" algn="ctr">
              <a:spcBef>
                <a:spcPts val="580"/>
              </a:spcBef>
              <a:spcAft>
                <a:spcPts val="0"/>
              </a:spcAft>
              <a:buClr>
                <a:schemeClr val="accent1"/>
              </a:buClr>
              <a:buSzPts val="1530"/>
              <a:buFont typeface="Noto Sans Symbols"/>
              <a:buNone/>
            </a:pPr>
            <a:r>
              <a:rPr b="0" i="0" lang="en-US" sz="1800" u="none" cap="none" strike="noStrike">
                <a:solidFill>
                  <a:srgbClr val="000000"/>
                </a:solidFill>
                <a:latin typeface="Arial"/>
                <a:ea typeface="Arial"/>
                <a:cs typeface="Arial"/>
                <a:sym typeface="Arial"/>
              </a:rPr>
              <a:t>Prof. </a:t>
            </a:r>
            <a:r>
              <a:rPr lang="en-US" sz="1800"/>
              <a:t>Pallavi B</a:t>
            </a:r>
            <a:endParaRPr/>
          </a:p>
          <a:p>
            <a:pPr indent="0" lvl="0" marL="0" marR="0" rtl="0" algn="ctr">
              <a:spcBef>
                <a:spcPts val="580"/>
              </a:spcBef>
              <a:spcAft>
                <a:spcPts val="0"/>
              </a:spcAft>
              <a:buClr>
                <a:schemeClr val="accent1"/>
              </a:buClr>
              <a:buSzPts val="1530"/>
              <a:buFont typeface="Noto Sans Symbols"/>
              <a:buNone/>
            </a:pPr>
            <a:r>
              <a:rPr lang="en-US" sz="1800"/>
              <a:t>Assistant Professor</a:t>
            </a:r>
            <a:endParaRPr b="0" i="0" sz="1800" u="none" cap="none" strike="noStrike">
              <a:solidFill>
                <a:srgbClr val="000000"/>
              </a:solidFill>
              <a:latin typeface="Arial"/>
              <a:ea typeface="Arial"/>
              <a:cs typeface="Arial"/>
              <a:sym typeface="Arial"/>
            </a:endParaRPr>
          </a:p>
          <a:p>
            <a:pPr indent="0" lvl="0" marL="0" marR="0" rtl="0" algn="ctr">
              <a:spcBef>
                <a:spcPts val="580"/>
              </a:spcBef>
              <a:spcAft>
                <a:spcPts val="0"/>
              </a:spcAft>
              <a:buClr>
                <a:schemeClr val="accent1"/>
              </a:buClr>
              <a:buSzPts val="1530"/>
              <a:buFont typeface="Noto Sans Symbols"/>
              <a:buNone/>
            </a:pPr>
            <a:r>
              <a:rPr b="0" i="0" lang="en-US" sz="1800" u="none" cap="none" strike="noStrike">
                <a:solidFill>
                  <a:srgbClr val="000000"/>
                </a:solidFill>
                <a:latin typeface="Arial"/>
                <a:ea typeface="Arial"/>
                <a:cs typeface="Arial"/>
                <a:sym typeface="Arial"/>
              </a:rPr>
              <a:t>Department of ISE</a:t>
            </a:r>
            <a:endParaRPr b="0" i="0" sz="1800" u="none" cap="none" strike="noStrike">
              <a:solidFill>
                <a:srgbClr val="000000"/>
              </a:solidFill>
              <a:latin typeface="Arial"/>
              <a:ea typeface="Arial"/>
              <a:cs typeface="Arial"/>
              <a:sym typeface="Arial"/>
            </a:endParaRPr>
          </a:p>
        </p:txBody>
      </p:sp>
      <p:sp>
        <p:nvSpPr>
          <p:cNvPr id="114" name="Google Shape;114;p14"/>
          <p:cNvSpPr txBox="1"/>
          <p:nvPr/>
        </p:nvSpPr>
        <p:spPr>
          <a:xfrm>
            <a:off x="1403648" y="188640"/>
            <a:ext cx="7488832" cy="1224136"/>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spcBef>
                <a:spcPts val="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BMS College of Engineering</a:t>
            </a:r>
            <a:endParaRPr/>
          </a:p>
          <a:p>
            <a:pPr indent="0" lvl="0" marL="0" marR="0" rtl="0" algn="ctr">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Department of Information Science and Engineering</a:t>
            </a:r>
            <a:endParaRPr/>
          </a:p>
          <a:p>
            <a:pPr indent="0" lvl="0" marL="0" marR="0" rtl="0" algn="ctr">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CAPSTONE PROJECT PHASE -1 </a:t>
            </a:r>
            <a:endParaRPr/>
          </a:p>
          <a:p>
            <a:pPr indent="0" lvl="0" marL="0" marR="0" rtl="0" algn="ctr">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Review - I</a:t>
            </a:r>
            <a:endParaRPr b="1" i="0" sz="2600" u="none" cap="none" strike="noStrike">
              <a:solidFill>
                <a:schemeClr val="dk2"/>
              </a:solidFill>
              <a:latin typeface="Libre Baskerville"/>
              <a:ea typeface="Libre Baskerville"/>
              <a:cs typeface="Libre Baskerville"/>
              <a:sym typeface="Libre Baskerville"/>
            </a:endParaRPr>
          </a:p>
        </p:txBody>
      </p:sp>
      <p:pic>
        <p:nvPicPr>
          <p:cNvPr descr="Related image" id="115" name="Google Shape;115;p14"/>
          <p:cNvPicPr preferRelativeResize="0"/>
          <p:nvPr/>
        </p:nvPicPr>
        <p:blipFill rotWithShape="1">
          <a:blip r:embed="rId3">
            <a:alphaModFix/>
          </a:blip>
          <a:srcRect b="0" l="0" r="0" t="0"/>
          <a:stretch/>
        </p:blipFill>
        <p:spPr>
          <a:xfrm>
            <a:off x="456134" y="195450"/>
            <a:ext cx="1019522" cy="992334"/>
          </a:xfrm>
          <a:prstGeom prst="rect">
            <a:avLst/>
          </a:prstGeom>
          <a:noFill/>
          <a:ln>
            <a:noFill/>
          </a:ln>
        </p:spPr>
      </p:pic>
      <p:sp>
        <p:nvSpPr>
          <p:cNvPr id="116" name="Google Shape;116;p14"/>
          <p:cNvSpPr/>
          <p:nvPr/>
        </p:nvSpPr>
        <p:spPr>
          <a:xfrm>
            <a:off x="179496" y="3074525"/>
            <a:ext cx="4348500" cy="229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Batch No:-</a:t>
            </a:r>
            <a:r>
              <a:rPr b="0" i="0" lang="en-US" sz="1800" u="none" cap="none" strike="noStrike">
                <a:solidFill>
                  <a:srgbClr val="000000"/>
                </a:solidFill>
                <a:latin typeface="Arial"/>
                <a:ea typeface="Arial"/>
                <a:cs typeface="Arial"/>
                <a:sym typeface="Arial"/>
              </a:rPr>
              <a:t> 25</a:t>
            </a:r>
            <a:endParaRPr b="0" i="0" sz="1800" u="none" cap="none" strike="noStrike">
              <a:solidFill>
                <a:srgbClr val="000000"/>
              </a:solidFill>
              <a:latin typeface="Arial"/>
              <a:ea typeface="Arial"/>
              <a:cs typeface="Arial"/>
              <a:sym typeface="Arial"/>
            </a:endParaRPr>
          </a:p>
          <a:p>
            <a:pPr indent="0" lvl="0" marL="0" marR="0" rtl="0" algn="l">
              <a:spcBef>
                <a:spcPts val="0"/>
              </a:spcBef>
              <a:spcAft>
                <a:spcPts val="0"/>
              </a:spcAft>
              <a:buClr>
                <a:srgbClr val="000000"/>
              </a:buClr>
              <a:buSzPts val="1800"/>
              <a:buFont typeface="Arial"/>
              <a:buNone/>
            </a:pPr>
            <a:r>
              <a:t/>
            </a:r>
            <a:endParaRPr sz="1800"/>
          </a:p>
          <a:p>
            <a:pPr indent="0" lvl="0" marL="0" marR="0" rtl="0" algn="l">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Project Team  Members: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spcBef>
                <a:spcPts val="0"/>
              </a:spcBef>
              <a:spcAft>
                <a:spcPts val="0"/>
              </a:spcAft>
              <a:buClr>
                <a:schemeClr val="dk1"/>
              </a:buClr>
              <a:buSzPts val="1800"/>
              <a:buFont typeface="Libre Baskerville"/>
              <a:buNone/>
            </a:pPr>
            <a:r>
              <a:t/>
            </a:r>
            <a:endParaRPr b="0" i="0" sz="1800" u="none" cap="none" strike="noStrike">
              <a:solidFill>
                <a:srgbClr val="000000"/>
              </a:solidFill>
              <a:latin typeface="Arial"/>
              <a:ea typeface="Arial"/>
              <a:cs typeface="Arial"/>
              <a:sym typeface="Arial"/>
            </a:endParaRPr>
          </a:p>
          <a:p>
            <a:pPr indent="0" lvl="0" marL="0" marR="0" rtl="0" algn="l">
              <a:spcBef>
                <a:spcPts val="0"/>
              </a:spcBef>
              <a:spcAft>
                <a:spcPts val="0"/>
              </a:spcAft>
              <a:buClr>
                <a:srgbClr val="3F3F3F"/>
              </a:buClr>
              <a:buSzPts val="1800"/>
              <a:buFont typeface="Calibri"/>
              <a:buNone/>
            </a:pPr>
            <a:r>
              <a:rPr b="1" lang="en-US" sz="1800">
                <a:solidFill>
                  <a:srgbClr val="3F3F3F"/>
                </a:solidFill>
                <a:latin typeface="Calibri"/>
                <a:ea typeface="Calibri"/>
                <a:cs typeface="Calibri"/>
                <a:sym typeface="Calibri"/>
              </a:rPr>
              <a:t>Prateek M Gummaraju</a:t>
            </a:r>
            <a:r>
              <a:rPr b="1" i="0" lang="en-US" sz="1800" u="none" cap="none" strike="noStrike">
                <a:solidFill>
                  <a:srgbClr val="3F3F3F"/>
                </a:solidFill>
                <a:latin typeface="Calibri"/>
                <a:ea typeface="Calibri"/>
                <a:cs typeface="Calibri"/>
                <a:sym typeface="Calibri"/>
              </a:rPr>
              <a:t> </a:t>
            </a:r>
            <a:r>
              <a:rPr b="1" lang="en-US" sz="1800">
                <a:solidFill>
                  <a:srgbClr val="3F3F3F"/>
                </a:solidFill>
                <a:latin typeface="Calibri"/>
                <a:ea typeface="Calibri"/>
                <a:cs typeface="Calibri"/>
                <a:sym typeface="Calibri"/>
              </a:rPr>
              <a:t>(1BM19IS117)</a:t>
            </a:r>
            <a:endParaRPr/>
          </a:p>
          <a:p>
            <a:pPr indent="0" lvl="0" marL="0" marR="0" rtl="0" algn="l">
              <a:spcBef>
                <a:spcPts val="0"/>
              </a:spcBef>
              <a:spcAft>
                <a:spcPts val="0"/>
              </a:spcAft>
              <a:buClr>
                <a:srgbClr val="3F3F3F"/>
              </a:buClr>
              <a:buSzPts val="1800"/>
              <a:buFont typeface="Calibri"/>
              <a:buNone/>
            </a:pPr>
            <a:r>
              <a:rPr b="1" lang="en-US" sz="1800">
                <a:solidFill>
                  <a:srgbClr val="3F3F3F"/>
                </a:solidFill>
                <a:latin typeface="Calibri"/>
                <a:ea typeface="Calibri"/>
                <a:cs typeface="Calibri"/>
                <a:sym typeface="Calibri"/>
              </a:rPr>
              <a:t>Ruchi Agarwal </a:t>
            </a:r>
            <a:r>
              <a:rPr b="1" i="0" lang="en-US" sz="1800" u="none" cap="none" strike="noStrike">
                <a:solidFill>
                  <a:srgbClr val="3F3F3F"/>
                </a:solidFill>
                <a:latin typeface="Calibri"/>
                <a:ea typeface="Calibri"/>
                <a:cs typeface="Calibri"/>
                <a:sym typeface="Calibri"/>
              </a:rPr>
              <a:t>(</a:t>
            </a:r>
            <a:r>
              <a:rPr b="1" lang="en-US" sz="1800">
                <a:solidFill>
                  <a:srgbClr val="3F3F3F"/>
                </a:solidFill>
                <a:latin typeface="Calibri"/>
                <a:ea typeface="Calibri"/>
                <a:cs typeface="Calibri"/>
                <a:sym typeface="Calibri"/>
              </a:rPr>
              <a:t>1BM19IS133</a:t>
            </a:r>
            <a:r>
              <a:rPr b="1" i="0" lang="en-US" sz="1800" u="none" cap="none" strike="noStrike">
                <a:solidFill>
                  <a:srgbClr val="3F3F3F"/>
                </a:solidFill>
                <a:latin typeface="Calibri"/>
                <a:ea typeface="Calibri"/>
                <a:cs typeface="Calibri"/>
                <a:sym typeface="Calibri"/>
              </a:rPr>
              <a:t>)</a:t>
            </a:r>
            <a:endParaRPr/>
          </a:p>
          <a:p>
            <a:pPr indent="0" lvl="0" marL="0" marR="0" rtl="0" algn="l">
              <a:spcBef>
                <a:spcPts val="0"/>
              </a:spcBef>
              <a:spcAft>
                <a:spcPts val="0"/>
              </a:spcAft>
              <a:buNone/>
            </a:pPr>
            <a:r>
              <a:rPr b="1" lang="en-US" sz="1800">
                <a:solidFill>
                  <a:srgbClr val="3F3F3F"/>
                </a:solidFill>
                <a:latin typeface="Calibri"/>
                <a:ea typeface="Calibri"/>
                <a:cs typeface="Calibri"/>
                <a:sym typeface="Calibri"/>
              </a:rPr>
              <a:t>Samartha S </a:t>
            </a:r>
            <a:r>
              <a:rPr b="1" i="0" lang="en-US" sz="1800" u="none" cap="none" strike="noStrike">
                <a:solidFill>
                  <a:srgbClr val="3F3F3F"/>
                </a:solidFill>
                <a:latin typeface="Calibri"/>
                <a:ea typeface="Calibri"/>
                <a:cs typeface="Calibri"/>
                <a:sym typeface="Calibri"/>
              </a:rPr>
              <a:t>(</a:t>
            </a:r>
            <a:r>
              <a:rPr b="1" lang="en-US" sz="1800">
                <a:solidFill>
                  <a:srgbClr val="3F3F3F"/>
                </a:solidFill>
                <a:latin typeface="Calibri"/>
                <a:ea typeface="Calibri"/>
                <a:cs typeface="Calibri"/>
                <a:sym typeface="Calibri"/>
              </a:rPr>
              <a:t>1BM19IS219</a:t>
            </a:r>
            <a:r>
              <a:rPr b="1" i="0" lang="en-US" sz="1800" u="none" cap="none" strike="noStrike">
                <a:solidFill>
                  <a:srgbClr val="3F3F3F"/>
                </a:solidFill>
                <a:latin typeface="Calibri"/>
                <a:ea typeface="Calibri"/>
                <a:cs typeface="Calibri"/>
                <a:sym typeface="Calibri"/>
              </a:rPr>
              <a:t>)</a:t>
            </a:r>
            <a:endParaRPr/>
          </a:p>
          <a:p>
            <a:pPr indent="0" lvl="0" marL="0" marR="0" rtl="0" algn="l">
              <a:spcBef>
                <a:spcPts val="0"/>
              </a:spcBef>
              <a:spcAft>
                <a:spcPts val="0"/>
              </a:spcAft>
              <a:buClr>
                <a:schemeClr val="dk1"/>
              </a:buClr>
              <a:buSzPts val="1800"/>
              <a:buFont typeface="Libre Baskerville"/>
              <a:buNone/>
            </a:pPr>
            <a:r>
              <a:t/>
            </a:r>
            <a:endParaRPr b="0" i="0" sz="1800" u="none" cap="none" strike="noStrike">
              <a:solidFill>
                <a:srgbClr val="404040"/>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txBox="1"/>
          <p:nvPr>
            <p:ph type="title"/>
          </p:nvPr>
        </p:nvSpPr>
        <p:spPr>
          <a:xfrm>
            <a:off x="611560" y="116632"/>
            <a:ext cx="7772400" cy="720080"/>
          </a:xfrm>
          <a:prstGeom prst="rect">
            <a:avLst/>
          </a:prstGeom>
          <a:noFill/>
          <a:ln>
            <a:noFill/>
          </a:ln>
        </p:spPr>
        <p:txBody>
          <a:bodyPr anchorCtr="0" anchor="b" bIns="91425" lIns="91425" spcFirstLastPara="1" rIns="91425" wrap="square" tIns="45700">
            <a:normAutofit fontScale="90000"/>
          </a:bodyPr>
          <a:lstStyle/>
          <a:p>
            <a:pPr indent="0" lvl="0" marL="0" rtl="0" algn="ctr">
              <a:spcBef>
                <a:spcPts val="0"/>
              </a:spcBef>
              <a:spcAft>
                <a:spcPts val="0"/>
              </a:spcAft>
              <a:buClr>
                <a:schemeClr val="dk2"/>
              </a:buClr>
              <a:buSzPct val="100000"/>
              <a:buFont typeface="Libre Franklin"/>
              <a:buNone/>
            </a:pPr>
            <a:r>
              <a:rPr lang="en-US"/>
              <a:t>AGENDA</a:t>
            </a:r>
            <a:endParaRPr/>
          </a:p>
        </p:txBody>
      </p:sp>
      <p:sp>
        <p:nvSpPr>
          <p:cNvPr id="122" name="Google Shape;122;p15"/>
          <p:cNvSpPr txBox="1"/>
          <p:nvPr>
            <p:ph idx="1" type="body"/>
          </p:nvPr>
        </p:nvSpPr>
        <p:spPr>
          <a:xfrm>
            <a:off x="251520" y="980728"/>
            <a:ext cx="8784976" cy="5039072"/>
          </a:xfrm>
          <a:prstGeom prst="rect">
            <a:avLst/>
          </a:prstGeom>
          <a:noFill/>
          <a:ln>
            <a:noFill/>
          </a:ln>
        </p:spPr>
        <p:txBody>
          <a:bodyPr anchorCtr="0" anchor="t" bIns="45700" lIns="91425" spcFirstLastPara="1" rIns="91425" wrap="square" tIns="45700">
            <a:normAutofit/>
          </a:bodyPr>
          <a:lstStyle/>
          <a:p>
            <a:pPr indent="-133985" lvl="0" marL="274320" rtl="0" algn="l">
              <a:spcBef>
                <a:spcPts val="0"/>
              </a:spcBef>
              <a:spcAft>
                <a:spcPts val="0"/>
              </a:spcAft>
              <a:buSzPts val="2210"/>
              <a:buNone/>
            </a:pPr>
            <a:r>
              <a:t/>
            </a:r>
            <a:endParaRPr/>
          </a:p>
          <a:p>
            <a:pPr indent="-274320" lvl="0" marL="274320" rtl="0" algn="l">
              <a:spcBef>
                <a:spcPts val="580"/>
              </a:spcBef>
              <a:spcAft>
                <a:spcPts val="0"/>
              </a:spcAft>
              <a:buSzPts val="2210"/>
              <a:buChar char="⚫"/>
            </a:pPr>
            <a:r>
              <a:rPr lang="en-US">
                <a:latin typeface="Arial"/>
                <a:ea typeface="Arial"/>
                <a:cs typeface="Arial"/>
                <a:sym typeface="Arial"/>
              </a:rPr>
              <a:t>Introduction</a:t>
            </a:r>
            <a:endParaRPr/>
          </a:p>
          <a:p>
            <a:pPr indent="-274320" lvl="0" marL="274320" rtl="0" algn="l">
              <a:spcBef>
                <a:spcPts val="580"/>
              </a:spcBef>
              <a:spcAft>
                <a:spcPts val="0"/>
              </a:spcAft>
              <a:buSzPts val="2210"/>
              <a:buChar char="⚫"/>
            </a:pPr>
            <a:r>
              <a:rPr lang="en-US">
                <a:latin typeface="Arial"/>
                <a:ea typeface="Arial"/>
                <a:cs typeface="Arial"/>
                <a:sym typeface="Arial"/>
              </a:rPr>
              <a:t>Motivation</a:t>
            </a:r>
            <a:endParaRPr/>
          </a:p>
          <a:p>
            <a:pPr indent="-274320" lvl="0" marL="274320" rtl="0" algn="l">
              <a:spcBef>
                <a:spcPts val="580"/>
              </a:spcBef>
              <a:spcAft>
                <a:spcPts val="0"/>
              </a:spcAft>
              <a:buSzPts val="2210"/>
              <a:buChar char="⚫"/>
            </a:pPr>
            <a:r>
              <a:rPr lang="en-US">
                <a:latin typeface="Arial"/>
                <a:ea typeface="Arial"/>
                <a:cs typeface="Arial"/>
                <a:sym typeface="Arial"/>
              </a:rPr>
              <a:t>Literature Survey</a:t>
            </a:r>
            <a:endParaRPr/>
          </a:p>
          <a:p>
            <a:pPr indent="-274320" lvl="0" marL="274320" rtl="0" algn="l">
              <a:spcBef>
                <a:spcPts val="580"/>
              </a:spcBef>
              <a:spcAft>
                <a:spcPts val="0"/>
              </a:spcAft>
              <a:buSzPts val="2210"/>
              <a:buChar char="⚫"/>
            </a:pPr>
            <a:r>
              <a:rPr lang="en-US">
                <a:latin typeface="Arial"/>
                <a:ea typeface="Arial"/>
                <a:cs typeface="Arial"/>
                <a:sym typeface="Arial"/>
              </a:rPr>
              <a:t>Problem Statement</a:t>
            </a:r>
            <a:endParaRPr>
              <a:latin typeface="Arial"/>
              <a:ea typeface="Arial"/>
              <a:cs typeface="Arial"/>
              <a:sym typeface="Arial"/>
            </a:endParaRPr>
          </a:p>
          <a:p>
            <a:pPr indent="-274320" lvl="0" marL="274320" rtl="0" algn="l">
              <a:spcBef>
                <a:spcPts val="580"/>
              </a:spcBef>
              <a:spcAft>
                <a:spcPts val="0"/>
              </a:spcAft>
              <a:buSzPts val="2210"/>
              <a:buChar char="⚫"/>
            </a:pPr>
            <a:r>
              <a:rPr lang="en-US">
                <a:latin typeface="Arial"/>
                <a:ea typeface="Arial"/>
                <a:cs typeface="Arial"/>
                <a:sym typeface="Arial"/>
              </a:rPr>
              <a:t>Objective</a:t>
            </a:r>
            <a:endParaRPr>
              <a:latin typeface="Arial"/>
              <a:ea typeface="Arial"/>
              <a:cs typeface="Arial"/>
              <a:sym typeface="Arial"/>
            </a:endParaRPr>
          </a:p>
          <a:p>
            <a:pPr indent="-274320" lvl="0" marL="274320" rtl="0" algn="l">
              <a:spcBef>
                <a:spcPts val="580"/>
              </a:spcBef>
              <a:spcAft>
                <a:spcPts val="0"/>
              </a:spcAft>
              <a:buSzPts val="2210"/>
              <a:buChar char="⚫"/>
            </a:pPr>
            <a:r>
              <a:rPr lang="en-US">
                <a:latin typeface="Arial"/>
                <a:ea typeface="Arial"/>
                <a:cs typeface="Arial"/>
                <a:sym typeface="Arial"/>
              </a:rPr>
              <a:t>References</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6"/>
          <p:cNvSpPr txBox="1"/>
          <p:nvPr>
            <p:ph idx="12" type="sldNum"/>
          </p:nvPr>
        </p:nvSpPr>
        <p:spPr>
          <a:xfrm>
            <a:off x="511175" y="5670550"/>
            <a:ext cx="585788" cy="27305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4</a:t>
            </a:r>
            <a:endParaRPr/>
          </a:p>
        </p:txBody>
      </p:sp>
      <p:sp>
        <p:nvSpPr>
          <p:cNvPr id="128" name="Google Shape;128;p16"/>
          <p:cNvSpPr txBox="1"/>
          <p:nvPr>
            <p:ph idx="1" type="body"/>
          </p:nvPr>
        </p:nvSpPr>
        <p:spPr>
          <a:xfrm>
            <a:off x="1096964" y="404664"/>
            <a:ext cx="6908947" cy="609157"/>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Introduction</a:t>
            </a:r>
            <a:endParaRPr sz="3600">
              <a:solidFill>
                <a:schemeClr val="dk2"/>
              </a:solidFill>
              <a:latin typeface="Libre Franklin"/>
              <a:ea typeface="Libre Franklin"/>
              <a:cs typeface="Libre Franklin"/>
              <a:sym typeface="Libre Franklin"/>
            </a:endParaRPr>
          </a:p>
        </p:txBody>
      </p:sp>
      <p:sp>
        <p:nvSpPr>
          <p:cNvPr id="129" name="Google Shape;129;p16"/>
          <p:cNvSpPr txBox="1"/>
          <p:nvPr/>
        </p:nvSpPr>
        <p:spPr>
          <a:xfrm>
            <a:off x="940501" y="1070164"/>
            <a:ext cx="7263000" cy="71574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lang="en-US" sz="1200">
                <a:solidFill>
                  <a:schemeClr val="dk1"/>
                </a:solidFill>
                <a:latin typeface="Times New Roman"/>
                <a:ea typeface="Times New Roman"/>
                <a:cs typeface="Times New Roman"/>
                <a:sym typeface="Times New Roman"/>
              </a:rPr>
              <a:t>Air pollution is the presence of compounds in the atmosphere that are hazardous to human beings and the health of other living organisms, or that can impair climate and materials. Chemical compounds such as carbon monoxide, ozone, nitrogen dioxide etc, are common air pollutants and they lower the quality of air.</a:t>
            </a:r>
            <a:br>
              <a:rPr lang="en-US" sz="1200">
                <a:solidFill>
                  <a:schemeClr val="dk1"/>
                </a:solidFill>
                <a:latin typeface="Times New Roman"/>
                <a:ea typeface="Times New Roman"/>
                <a:cs typeface="Times New Roman"/>
                <a:sym typeface="Times New Roman"/>
              </a:rPr>
            </a:br>
            <a:r>
              <a:rPr lang="en-US" sz="1200">
                <a:solidFill>
                  <a:schemeClr val="dk1"/>
                </a:solidFill>
                <a:latin typeface="Times New Roman"/>
                <a:ea typeface="Times New Roman"/>
                <a:cs typeface="Times New Roman"/>
                <a:sym typeface="Times New Roman"/>
              </a:rPr>
              <a:t>In many industrial and urban areas today, maintaining and monitoring air quality has become a top priority. Numerous elements, such as time, location, and uncertain variables have an impact on air quality. Due to the rising levels of air pollution, there is a great need to implement effective air quality monitoring systems that gather data on the concentration of various air pollutants and provide not only the current assessments of the level of pollution, but also predict the level of pollution in the near future. In addition to this, we find it essential to compare the pollution levels with the recommended limit given by organizations such as the World Health Organisation (WHO) and consequently provide measures to prevent the same.</a:t>
            </a: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lang="en-US" sz="1200">
                <a:solidFill>
                  <a:schemeClr val="dk1"/>
                </a:solidFill>
                <a:latin typeface="Times New Roman"/>
                <a:ea typeface="Times New Roman"/>
                <a:cs typeface="Times New Roman"/>
                <a:sym typeface="Times New Roman"/>
              </a:rPr>
              <a:t>With this project we aim to successfully demonstrate the possibility of a low cost, IOT based system built using Arduino and various sensors that not only monitors the current air quality, but also has the ability to forecast the future predictions and also provide suggestions on how to control the pollution and protect human beings from the harmful pollutants.</a:t>
            </a: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7"/>
          <p:cNvSpPr txBox="1"/>
          <p:nvPr>
            <p:ph idx="12" type="sldNum"/>
          </p:nvPr>
        </p:nvSpPr>
        <p:spPr>
          <a:xfrm>
            <a:off x="511175" y="5670550"/>
            <a:ext cx="585788" cy="27305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4</a:t>
            </a:r>
            <a:endParaRPr/>
          </a:p>
        </p:txBody>
      </p:sp>
      <p:sp>
        <p:nvSpPr>
          <p:cNvPr id="135" name="Google Shape;135;p17"/>
          <p:cNvSpPr txBox="1"/>
          <p:nvPr>
            <p:ph idx="1" type="body"/>
          </p:nvPr>
        </p:nvSpPr>
        <p:spPr>
          <a:xfrm>
            <a:off x="1096964" y="404664"/>
            <a:ext cx="6908947" cy="609157"/>
          </a:xfrm>
          <a:prstGeom prst="rect">
            <a:avLst/>
          </a:prstGeom>
          <a:noFill/>
          <a:ln>
            <a:noFill/>
          </a:ln>
        </p:spPr>
        <p:txBody>
          <a:bodyPr anchorCtr="0" anchor="t" bIns="91425" lIns="91425" spcFirstLastPara="1" rIns="91425" wrap="square" tIns="91425">
            <a:noAutofit/>
          </a:bodyPr>
          <a:lstStyle/>
          <a:p>
            <a:pPr indent="0" lvl="0" marL="228600" rtl="0" algn="ctr">
              <a:spcBef>
                <a:spcPts val="0"/>
              </a:spcBef>
              <a:spcAft>
                <a:spcPts val="0"/>
              </a:spcAft>
              <a:buSzPts val="1400"/>
              <a:buNone/>
            </a:pPr>
            <a:r>
              <a:rPr lang="en-US" sz="3600">
                <a:solidFill>
                  <a:schemeClr val="dk2"/>
                </a:solidFill>
                <a:latin typeface="Libre Franklin"/>
                <a:ea typeface="Libre Franklin"/>
                <a:cs typeface="Libre Franklin"/>
                <a:sym typeface="Libre Franklin"/>
              </a:rPr>
              <a:t>Motivation</a:t>
            </a:r>
            <a:endParaRPr/>
          </a:p>
        </p:txBody>
      </p:sp>
      <p:sp>
        <p:nvSpPr>
          <p:cNvPr id="136" name="Google Shape;136;p17"/>
          <p:cNvSpPr txBox="1"/>
          <p:nvPr/>
        </p:nvSpPr>
        <p:spPr>
          <a:xfrm>
            <a:off x="264125" y="1013825"/>
            <a:ext cx="8631600" cy="87060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342900" rtl="0" algn="just">
              <a:lnSpc>
                <a:spcPct val="125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With 7 million deaths worldwide attributed to air pollution each year, it is currently thought to be the greatest environmental health danger on the planet. Air pollution causes and aggravates a wide range of diseases like asthma, cancer, heart disease etc. </a:t>
            </a:r>
            <a:endParaRPr sz="1200">
              <a:solidFill>
                <a:schemeClr val="dk1"/>
              </a:solidFill>
              <a:latin typeface="Times New Roman"/>
              <a:ea typeface="Times New Roman"/>
              <a:cs typeface="Times New Roman"/>
              <a:sym typeface="Times New Roman"/>
            </a:endParaRPr>
          </a:p>
          <a:p>
            <a:pPr indent="0" lvl="0" marL="342900" rtl="0" algn="just">
              <a:lnSpc>
                <a:spcPct val="125000"/>
              </a:lnSpc>
              <a:spcBef>
                <a:spcPts val="0"/>
              </a:spcBef>
              <a:spcAft>
                <a:spcPts val="0"/>
              </a:spcAft>
              <a:buSzPts val="1100"/>
              <a:buNone/>
            </a:pPr>
            <a:r>
              <a:rPr lang="en-US" sz="1200">
                <a:solidFill>
                  <a:schemeClr val="dk1"/>
                </a:solidFill>
                <a:latin typeface="Times New Roman"/>
                <a:ea typeface="Times New Roman"/>
                <a:cs typeface="Times New Roman"/>
                <a:sym typeface="Times New Roman"/>
              </a:rPr>
              <a:t>Air pollution is increasing rapidly today, especially in urban and industrial areas primarily due to vehicular emissions, manufacturing facilities and industries accumulating a large number of dangerous pollutants. </a:t>
            </a:r>
            <a:br>
              <a:rPr lang="en-US" sz="1200">
                <a:solidFill>
                  <a:schemeClr val="dk1"/>
                </a:solidFill>
                <a:latin typeface="Times New Roman"/>
                <a:ea typeface="Times New Roman"/>
                <a:cs typeface="Times New Roman"/>
                <a:sym typeface="Times New Roman"/>
              </a:rPr>
            </a:br>
            <a:r>
              <a:rPr lang="en-US" sz="1200">
                <a:solidFill>
                  <a:schemeClr val="dk1"/>
                </a:solidFill>
                <a:latin typeface="Times New Roman"/>
                <a:ea typeface="Times New Roman"/>
                <a:cs typeface="Times New Roman"/>
                <a:sym typeface="Times New Roman"/>
              </a:rPr>
              <a:t>Due to the rising levels of air pollution and its adverse effects, there is a great need to implement effective air quality monitoring systems that are accurate and cost effective. We also want our system to forecast the future air quality and also provide suggestions on how to control and reduce the level of pollutants in the atmosphere. </a:t>
            </a:r>
            <a:endParaRPr sz="1200">
              <a:solidFill>
                <a:schemeClr val="dk1"/>
              </a:solidFill>
              <a:latin typeface="Times New Roman"/>
              <a:ea typeface="Times New Roman"/>
              <a:cs typeface="Times New Roman"/>
              <a:sym typeface="Times New Roman"/>
            </a:endParaRPr>
          </a:p>
          <a:p>
            <a:pPr indent="0" lvl="0" marL="342900" rtl="0" algn="just">
              <a:lnSpc>
                <a:spcPct val="125000"/>
              </a:lnSpc>
              <a:spcBef>
                <a:spcPts val="0"/>
              </a:spcBef>
              <a:spcAft>
                <a:spcPts val="0"/>
              </a:spcAft>
              <a:buSzPts val="1100"/>
              <a:buNone/>
            </a:pPr>
            <a:r>
              <a:t/>
            </a:r>
            <a:endParaRPr sz="1200">
              <a:solidFill>
                <a:schemeClr val="dk1"/>
              </a:solidFill>
              <a:latin typeface="Times New Roman"/>
              <a:ea typeface="Times New Roman"/>
              <a:cs typeface="Times New Roman"/>
              <a:sym typeface="Times New Roman"/>
            </a:endParaRPr>
          </a:p>
          <a:p>
            <a:pPr indent="0" lvl="0" marL="342900" rtl="0" algn="just">
              <a:lnSpc>
                <a:spcPct val="125000"/>
              </a:lnSpc>
              <a:spcBef>
                <a:spcPts val="0"/>
              </a:spcBef>
              <a:spcAft>
                <a:spcPts val="0"/>
              </a:spcAft>
              <a:buSzPts val="1100"/>
              <a:buNone/>
            </a:pPr>
            <a:r>
              <a:rPr b="1" lang="en-US" sz="1200" u="sng">
                <a:solidFill>
                  <a:schemeClr val="dk1"/>
                </a:solidFill>
                <a:latin typeface="Times New Roman"/>
                <a:ea typeface="Times New Roman"/>
                <a:cs typeface="Times New Roman"/>
                <a:sym typeface="Times New Roman"/>
              </a:rPr>
              <a:t>Background Work:</a:t>
            </a:r>
            <a:endParaRPr b="1" sz="1200" u="sng">
              <a:solidFill>
                <a:schemeClr val="dk1"/>
              </a:solidFill>
              <a:latin typeface="Times New Roman"/>
              <a:ea typeface="Times New Roman"/>
              <a:cs typeface="Times New Roman"/>
              <a:sym typeface="Times New Roman"/>
            </a:endParaRPr>
          </a:p>
          <a:p>
            <a:pPr indent="0" lvl="0" marL="342900" rtl="0" algn="l">
              <a:lnSpc>
                <a:spcPct val="115000"/>
              </a:lnSpc>
              <a:spcBef>
                <a:spcPts val="0"/>
              </a:spcBef>
              <a:spcAft>
                <a:spcPts val="0"/>
              </a:spcAft>
              <a:buNone/>
            </a:pPr>
            <a:r>
              <a:rPr lang="en-US" sz="1200">
                <a:solidFill>
                  <a:schemeClr val="dk1"/>
                </a:solidFill>
                <a:latin typeface="Times New Roman"/>
                <a:ea typeface="Times New Roman"/>
                <a:cs typeface="Times New Roman"/>
                <a:sym typeface="Times New Roman"/>
              </a:rPr>
              <a:t>As  part of our research leading into the project, we went through multiple research papers to understand the current State-of-the-art systems and methodologies for monitoring and predicting the Air Quality. From our research we have come to understand that the Air Quality Index as defined by WHO is segregated into buckets such as Good, Moderate, Poor, Unhealthy, Severe Hazardous.</a:t>
            </a:r>
            <a:endParaRPr sz="1200">
              <a:solidFill>
                <a:schemeClr val="dk1"/>
              </a:solidFill>
              <a:latin typeface="Times New Roman"/>
              <a:ea typeface="Times New Roman"/>
              <a:cs typeface="Times New Roman"/>
              <a:sym typeface="Times New Roman"/>
            </a:endParaRPr>
          </a:p>
          <a:p>
            <a:pPr indent="0" lvl="0" marL="3429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3429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342900" rtl="0" algn="l">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342900" rtl="0" algn="l">
              <a:lnSpc>
                <a:spcPct val="115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Diving a bit deeper into the current products in the market, we realized that the 3 main reasons the Air Pollution Monitoring systems haven’t been adopted by every organization are:</a:t>
            </a:r>
            <a:endParaRPr sz="1200">
              <a:solidFill>
                <a:schemeClr val="dk1"/>
              </a:solidFill>
              <a:latin typeface="Times New Roman"/>
              <a:ea typeface="Times New Roman"/>
              <a:cs typeface="Times New Roman"/>
              <a:sym typeface="Times New Roman"/>
            </a:endParaRPr>
          </a:p>
          <a:p>
            <a:pPr indent="-184150" lvl="0" marL="457200" rtl="0" algn="l">
              <a:lnSpc>
                <a:spcPct val="115000"/>
              </a:lnSpc>
              <a:spcBef>
                <a:spcPts val="0"/>
              </a:spcBef>
              <a:spcAft>
                <a:spcPts val="0"/>
              </a:spcAft>
              <a:buClr>
                <a:schemeClr val="dk1"/>
              </a:buClr>
              <a:buSzPts val="1100"/>
              <a:buAutoNum type="arabicParenR"/>
            </a:pPr>
            <a:r>
              <a:rPr lang="en-US" sz="1200">
                <a:solidFill>
                  <a:schemeClr val="dk1"/>
                </a:solidFill>
                <a:latin typeface="Times New Roman"/>
                <a:ea typeface="Times New Roman"/>
                <a:cs typeface="Times New Roman"/>
                <a:sym typeface="Times New Roman"/>
              </a:rPr>
              <a:t>High Costs</a:t>
            </a:r>
            <a:endParaRPr sz="1200">
              <a:solidFill>
                <a:schemeClr val="dk1"/>
              </a:solidFill>
              <a:latin typeface="Times New Roman"/>
              <a:ea typeface="Times New Roman"/>
              <a:cs typeface="Times New Roman"/>
              <a:sym typeface="Times New Roman"/>
            </a:endParaRPr>
          </a:p>
          <a:p>
            <a:pPr indent="-184150" lvl="0" marL="457200" rtl="0" algn="l">
              <a:lnSpc>
                <a:spcPct val="115000"/>
              </a:lnSpc>
              <a:spcBef>
                <a:spcPts val="0"/>
              </a:spcBef>
              <a:spcAft>
                <a:spcPts val="0"/>
              </a:spcAft>
              <a:buClr>
                <a:schemeClr val="dk1"/>
              </a:buClr>
              <a:buSzPts val="1100"/>
              <a:buAutoNum type="arabicParenR"/>
            </a:pPr>
            <a:r>
              <a:rPr lang="en-US" sz="1200">
                <a:solidFill>
                  <a:schemeClr val="dk1"/>
                </a:solidFill>
                <a:latin typeface="Times New Roman"/>
                <a:ea typeface="Times New Roman"/>
                <a:cs typeface="Times New Roman"/>
                <a:sym typeface="Times New Roman"/>
              </a:rPr>
              <a:t>Low Awareness</a:t>
            </a:r>
            <a:endParaRPr sz="1200">
              <a:solidFill>
                <a:schemeClr val="dk1"/>
              </a:solidFill>
              <a:latin typeface="Times New Roman"/>
              <a:ea typeface="Times New Roman"/>
              <a:cs typeface="Times New Roman"/>
              <a:sym typeface="Times New Roman"/>
            </a:endParaRPr>
          </a:p>
          <a:p>
            <a:pPr indent="-184150" lvl="0" marL="457200" rtl="0" algn="l">
              <a:lnSpc>
                <a:spcPct val="115000"/>
              </a:lnSpc>
              <a:spcBef>
                <a:spcPts val="0"/>
              </a:spcBef>
              <a:spcAft>
                <a:spcPts val="0"/>
              </a:spcAft>
              <a:buClr>
                <a:schemeClr val="dk1"/>
              </a:buClr>
              <a:buSzPts val="1100"/>
              <a:buAutoNum type="arabicParenR"/>
            </a:pPr>
            <a:r>
              <a:rPr lang="en-US" sz="1200">
                <a:solidFill>
                  <a:schemeClr val="dk1"/>
                </a:solidFill>
                <a:latin typeface="Times New Roman"/>
                <a:ea typeface="Times New Roman"/>
                <a:cs typeface="Times New Roman"/>
                <a:sym typeface="Times New Roman"/>
              </a:rPr>
              <a:t>Bulky Equipment</a:t>
            </a:r>
            <a:endParaRPr sz="1200">
              <a:solidFill>
                <a:schemeClr val="dk1"/>
              </a:solidFill>
              <a:latin typeface="Times New Roman"/>
              <a:ea typeface="Times New Roman"/>
              <a:cs typeface="Times New Roman"/>
              <a:sym typeface="Times New Roman"/>
            </a:endParaRPr>
          </a:p>
          <a:p>
            <a:pPr indent="342900" lvl="0" marL="0" rtl="0" algn="l">
              <a:lnSpc>
                <a:spcPct val="115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As part of our project, we aim to solve these 3 issues mainly.</a:t>
            </a:r>
            <a:endParaRPr sz="1200">
              <a:solidFill>
                <a:schemeClr val="dk1"/>
              </a:solidFill>
              <a:latin typeface="Times New Roman"/>
              <a:ea typeface="Times New Roman"/>
              <a:cs typeface="Times New Roman"/>
              <a:sym typeface="Times New Roman"/>
            </a:endParaRPr>
          </a:p>
          <a:p>
            <a:pPr indent="0" lvl="0" marL="0" marR="0" rtl="0" algn="just">
              <a:lnSpc>
                <a:spcPct val="150000"/>
              </a:lnSpc>
              <a:spcBef>
                <a:spcPts val="600"/>
              </a:spcBef>
              <a:spcAft>
                <a:spcPts val="0"/>
              </a:spcAft>
              <a:buNone/>
            </a:pPr>
            <a:r>
              <a:t/>
            </a:r>
            <a:endParaRPr sz="1800">
              <a:solidFill>
                <a:schemeClr val="dk1"/>
              </a:solidFill>
              <a:latin typeface="Arial"/>
              <a:ea typeface="Arial"/>
              <a:cs typeface="Arial"/>
              <a:sym typeface="Arial"/>
            </a:endParaRPr>
          </a:p>
          <a:p>
            <a:pPr indent="0" lvl="0" marL="0" marR="0" rtl="0" algn="just">
              <a:lnSpc>
                <a:spcPct val="150000"/>
              </a:lnSpc>
              <a:spcBef>
                <a:spcPts val="60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p:txBody>
      </p:sp>
      <p:pic>
        <p:nvPicPr>
          <p:cNvPr id="137" name="Google Shape;137;p17"/>
          <p:cNvPicPr preferRelativeResize="0"/>
          <p:nvPr/>
        </p:nvPicPr>
        <p:blipFill>
          <a:blip r:embed="rId3">
            <a:alphaModFix/>
          </a:blip>
          <a:stretch>
            <a:fillRect/>
          </a:stretch>
        </p:blipFill>
        <p:spPr>
          <a:xfrm>
            <a:off x="2141525" y="4038925"/>
            <a:ext cx="4876800" cy="419100"/>
          </a:xfrm>
          <a:prstGeom prst="rect">
            <a:avLst/>
          </a:prstGeom>
          <a:noFill/>
          <a:ln cap="flat" cmpd="sng" w="12700">
            <a:solidFill>
              <a:srgbClr val="000000"/>
            </a:solidFill>
            <a:prstDash val="solid"/>
            <a:miter lim="8000"/>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idx="1" type="body"/>
          </p:nvPr>
        </p:nvSpPr>
        <p:spPr>
          <a:xfrm>
            <a:off x="353775" y="149675"/>
            <a:ext cx="8341200" cy="67083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Temesegan Walelign Ayele, et. al “Air pollution monitoring and prediction using IoT”, on Inventive Communication and Computational Technologies (ICICCT 2018)IEEE Xplore Compliant - Part Number: CFP18BAC-ART; ISBN:978-1-5386-1974-2 – 2018</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a:t>
            </a:r>
            <a:r>
              <a:rPr lang="en-US" sz="1400"/>
              <a:t>: The system focuses on the monitoring of air pollutants focus with the combination of IoT with a machine learning algorithm called Recurrent Neural Network more specifically Long Short Term Memory (LSTM). The internet of Things (IoT) is fundamentally connecting devices with an on and off switch to the Internet (and/or to each other). This incorporates everything from mobile phones, cooking machines, lights, wearable devices and practically everything. IoT comprises of all the web- enabled devices that gather, send and follow up on information they obtain from their encompassing surroundings utilizing installed sensors, processors and correspondence equipment. These " connected " or " smart " devices, can in some cases communicate with other related devices and follow up on the data they get from each other.</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The approach is good and produces moderate results. There is no final product (IoT device) and the results aren’t properly documented. Room for improvement. Haven’t tested on real time data. </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Results: </a:t>
            </a:r>
            <a:r>
              <a:rPr lang="en-US" sz="1400"/>
              <a:t>The system utilizes air sensors to detect and transmit this data to microcontroller. Then the microcontroller stores the data into the web server. For predicting the LSTM is implemented. It has a quick convergence and reduces the training cycles with a good accuracy.</a:t>
            </a:r>
            <a:endParaRPr sz="1400"/>
          </a:p>
          <a:p>
            <a:pPr indent="0" lvl="0" marL="457200" rtl="0" algn="l">
              <a:spcBef>
                <a:spcPts val="580"/>
              </a:spcBef>
              <a:spcAft>
                <a:spcPts val="0"/>
              </a:spcAft>
              <a:buNone/>
            </a:pPr>
            <a:r>
              <a:t/>
            </a:r>
            <a:endParaRPr sz="1400"/>
          </a:p>
          <a:p>
            <a:pPr indent="0" lvl="0" marL="457200" rtl="0" algn="l">
              <a:spcBef>
                <a:spcPts val="580"/>
              </a:spcBef>
              <a:spcAft>
                <a:spcPts val="0"/>
              </a:spcAft>
              <a:buNone/>
            </a:pPr>
            <a:r>
              <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9"/>
          <p:cNvSpPr txBox="1"/>
          <p:nvPr>
            <p:ph idx="1" type="body"/>
          </p:nvPr>
        </p:nvSpPr>
        <p:spPr>
          <a:xfrm>
            <a:off x="258525" y="190500"/>
            <a:ext cx="8428200" cy="64089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Ssneha Balasubramanian et al. “Air Pollution Monitoring and Prediction Using IoT and Machine Learning”, IJCSIT, 2021.</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 </a:t>
            </a:r>
            <a:r>
              <a:rPr lang="en-US" sz="1400"/>
              <a:t>In this paper they have proposed an IoT system which uses various sensors like MQ135 sensor, MQ131 sensor, PM2.5 sensor that will forest record the current levels of concentration of various pollutants and then forecast the AQI for the next 5 hours using Linear Regression, Support Vector Regression, SARIMAX and stacked ensemble model.</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Various Machine Learning models such as Linear Regression model, Support Vector Regression model, SARIMAX time series model and Stacking ensemble model are used to forecast the AQI values for the next five hours. By comparing the Root Mean Squared Error values of all the models, it can be seen that the Stacking Ensemble model has the lowest RMSE value.</a:t>
            </a:r>
            <a:endParaRPr sz="1400"/>
          </a:p>
          <a:p>
            <a:pPr indent="0" lvl="0" marL="0" rtl="0" algn="l">
              <a:spcBef>
                <a:spcPts val="580"/>
              </a:spcBef>
              <a:spcAft>
                <a:spcPts val="0"/>
              </a:spcAft>
              <a:buNone/>
            </a:pPr>
            <a:r>
              <a:rPr lang="en-US" sz="1400"/>
              <a:t> </a:t>
            </a:r>
            <a:endParaRPr sz="1400"/>
          </a:p>
          <a:p>
            <a:pPr indent="-317500" lvl="0" marL="457200" rtl="0" algn="l">
              <a:spcBef>
                <a:spcPts val="580"/>
              </a:spcBef>
              <a:spcAft>
                <a:spcPts val="0"/>
              </a:spcAft>
              <a:buSzPts val="1400"/>
              <a:buChar char="⚫"/>
            </a:pPr>
            <a:r>
              <a:rPr b="1" lang="en-US" sz="1400"/>
              <a:t>Result: </a:t>
            </a:r>
            <a:r>
              <a:rPr lang="en-US" sz="1400"/>
              <a:t>The stacking ensemble model gave the highest accuracy and lowest error rate. </a:t>
            </a:r>
            <a:endParaRPr sz="1400"/>
          </a:p>
          <a:p>
            <a:pPr indent="0" lvl="0" marL="0" rtl="0" algn="l">
              <a:spcBef>
                <a:spcPts val="580"/>
              </a:spcBef>
              <a:spcAft>
                <a:spcPts val="0"/>
              </a:spcAft>
              <a:buNone/>
            </a:pPr>
            <a:r>
              <a:t/>
            </a:r>
            <a:endParaRPr b="1" sz="1400"/>
          </a:p>
          <a:p>
            <a:pPr indent="0" lvl="0" marL="457200" rtl="0" algn="l">
              <a:spcBef>
                <a:spcPts val="580"/>
              </a:spcBef>
              <a:spcAft>
                <a:spcPts val="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idx="1" type="body"/>
          </p:nvPr>
        </p:nvSpPr>
        <p:spPr>
          <a:xfrm>
            <a:off x="258525" y="190500"/>
            <a:ext cx="8428200" cy="64089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T.S. Kitchilan et al M.D.B.C.K. Abeyratne “Air Quality Monitoring And Prediction Using IOT And Machine Learning Approaches” ,IJSRP,2022</a:t>
            </a:r>
            <a:endParaRPr sz="1400"/>
          </a:p>
          <a:p>
            <a:pPr indent="0" lvl="0" marL="457200" rtl="0" algn="l">
              <a:spcBef>
                <a:spcPts val="580"/>
              </a:spcBef>
              <a:spcAft>
                <a:spcPts val="0"/>
              </a:spcAft>
              <a:buNone/>
            </a:pPr>
            <a:r>
              <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a:t>
            </a:r>
            <a:r>
              <a:rPr lang="en-US" sz="1400"/>
              <a:t> In this study an air quality monitoring device using arduino based sensors was developed to capture air quality parameters followed by the calibration of sensors to improve accuracy. Using data from the air quality monitor over 3 months, forecast models for pollutant concentrations were built using random forest as the base model to forecast PM2.5 air quality index.</a:t>
            </a:r>
            <a:endParaRPr sz="1400"/>
          </a:p>
          <a:p>
            <a:pPr indent="0" lvl="0" marL="457200" rtl="0" algn="l">
              <a:spcBef>
                <a:spcPts val="580"/>
              </a:spcBef>
              <a:spcAft>
                <a:spcPts val="0"/>
              </a:spcAft>
              <a:buNone/>
            </a:pPr>
            <a:r>
              <a:t/>
            </a:r>
            <a:endParaRPr b="1"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The IoT device developed performed with a significant improvement in accuracy after calibration of sensors. Using random forest prediction model as base model outperformed the linear regression, decision tree and neural network models in prediction accuracy while the runtime performance improved significantly with split data technique and Bayesian approach used for parameter tuning.</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Result:</a:t>
            </a:r>
            <a:r>
              <a:rPr lang="en-US" sz="1400"/>
              <a:t> Testing and validation carried out for the device provided with an overall accuracy of ~ 91%. The developed air quality system shows an improvement in accuracy by approximately 6%-11% which shows that the calibration procedures followed during the study has had a positive impact.</a:t>
            </a:r>
            <a:endParaRPr sz="1400"/>
          </a:p>
          <a:p>
            <a:pPr indent="0" lvl="0" marL="0" rtl="0" algn="l">
              <a:spcBef>
                <a:spcPts val="580"/>
              </a:spcBef>
              <a:spcAft>
                <a:spcPts val="0"/>
              </a:spcAft>
              <a:buNone/>
            </a:pPr>
            <a:r>
              <a:t/>
            </a:r>
            <a:endParaRPr b="1" sz="1400"/>
          </a:p>
          <a:p>
            <a:pPr indent="0" lvl="0" marL="457200" rtl="0" algn="l">
              <a:spcBef>
                <a:spcPts val="580"/>
              </a:spcBef>
              <a:spcAft>
                <a:spcPts val="0"/>
              </a:spcAft>
              <a:buNone/>
            </a:pPr>
            <a:r>
              <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1"/>
          <p:cNvSpPr txBox="1"/>
          <p:nvPr>
            <p:ph idx="1" type="body"/>
          </p:nvPr>
        </p:nvSpPr>
        <p:spPr>
          <a:xfrm>
            <a:off x="0" y="81650"/>
            <a:ext cx="8686800" cy="6858000"/>
          </a:xfrm>
          <a:prstGeom prst="rect">
            <a:avLst/>
          </a:prstGeom>
        </p:spPr>
        <p:txBody>
          <a:bodyPr anchorCtr="0" anchor="t" bIns="45700" lIns="91425" spcFirstLastPara="1" rIns="91425" wrap="square" tIns="45700">
            <a:normAutofit lnSpcReduction="10000"/>
          </a:bodyPr>
          <a:lstStyle/>
          <a:p>
            <a:pPr indent="-317500" lvl="0" marL="457200" rtl="0" algn="l">
              <a:spcBef>
                <a:spcPts val="580"/>
              </a:spcBef>
              <a:spcAft>
                <a:spcPts val="0"/>
              </a:spcAft>
              <a:buSzPts val="1400"/>
              <a:buChar char="⚫"/>
            </a:pPr>
            <a:r>
              <a:rPr lang="en-US" sz="1400"/>
              <a:t>Sachin Bhimrao Bhoite et al. “Air Quality Prediction using Machine Learning Algorithms”, International Journal of Computer Applications Technology and Research Volume 8–Issue 09, 367-370, 2019, ISSN:-2319–8656, 2019</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 </a:t>
            </a:r>
            <a:r>
              <a:rPr lang="en-US" sz="1400"/>
              <a:t>Examining and protecting air quality has become one of the most essential activities for the government in many industrial and urban areas today. The meteorological and traffic factors, burning of fossil fuels, and industrial parameters play significant roles in air pollution.With this increasing air pollution,a need of implementing models which will record information about concentrations of air pollutants(so2,no2,etc). The dataset found on Kaggle is split into Train, Validation and Test in ratio 0.8:0.2:0.2. The data was analysed and a time series model was built. The models usd were Auto Regressive models and ARIMA.</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The dataset used can be found on Kaggle. The model is giving a Mean Squared Error of 166.358.  The paper does it only for Maharashtra region and not the whole country.</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Results: </a:t>
            </a:r>
            <a:r>
              <a:rPr lang="en-US" sz="1400"/>
              <a:t>Test MSE: 166.358</a:t>
            </a:r>
            <a:endParaRPr sz="1400"/>
          </a:p>
          <a:p>
            <a:pPr indent="0" lvl="0" marL="457200" rtl="0" algn="l">
              <a:spcBef>
                <a:spcPts val="580"/>
              </a:spcBef>
              <a:spcAft>
                <a:spcPts val="0"/>
              </a:spcAft>
              <a:buNone/>
            </a:pPr>
            <a:r>
              <a:rPr lang="en-US" sz="1400"/>
              <a:t>Autoregression is a time series model that uses observations from previous time steps as input to a regression equation to predict the value at the next time step. It is a very simple idea that can result in accurate forecasts on a range of time series problems.</a:t>
            </a:r>
            <a:endParaRPr sz="1400"/>
          </a:p>
          <a:p>
            <a:pPr indent="0" lvl="0" marL="457200" rtl="0" algn="l">
              <a:spcBef>
                <a:spcPts val="580"/>
              </a:spcBef>
              <a:spcAft>
                <a:spcPts val="0"/>
              </a:spcAft>
              <a:buNone/>
            </a:pPr>
            <a:r>
              <a:t/>
            </a:r>
            <a:endParaRPr sz="1400"/>
          </a:p>
          <a:p>
            <a:pPr indent="0" lvl="0" marL="457200" rtl="0" algn="l">
              <a:spcBef>
                <a:spcPts val="580"/>
              </a:spcBef>
              <a:spcAft>
                <a:spcPts val="0"/>
              </a:spcAft>
              <a:buClr>
                <a:schemeClr val="dk1"/>
              </a:buClr>
              <a:buSzPts val="1100"/>
              <a:buFont typeface="Arial"/>
              <a:buNone/>
            </a:pPr>
            <a:r>
              <a:rPr lang="en-US" sz="1400"/>
              <a:t>An ARIMA model is a class of statistical models for</a:t>
            </a:r>
            <a:endParaRPr sz="1400"/>
          </a:p>
          <a:p>
            <a:pPr indent="0" lvl="0" marL="457200" rtl="0" algn="l">
              <a:spcBef>
                <a:spcPts val="580"/>
              </a:spcBef>
              <a:spcAft>
                <a:spcPts val="0"/>
              </a:spcAft>
              <a:buClr>
                <a:schemeClr val="dk1"/>
              </a:buClr>
              <a:buSzPts val="1100"/>
              <a:buFont typeface="Arial"/>
              <a:buNone/>
            </a:pPr>
            <a:r>
              <a:rPr lang="en-US" sz="1400"/>
              <a:t>analyzing and forecasting time series data.</a:t>
            </a:r>
            <a:endParaRPr sz="1400"/>
          </a:p>
          <a:p>
            <a:pPr indent="0" lvl="0" marL="457200" rtl="0" algn="l">
              <a:spcBef>
                <a:spcPts val="580"/>
              </a:spcBef>
              <a:spcAft>
                <a:spcPts val="0"/>
              </a:spcAft>
              <a:buClr>
                <a:schemeClr val="dk1"/>
              </a:buClr>
              <a:buSzPts val="1100"/>
              <a:buFont typeface="Arial"/>
              <a:buNone/>
            </a:pPr>
            <a:r>
              <a:rPr lang="en-US" sz="1400"/>
              <a:t>ARIMA is a generalization of the simpler AutoRegressive</a:t>
            </a:r>
            <a:endParaRPr sz="1400"/>
          </a:p>
          <a:p>
            <a:pPr indent="0" lvl="0" marL="457200" rtl="0" algn="l">
              <a:spcBef>
                <a:spcPts val="580"/>
              </a:spcBef>
              <a:spcAft>
                <a:spcPts val="0"/>
              </a:spcAft>
              <a:buClr>
                <a:schemeClr val="dk1"/>
              </a:buClr>
              <a:buSzPts val="1100"/>
              <a:buFont typeface="Arial"/>
              <a:buNone/>
            </a:pPr>
            <a:r>
              <a:rPr lang="en-US" sz="1400"/>
              <a:t>Moving Average and adds the notion of integration.</a:t>
            </a:r>
            <a:endParaRPr sz="1400"/>
          </a:p>
          <a:p>
            <a:pPr indent="0" lvl="0" marL="457200" rtl="0" algn="l">
              <a:spcBef>
                <a:spcPts val="580"/>
              </a:spcBef>
              <a:spcAft>
                <a:spcPts val="0"/>
              </a:spcAft>
              <a:buNone/>
            </a:pPr>
            <a:r>
              <a:t/>
            </a:r>
            <a:endParaRPr sz="1400"/>
          </a:p>
          <a:p>
            <a:pPr indent="0" lvl="0" marL="457200" rtl="0" algn="l">
              <a:spcBef>
                <a:spcPts val="580"/>
              </a:spcBef>
              <a:spcAft>
                <a:spcPts val="0"/>
              </a:spcAft>
              <a:buNone/>
            </a:pPr>
            <a:r>
              <a:t/>
            </a:r>
            <a:endParaRPr sz="1400"/>
          </a:p>
          <a:p>
            <a:pPr indent="0" lvl="0" marL="457200" rtl="0" algn="l">
              <a:spcBef>
                <a:spcPts val="580"/>
              </a:spcBef>
              <a:spcAft>
                <a:spcPts val="0"/>
              </a:spcAft>
              <a:buNone/>
            </a:pPr>
            <a:r>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2"/>
          <p:cNvSpPr txBox="1"/>
          <p:nvPr>
            <p:ph idx="1" type="body"/>
          </p:nvPr>
        </p:nvSpPr>
        <p:spPr>
          <a:xfrm>
            <a:off x="258525" y="190500"/>
            <a:ext cx="8428200" cy="64089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Saverio De Vito, et al. “</a:t>
            </a:r>
            <a:r>
              <a:rPr lang="en-US" sz="1400"/>
              <a:t>Adaptive machine learning strategies for network calibration of IoT smart air quality monitoring devices</a:t>
            </a:r>
            <a:r>
              <a:rPr lang="en-US" sz="1400"/>
              <a:t>”, </a:t>
            </a:r>
            <a:r>
              <a:rPr lang="en-US" sz="1400"/>
              <a:t>Pattern Recognition Letters (2020).</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 </a:t>
            </a:r>
            <a:r>
              <a:rPr lang="en-US" sz="1400"/>
              <a:t>In this paper, they have relied on the use of ENEA MONICA AQMS, using Raspberry Pi. MONICA device is based on electrochemical </a:t>
            </a:r>
            <a:r>
              <a:rPr lang="en-US" sz="1400"/>
              <a:t>sensors</a:t>
            </a:r>
            <a:r>
              <a:rPr lang="en-US" sz="1400"/>
              <a:t> array. They have </a:t>
            </a:r>
            <a:r>
              <a:rPr lang="en-US" sz="1400"/>
              <a:t>targeted</a:t>
            </a:r>
            <a:r>
              <a:rPr lang="en-US" sz="1400"/>
              <a:t> CO, NO2, Ozone, Relative Humidity and Temperature. They explored different combinations of updates periodicity and amount of incoming labelled samples to find the which has higher significance. </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They have obtained results from different calibration update scenarios to overcome drift effects arising due to multi seasonal deployment of low cost AQMS. </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Result: </a:t>
            </a:r>
            <a:r>
              <a:rPr lang="en-US" sz="1400"/>
              <a:t>Results indicate the relevance of both update periods and amount of labelled samples in determining the final performances. Daily updates using a single hour of high accuracy data.</a:t>
            </a:r>
            <a:endParaRPr sz="1400"/>
          </a:p>
          <a:p>
            <a:pPr indent="0" lvl="0" marL="0" rtl="0" algn="l">
              <a:spcBef>
                <a:spcPts val="580"/>
              </a:spcBef>
              <a:spcAft>
                <a:spcPts val="0"/>
              </a:spcAft>
              <a:buNone/>
            </a:pPr>
            <a:r>
              <a:t/>
            </a:r>
            <a:endParaRPr b="1" sz="1400"/>
          </a:p>
          <a:p>
            <a:pPr indent="0" lvl="0" marL="457200" rtl="0" algn="l">
              <a:spcBef>
                <a:spcPts val="580"/>
              </a:spcBef>
              <a:spcAft>
                <a:spcPts val="0"/>
              </a:spcAft>
              <a:buNone/>
            </a:pPr>
            <a:r>
              <a:t/>
            </a:r>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3"/>
          <p:cNvSpPr txBox="1"/>
          <p:nvPr>
            <p:ph idx="1" type="body"/>
          </p:nvPr>
        </p:nvSpPr>
        <p:spPr>
          <a:xfrm>
            <a:off x="258525" y="190500"/>
            <a:ext cx="8428200" cy="64089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Gaganjot Kaur, “Air Quality Prediction: Big Data and Machine Learning Approaches”,Researchgate, 2018</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 </a:t>
            </a:r>
            <a:r>
              <a:rPr lang="en-US" sz="1400"/>
              <a:t>The aim of this research paper is to investigate various big-data and machine learning based techniques for air quality forecasting. It has also compared the existing research papers with big data based models.</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Some issues faced during were Data quality and validation issue. Real-time air quality monitor and supervision air resources- There is no integrated real time big data based air quality evaluation and monitor environments to support dynamic air quality evaluation.</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Result: </a:t>
            </a:r>
            <a:r>
              <a:rPr lang="en-US" sz="1400"/>
              <a:t>With the advancement of IoT infrastructures, big data technologies, and machine learning techniques, real-time air quality monitor and evaluation is desirable for future smart cities.</a:t>
            </a:r>
            <a:endParaRPr sz="1400"/>
          </a:p>
          <a:p>
            <a:pPr indent="0" lvl="0" marL="457200" rtl="0" algn="l">
              <a:spcBef>
                <a:spcPts val="580"/>
              </a:spcBef>
              <a:spcAft>
                <a:spcPts val="0"/>
              </a:spcAft>
              <a:buNone/>
            </a:pPr>
            <a:r>
              <a:t/>
            </a:r>
            <a:endParaRPr sz="1400"/>
          </a:p>
        </p:txBody>
      </p:sp>
      <p:pic>
        <p:nvPicPr>
          <p:cNvPr id="174" name="Google Shape;174;p23"/>
          <p:cNvPicPr preferRelativeResize="0"/>
          <p:nvPr/>
        </p:nvPicPr>
        <p:blipFill>
          <a:blip r:embed="rId3">
            <a:alphaModFix/>
          </a:blip>
          <a:stretch>
            <a:fillRect/>
          </a:stretch>
        </p:blipFill>
        <p:spPr>
          <a:xfrm>
            <a:off x="884475" y="4054925"/>
            <a:ext cx="7551950" cy="241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4"/>
          <p:cNvSpPr txBox="1"/>
          <p:nvPr>
            <p:ph idx="1" type="body"/>
          </p:nvPr>
        </p:nvSpPr>
        <p:spPr>
          <a:xfrm>
            <a:off x="285750" y="163275"/>
            <a:ext cx="8401200" cy="63411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Dan Zhang, et al. “Real Time Localized Air Quality Monitoring and Prediction Through Mobile and Fixed IoT Sensing Network”,  IEEE Access, 10.1109/ACCESS.2020.2993547, 2020</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 </a:t>
            </a:r>
            <a:r>
              <a:rPr lang="en-US" sz="1400"/>
              <a:t>Traditional way of using fixed sensors cannot effectively provide a comprehensive view of air pollution in people’s immediate surroundings, since the closest sensors can be possibly miles away. This research focuses on modeling the air quality pattern in a given region by adopting both fixed and moving IoT sensors, which are placed on vehicles patrolling around the region. With this approach, a full spectrum of how air quality varies in nearby regions can be analyzed. The fixed IoT sensor is put in multiple different </a:t>
            </a:r>
            <a:r>
              <a:rPr lang="en-US" sz="1400"/>
              <a:t>occasions</a:t>
            </a:r>
            <a:r>
              <a:rPr lang="en-US" sz="1400"/>
              <a:t> and the Mobile IoT Sensor is placed in patrol vehicles</a:t>
            </a:r>
            <a:endParaRPr sz="1400"/>
          </a:p>
          <a:p>
            <a:pPr indent="0" lvl="0" marL="457200" rtl="0" algn="l">
              <a:spcBef>
                <a:spcPts val="580"/>
              </a:spcBef>
              <a:spcAft>
                <a:spcPts val="0"/>
              </a:spcAft>
              <a:buNone/>
            </a:pPr>
            <a:r>
              <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This paper explains about Database, Cloud Server and Data mapping, and also discusses some pre-processing of the acquired data. Random Forests, Support Vector Machines and Gradient Boosting are the Machine Learning Algorithms. Gradient Boosting and SVR give the best results.</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Results: </a:t>
            </a:r>
            <a:endParaRPr sz="1400"/>
          </a:p>
        </p:txBody>
      </p:sp>
      <p:pic>
        <p:nvPicPr>
          <p:cNvPr id="181" name="Google Shape;181;p24"/>
          <p:cNvPicPr preferRelativeResize="0"/>
          <p:nvPr/>
        </p:nvPicPr>
        <p:blipFill>
          <a:blip r:embed="rId3">
            <a:alphaModFix/>
          </a:blip>
          <a:stretch>
            <a:fillRect/>
          </a:stretch>
        </p:blipFill>
        <p:spPr>
          <a:xfrm>
            <a:off x="1562100" y="5208975"/>
            <a:ext cx="6019800" cy="1295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5"/>
          <p:cNvSpPr txBox="1"/>
          <p:nvPr>
            <p:ph idx="1" type="body"/>
          </p:nvPr>
        </p:nvSpPr>
        <p:spPr>
          <a:xfrm>
            <a:off x="258525" y="190500"/>
            <a:ext cx="8428200" cy="64089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Leeban Moses</a:t>
            </a:r>
            <a:r>
              <a:rPr lang="en-US" sz="1400"/>
              <a:t>, et al. “IoT enabled Environmental Air Pollution Monitoring and Rerouting system using Machine learning algorithms”,  IOP Conference Series, 2020.</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 </a:t>
            </a:r>
            <a:r>
              <a:rPr lang="en-US" sz="1400"/>
              <a:t>They have proposed the implementation of cloud based IoT system for air quality monitoring in which the sensors are used to calculate CO, PM2.5 and PM10, O3, SO2 and NO2 pollution level with environmental condition like temperature and humidity. The obtained information is updated to cloud platform using Lora nodes and Lora Gateway. The web-based application developed has a Google map API where the pollution status can be frequently updated.</a:t>
            </a:r>
            <a:endParaRPr b="1" sz="1400"/>
          </a:p>
          <a:p>
            <a:pPr indent="0" lvl="0" marL="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With the collected time series samples, the prediction analysis was done with neural network Multilayer perceptron and support vector machine regression (SVMR) learning algorithm.</a:t>
            </a:r>
            <a:endParaRPr b="1" sz="1400"/>
          </a:p>
          <a:p>
            <a:pPr indent="0" lvl="0" marL="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Result: </a:t>
            </a:r>
            <a:r>
              <a:rPr lang="en-US" sz="1400"/>
              <a:t>The pollution conditions were updated successfully updated in the Google Maps API and depending on the pollution conditions the suggested route was the most pollution free route.</a:t>
            </a:r>
            <a:endParaRPr sz="1400"/>
          </a:p>
          <a:p>
            <a:pPr indent="0" lvl="0" marL="0" rtl="0" algn="l">
              <a:spcBef>
                <a:spcPts val="580"/>
              </a:spcBef>
              <a:spcAft>
                <a:spcPts val="0"/>
              </a:spcAft>
              <a:buNone/>
            </a:pPr>
            <a:r>
              <a:t/>
            </a:r>
            <a:endParaRPr b="1" sz="1400"/>
          </a:p>
          <a:p>
            <a:pPr indent="0" lvl="0" marL="457200" rtl="0" algn="l">
              <a:spcBef>
                <a:spcPts val="580"/>
              </a:spcBef>
              <a:spcAft>
                <a:spcPts val="0"/>
              </a:spcAft>
              <a:buNone/>
            </a:pPr>
            <a:r>
              <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ph idx="1" type="body"/>
          </p:nvPr>
        </p:nvSpPr>
        <p:spPr>
          <a:xfrm>
            <a:off x="258525" y="190500"/>
            <a:ext cx="8428200" cy="64089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Safae Sossi Alaoui et al., Brahim Aksasse and Yousef Farhaoui ,“</a:t>
            </a:r>
            <a:r>
              <a:rPr lang="en-US" sz="1400"/>
              <a:t>Air pollution prediction through internet of things technology and big data analytics”, 2019 Inderscience Enterprises Ltd.</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 </a:t>
            </a:r>
            <a:r>
              <a:rPr lang="en-US" sz="1400"/>
              <a:t>In this paper, we examine the possibility to make a fusion between the two new concepts big data and internet of things; in the context of predicting air pollution that occurs when harmful substances; like NO2, SO2, CO and O3, are introduced into Earth’s atmosphere.</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Using </a:t>
            </a:r>
            <a:r>
              <a:rPr lang="en-US" sz="1400"/>
              <a:t>Apache</a:t>
            </a:r>
            <a:r>
              <a:rPr lang="en-US" sz="1400"/>
              <a:t> Spark MLlib library, Gradient-boosted trees and ML  Pipelines used in the project. RMSE is the measuring metrics. First, randata is transformed to a DataFrame, called df. Then, the count() function is used which returns the number of elements in a dataset or the resulting output of an RDD operation. To split the dataset randomly into 70% for training data and 30% for test data, we used the function RandomSplit(). Finally, computing evaluation metrics is important for understanding the quality of predictions.</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Result:</a:t>
            </a:r>
            <a:r>
              <a:rPr lang="en-US" sz="1400"/>
              <a:t> Working with US pollution dataset and using Spark technology in Databricks platform, it managed to build an accurate model capable of making good predictions for air quality.</a:t>
            </a:r>
            <a:endParaRPr sz="1400"/>
          </a:p>
          <a:p>
            <a:pPr indent="0" lvl="0" marL="0" rtl="0" algn="l">
              <a:spcBef>
                <a:spcPts val="580"/>
              </a:spcBef>
              <a:spcAft>
                <a:spcPts val="0"/>
              </a:spcAft>
              <a:buNone/>
            </a:pPr>
            <a:r>
              <a:t/>
            </a:r>
            <a:endParaRPr b="1" sz="1400"/>
          </a:p>
          <a:p>
            <a:pPr indent="0" lvl="0" marL="457200" rtl="0" algn="l">
              <a:spcBef>
                <a:spcPts val="580"/>
              </a:spcBef>
              <a:spcAft>
                <a:spcPts val="0"/>
              </a:spcAft>
              <a:buNone/>
            </a:pPr>
            <a:r>
              <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txBox="1"/>
          <p:nvPr>
            <p:ph idx="1" type="body"/>
          </p:nvPr>
        </p:nvSpPr>
        <p:spPr>
          <a:xfrm>
            <a:off x="367400" y="136075"/>
            <a:ext cx="8708700" cy="64089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Tze Wai Wong, et al. “Developing a risk-based air quality health index” , Elesevire ,2012</a:t>
            </a:r>
            <a:endParaRPr sz="1400"/>
          </a:p>
          <a:p>
            <a:pPr indent="0" lvl="0" marL="9144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 </a:t>
            </a:r>
            <a:r>
              <a:rPr lang="en-US" sz="1400"/>
              <a:t> A risk-based, multi-pollutant air quality health index (AQHI) reporting system in Hong Kong was developed , based on the Canadian approach.  Time series studies were performed to obtain the relative risks of hospital admissions for respiratory and cardiovascular diseases associated with four air pollutants: sulphur dioxide, nitrogen dioxide, ozone, and particulate matter with an aerodynamic diameter less than 10 mm (PM10). The sum of excess risks of the hospital admissions associated with these air pollutants were calculated. The cut-off points of the summed excess risk, for the issuance of different health warnings, were based on the concentrations of these pollutants recommended as short-term Air Quality Guidelines by the World Health Organization.</a:t>
            </a:r>
            <a:endParaRPr sz="1400"/>
          </a:p>
          <a:p>
            <a:pPr indent="0" lvl="0" marL="9144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The calculations performed to get the Air Quality Index from Pollutants like So2, No2, O3, PM10, etc. were observed and can be used in our project. Health advice was given as well.</a:t>
            </a:r>
            <a:endParaRPr sz="1400"/>
          </a:p>
          <a:p>
            <a:pPr indent="0" lvl="0" marL="9144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Results: </a:t>
            </a:r>
            <a:r>
              <a:rPr lang="en-US" sz="1400"/>
              <a:t>All four air pollutants (NO2, O3, PM10 and SO2) had significantly raised RRs of emergency hospital admissions for respiratory and cardiovascular diseases for all age groups combined. The excess risk of hospital admissions associated with air pollution, expressed as a percentage (%ER), ranged from 2.64% to 31.51% in the 5-year study period, with a median of 9.04% and a mean of 9.50%. The health advice table is published as well.</a:t>
            </a:r>
            <a:endParaRPr sz="1400"/>
          </a:p>
          <a:p>
            <a:pPr indent="0" lvl="0" marL="914400" rtl="0" algn="l">
              <a:spcBef>
                <a:spcPts val="580"/>
              </a:spcBef>
              <a:spcAft>
                <a:spcPts val="0"/>
              </a:spcAft>
              <a:buNone/>
            </a:pPr>
            <a:r>
              <a:t/>
            </a:r>
            <a:endParaRPr sz="1400"/>
          </a:p>
          <a:p>
            <a:pPr indent="0" lvl="0" marL="914400" rtl="0" algn="l">
              <a:spcBef>
                <a:spcPts val="580"/>
              </a:spcBef>
              <a:spcAft>
                <a:spcPts val="0"/>
              </a:spcAft>
              <a:buNone/>
            </a:pPr>
            <a:r>
              <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ph idx="1" type="body"/>
          </p:nvPr>
        </p:nvSpPr>
        <p:spPr>
          <a:xfrm>
            <a:off x="258525" y="190500"/>
            <a:ext cx="8428200" cy="64089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Meivel S</a:t>
            </a:r>
            <a:r>
              <a:rPr lang="en-US" sz="1400"/>
              <a:t>, et. al “Air pollution monitoring system using IoT and Artificial Intelligence”, International Journal of Modern Agriculture 2021.</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 </a:t>
            </a:r>
            <a:r>
              <a:rPr lang="en-US" sz="1400"/>
              <a:t>In this paper, they have proposed a system which monitors CO2, dust and methane. Gas sensors play a role which detects the gas level in the atmosphere. The sensor generates a corresponding potential difference based on the gas concentration by adjusting the resistance of the material within the sensor, which can be calculated as output voltage. In case the </a:t>
            </a:r>
            <a:r>
              <a:rPr lang="en-US" sz="1400"/>
              <a:t>concentration</a:t>
            </a:r>
            <a:r>
              <a:rPr lang="en-US" sz="1400"/>
              <a:t> of any of the gases breaches a certain threshold, an alarm will be triggered. </a:t>
            </a:r>
            <a:endParaRPr sz="1400"/>
          </a:p>
          <a:p>
            <a:pPr indent="0" lvl="0" marL="457200" rtl="0" algn="l">
              <a:spcBef>
                <a:spcPts val="580"/>
              </a:spcBef>
              <a:spcAft>
                <a:spcPts val="0"/>
              </a:spcAft>
              <a:buNone/>
            </a:pPr>
            <a:r>
              <a:t/>
            </a:r>
            <a:endParaRPr sz="1400"/>
          </a:p>
          <a:p>
            <a:pPr indent="-317500" lvl="0" marL="457200" rtl="0" algn="l">
              <a:lnSpc>
                <a:spcPct val="150000"/>
              </a:lnSpc>
              <a:spcBef>
                <a:spcPts val="0"/>
              </a:spcBef>
              <a:spcAft>
                <a:spcPts val="0"/>
              </a:spcAft>
              <a:buSzPts val="1400"/>
              <a:buChar char="⚫"/>
            </a:pPr>
            <a:r>
              <a:rPr b="1" lang="en-US" sz="1400"/>
              <a:t>Observation</a:t>
            </a:r>
            <a:r>
              <a:rPr lang="en-US" sz="1400"/>
              <a:t>:  They were able to use the sensors to absorb the levels of carbon-di-oxide, dust and methane. The system continuously monitors the environment using the gas sensors and sensed value fed into the Microcontroller. In case any of the concentrations breached the threshold, an alert would be sent.</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Result: </a:t>
            </a:r>
            <a:r>
              <a:rPr lang="en-US" sz="1400"/>
              <a:t>They successfully implemented the system and were able to detect the concentration of the various gases in the atmosphere. If a particular gas concentration was greater than the set threshold, an alarm was triggered. </a:t>
            </a:r>
            <a:endParaRPr sz="1400"/>
          </a:p>
          <a:p>
            <a:pPr indent="0" lvl="0" marL="0" rtl="0" algn="l">
              <a:spcBef>
                <a:spcPts val="580"/>
              </a:spcBef>
              <a:spcAft>
                <a:spcPts val="0"/>
              </a:spcAft>
              <a:buNone/>
            </a:pPr>
            <a:r>
              <a:t/>
            </a:r>
            <a:endParaRPr b="1" sz="1400"/>
          </a:p>
          <a:p>
            <a:pPr indent="0" lvl="0" marL="457200" rtl="0" algn="l">
              <a:spcBef>
                <a:spcPts val="580"/>
              </a:spcBef>
              <a:spcAft>
                <a:spcPts val="0"/>
              </a:spcAft>
              <a:buNone/>
            </a:pPr>
            <a:r>
              <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txBox="1"/>
          <p:nvPr>
            <p:ph idx="1" type="body"/>
          </p:nvPr>
        </p:nvSpPr>
        <p:spPr>
          <a:xfrm>
            <a:off x="277450" y="209925"/>
            <a:ext cx="8428200" cy="64089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Wenjing Mao, Weilin Wang, Limin Jiao, Suli Zhao, Anbao Liu “Modeling air quality prediction using a deep learning approach: Method optimization and evaluation” 2020 Published by Elsevier.</a:t>
            </a:r>
            <a:endParaRPr sz="1400"/>
          </a:p>
          <a:p>
            <a:pPr indent="0" lvl="0" marL="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 </a:t>
            </a:r>
            <a:r>
              <a:rPr lang="en-US" sz="1400"/>
              <a:t>In this paper , a deep learning framework to predict air quality in the following 24hrs is proposed. A neural network with a temporal sliding long short-term memory extended model(TS-LSTME)</a:t>
            </a:r>
            <a:endParaRPr sz="1400"/>
          </a:p>
          <a:p>
            <a:pPr indent="0" lvl="0" marL="0" rtl="0" algn="l">
              <a:spcBef>
                <a:spcPts val="580"/>
              </a:spcBef>
              <a:spcAft>
                <a:spcPts val="0"/>
              </a:spcAft>
              <a:buNone/>
            </a:pPr>
            <a:r>
              <a:t/>
            </a:r>
            <a:endParaRPr b="1"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The model integrated the optimal time lag to realize sliding prediction through multi-layer bidirectional long short- term memory(LSTM), involving the hourly historical PM2.5 concentration, </a:t>
            </a:r>
            <a:r>
              <a:rPr lang="en-US" sz="1400"/>
              <a:t>meteorological</a:t>
            </a:r>
            <a:r>
              <a:rPr lang="en-US" sz="1400"/>
              <a:t> data, and temporal data.</a:t>
            </a:r>
            <a:endParaRPr sz="1400"/>
          </a:p>
          <a:p>
            <a:pPr indent="0" lvl="0" marL="0" rtl="0" algn="l">
              <a:spcBef>
                <a:spcPts val="580"/>
              </a:spcBef>
              <a:spcAft>
                <a:spcPts val="0"/>
              </a:spcAft>
              <a:buNone/>
            </a:pPr>
            <a:r>
              <a:t/>
            </a:r>
            <a:endParaRPr b="1" sz="1400"/>
          </a:p>
          <a:p>
            <a:pPr indent="-317500" lvl="0" marL="457200" rtl="0" algn="l">
              <a:spcBef>
                <a:spcPts val="580"/>
              </a:spcBef>
              <a:spcAft>
                <a:spcPts val="0"/>
              </a:spcAft>
              <a:buSzPts val="1400"/>
              <a:buChar char="⚫"/>
            </a:pPr>
            <a:r>
              <a:rPr b="1" lang="en-US" sz="1400"/>
              <a:t>Result:</a:t>
            </a:r>
            <a:r>
              <a:rPr lang="en-US" sz="1400"/>
              <a:t> The proposed model had better stability and performances with high correlation coefficient </a:t>
            </a:r>
            <a:r>
              <a:rPr lang="en-US" sz="1400"/>
              <a:t>R Squared</a:t>
            </a:r>
            <a:r>
              <a:rPr lang="en-US" sz="1400"/>
              <a:t>, compared to the multiple linear regression, support vector, the traditional LSTM, and the LSTME.</a:t>
            </a:r>
            <a:endParaRPr sz="1400"/>
          </a:p>
          <a:p>
            <a:pPr indent="0" lvl="0" marL="0" rtl="0" algn="l">
              <a:spcBef>
                <a:spcPts val="580"/>
              </a:spcBef>
              <a:spcAft>
                <a:spcPts val="0"/>
              </a:spcAft>
              <a:buNone/>
            </a:pPr>
            <a:r>
              <a:t/>
            </a:r>
            <a:endParaRPr b="1" sz="1400"/>
          </a:p>
          <a:p>
            <a:pPr indent="0" lvl="0" marL="457200" rtl="0" algn="l">
              <a:spcBef>
                <a:spcPts val="580"/>
              </a:spcBef>
              <a:spcAft>
                <a:spcPts val="0"/>
              </a:spcAft>
              <a:buNone/>
            </a:pPr>
            <a:r>
              <a:t/>
            </a:r>
            <a:endParaRPr sz="1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0"/>
          <p:cNvSpPr txBox="1"/>
          <p:nvPr>
            <p:ph idx="1" type="body"/>
          </p:nvPr>
        </p:nvSpPr>
        <p:spPr>
          <a:xfrm>
            <a:off x="258525" y="190500"/>
            <a:ext cx="8428200" cy="64089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Ramesh P. Singh, et al. “Impact of lockdown on air quality in India during COVID-19 pandemic”, Springer Nature B.V. 2020</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 </a:t>
            </a:r>
            <a:r>
              <a:rPr lang="en-US" sz="1400"/>
              <a:t>During the total lockdown, most of the sources for poor air quality were stopped in India. In this paper, we present an analysis of air quality (particulate matter-PM2.5, Air Quality Index, and tropospheric NO2) over India using ground and satellite observations. A pronounced decline in PM2.5 and AQI (Air Quality Index) is observed over Delhi, Mumbai, Hyderabad, Kolkata, and Chennai and also a declining trend was observed in tropospheric NO2 concentration during the lockdown period in 2020 compared with the same period in the year 2019. The trajectory analysis was performed using HYPSPLIT model.</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The key takeaways from the paper were the </a:t>
            </a:r>
            <a:r>
              <a:rPr lang="en-US" sz="1400"/>
              <a:t>correlation</a:t>
            </a:r>
            <a:r>
              <a:rPr lang="en-US" sz="1400"/>
              <a:t> </a:t>
            </a:r>
            <a:r>
              <a:rPr lang="en-US" sz="1400"/>
              <a:t>between</a:t>
            </a:r>
            <a:r>
              <a:rPr lang="en-US" sz="1400"/>
              <a:t> PM2.5 and AQI and how Vehicular Motion is one of the major contributors of Air Quality being poor. It mentions all the possible contributors to Air Pollution after performing an Analysis in the major cities of India.</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Result: </a:t>
            </a:r>
            <a:r>
              <a:rPr lang="en-US" sz="1400"/>
              <a:t>The lockdown appears to show pronounced improvement in air quality over these large densely populated metropolitan footprints of India where US embassies are located. Our results show a pronounced decline in air pollutants during lockdown especially in Delhi and Kolkata; these two cities are known to be highly polluted cities in India and in the world.</a:t>
            </a:r>
            <a:endParaRPr sz="1400"/>
          </a:p>
          <a:p>
            <a:pPr indent="0" lvl="0" marL="457200" rtl="0" algn="l">
              <a:spcBef>
                <a:spcPts val="580"/>
              </a:spcBef>
              <a:spcAft>
                <a:spcPts val="0"/>
              </a:spcAft>
              <a:buNone/>
            </a:pPr>
            <a:r>
              <a:t/>
            </a:r>
            <a:endParaRPr sz="1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1"/>
          <p:cNvSpPr txBox="1"/>
          <p:nvPr>
            <p:ph idx="1" type="body"/>
          </p:nvPr>
        </p:nvSpPr>
        <p:spPr>
          <a:xfrm>
            <a:off x="258525" y="190500"/>
            <a:ext cx="8428200" cy="64089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Anindya Ananda Hapsari</a:t>
            </a:r>
            <a:r>
              <a:rPr lang="en-US" sz="1400"/>
              <a:t>, et al. “A Review on Indoor Air Quality Monitoring using IoT at Campus Environment”, International Journal of Engineering and Technology</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Methodology: </a:t>
            </a:r>
            <a:r>
              <a:rPr lang="en-US" sz="1400"/>
              <a:t>This is a research paper that investigates IAQMS, summarizes existing studies and recommends research on IAQMS. </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Observations: </a:t>
            </a:r>
            <a:r>
              <a:rPr lang="en-US" sz="1400"/>
              <a:t>Best way to build a low cost IAQMS is by using Arduino. Pollutants most commonly are used in observations are temperature, humidity, and CO2. Next challenges from IAQ monitoring system is to improve the accuracy of sensor with the condition of ‘&lt; 1ppm’</a:t>
            </a:r>
            <a:endParaRPr sz="1400"/>
          </a:p>
          <a:p>
            <a:pPr indent="0" lvl="0" marL="457200" rtl="0" algn="l">
              <a:spcBef>
                <a:spcPts val="580"/>
              </a:spcBef>
              <a:spcAft>
                <a:spcPts val="0"/>
              </a:spcAft>
              <a:buNone/>
            </a:pPr>
            <a:r>
              <a:t/>
            </a:r>
            <a:endParaRPr sz="1400"/>
          </a:p>
          <a:p>
            <a:pPr indent="-317500" lvl="0" marL="457200" rtl="0" algn="l">
              <a:spcBef>
                <a:spcPts val="580"/>
              </a:spcBef>
              <a:spcAft>
                <a:spcPts val="0"/>
              </a:spcAft>
              <a:buSzPts val="1400"/>
              <a:buChar char="⚫"/>
            </a:pPr>
            <a:r>
              <a:rPr b="1" lang="en-US" sz="1400"/>
              <a:t>Result: </a:t>
            </a:r>
            <a:r>
              <a:rPr lang="en-US" sz="1400"/>
              <a:t>This study was conducted for facilitating researchers to create a monitoring system for the Indoor Air Quality by using the Internet of Things</a:t>
            </a:r>
            <a:r>
              <a:rPr b="1" lang="en-US" sz="1400"/>
              <a:t>.</a:t>
            </a:r>
            <a:endParaRPr sz="1400"/>
          </a:p>
          <a:p>
            <a:pPr indent="0" lvl="0" marL="0" rtl="0" algn="l">
              <a:spcBef>
                <a:spcPts val="580"/>
              </a:spcBef>
              <a:spcAft>
                <a:spcPts val="0"/>
              </a:spcAft>
              <a:buNone/>
            </a:pPr>
            <a:r>
              <a:t/>
            </a:r>
            <a:endParaRPr b="1" sz="1400"/>
          </a:p>
          <a:p>
            <a:pPr indent="0" lvl="0" marL="457200" rtl="0" algn="l">
              <a:spcBef>
                <a:spcPts val="580"/>
              </a:spcBef>
              <a:spcAft>
                <a:spcPts val="0"/>
              </a:spcAft>
              <a:buNone/>
            </a:pPr>
            <a:r>
              <a:t/>
            </a: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2"/>
          <p:cNvSpPr txBox="1"/>
          <p:nvPr>
            <p:ph idx="1" type="body"/>
          </p:nvPr>
        </p:nvSpPr>
        <p:spPr>
          <a:xfrm>
            <a:off x="258525" y="190500"/>
            <a:ext cx="8428200" cy="6408900"/>
          </a:xfrm>
          <a:prstGeom prst="rect">
            <a:avLst/>
          </a:prstGeom>
        </p:spPr>
        <p:txBody>
          <a:bodyPr anchorCtr="0" anchor="t" bIns="45700" lIns="91425" spcFirstLastPara="1" rIns="91425" wrap="square" tIns="45700">
            <a:normAutofit/>
          </a:bodyPr>
          <a:lstStyle/>
          <a:p>
            <a:pPr indent="-317500" lvl="0" marL="457200" rtl="0" algn="l">
              <a:spcBef>
                <a:spcPts val="580"/>
              </a:spcBef>
              <a:spcAft>
                <a:spcPts val="0"/>
              </a:spcAft>
              <a:buSzPts val="1400"/>
              <a:buChar char="⚫"/>
            </a:pPr>
            <a:r>
              <a:rPr lang="en-US" sz="1400"/>
              <a:t>Somansh Kumar, “Air Quality Monitoring System Based on IoT using Raspberry Pi”,ISBN:978-1-5090-6471-7/17/$31.00 ©2017 IEEE</a:t>
            </a:r>
            <a:endParaRPr sz="1400"/>
          </a:p>
          <a:p>
            <a:pPr indent="0" lvl="0" marL="0" rtl="0" algn="l">
              <a:spcBef>
                <a:spcPts val="580"/>
              </a:spcBef>
              <a:spcAft>
                <a:spcPts val="0"/>
              </a:spcAft>
              <a:buNone/>
            </a:pPr>
            <a:r>
              <a:t/>
            </a:r>
            <a:endParaRPr sz="1400"/>
          </a:p>
          <a:p>
            <a:pPr indent="-311150" lvl="0" marL="457200" rtl="0" algn="l">
              <a:spcBef>
                <a:spcPts val="580"/>
              </a:spcBef>
              <a:spcAft>
                <a:spcPts val="0"/>
              </a:spcAft>
              <a:buSzPts val="1300"/>
              <a:buChar char="⚫"/>
            </a:pPr>
            <a:r>
              <a:rPr b="1" lang="en-US" sz="1300"/>
              <a:t>Methodology:</a:t>
            </a:r>
            <a:r>
              <a:rPr lang="en-US" sz="1300"/>
              <a:t> This paper presents a real-time standalone air quality monitoring system. Internet of Things converging with cloud computing offers a novel technique for better management of data coming from different sensors, collected and transmitted by low power, low cost ARM based </a:t>
            </a:r>
            <a:r>
              <a:rPr lang="en-US" sz="1300"/>
              <a:t>mini computer</a:t>
            </a:r>
            <a:r>
              <a:rPr lang="en-US" sz="1300"/>
              <a:t> Raspberry pi. The system is tested in Delhi and the measurements are compared with the data provided by the local environment control authority and are presented in a tabular form.</a:t>
            </a:r>
            <a:endParaRPr sz="1300"/>
          </a:p>
          <a:p>
            <a:pPr indent="0" lvl="0" marL="457200" rtl="0" algn="l">
              <a:spcBef>
                <a:spcPts val="580"/>
              </a:spcBef>
              <a:spcAft>
                <a:spcPts val="0"/>
              </a:spcAft>
              <a:buNone/>
            </a:pPr>
            <a:r>
              <a:t/>
            </a:r>
            <a:endParaRPr sz="1300"/>
          </a:p>
          <a:p>
            <a:pPr indent="-311150" lvl="0" marL="457200" rtl="0" algn="l">
              <a:spcBef>
                <a:spcPts val="580"/>
              </a:spcBef>
              <a:spcAft>
                <a:spcPts val="0"/>
              </a:spcAft>
              <a:buSzPts val="1300"/>
              <a:buChar char="⚫"/>
            </a:pPr>
            <a:r>
              <a:rPr b="1" lang="en-US" sz="1300"/>
              <a:t>Observations: </a:t>
            </a:r>
            <a:r>
              <a:rPr lang="en-US" sz="1300"/>
              <a:t>Our sensor based Air quality monitoring system measuring the ambient pollution is highly accurate, affordable, easy to use. DSM501A is a PM sensor connected to digital pin 5 of Arduino, DHT22, BMP180 are connected to the Digital pi3 and 4 of the Arduino where as MQ135 and MQ9 are interfaced to analog pin 2 and 3 of Arduino. Arduino is interfaced with Raspberry pi via a USB cable. Raspberry pi is connected to internet with the help of Wi-Fi adapter and the adapter is connected to Raspberry pi at USB port. </a:t>
            </a:r>
            <a:endParaRPr sz="1300"/>
          </a:p>
          <a:p>
            <a:pPr indent="-311150" lvl="0" marL="457200" rtl="0" algn="l">
              <a:spcBef>
                <a:spcPts val="0"/>
              </a:spcBef>
              <a:spcAft>
                <a:spcPts val="0"/>
              </a:spcAft>
              <a:buSzPts val="1300"/>
              <a:buChar char="⚫"/>
            </a:pPr>
            <a:r>
              <a:rPr b="1" lang="en-US" sz="1300"/>
              <a:t>Result: </a:t>
            </a:r>
            <a:endParaRPr sz="1300"/>
          </a:p>
          <a:p>
            <a:pPr indent="0" lvl="0" marL="0" rtl="0" algn="l">
              <a:spcBef>
                <a:spcPts val="580"/>
              </a:spcBef>
              <a:spcAft>
                <a:spcPts val="0"/>
              </a:spcAft>
              <a:buNone/>
            </a:pPr>
            <a:r>
              <a:t/>
            </a:r>
            <a:endParaRPr b="1" sz="1400"/>
          </a:p>
          <a:p>
            <a:pPr indent="0" lvl="0" marL="457200" rtl="0" algn="l">
              <a:spcBef>
                <a:spcPts val="580"/>
              </a:spcBef>
              <a:spcAft>
                <a:spcPts val="0"/>
              </a:spcAft>
              <a:buNone/>
            </a:pPr>
            <a:r>
              <a:t/>
            </a:r>
            <a:endParaRPr sz="1400"/>
          </a:p>
        </p:txBody>
      </p:sp>
      <p:pic>
        <p:nvPicPr>
          <p:cNvPr id="230" name="Google Shape;230;p32"/>
          <p:cNvPicPr preferRelativeResize="0"/>
          <p:nvPr/>
        </p:nvPicPr>
        <p:blipFill>
          <a:blip r:embed="rId3">
            <a:alphaModFix/>
          </a:blip>
          <a:stretch>
            <a:fillRect/>
          </a:stretch>
        </p:blipFill>
        <p:spPr>
          <a:xfrm>
            <a:off x="1566325" y="4025162"/>
            <a:ext cx="3689425" cy="2639100"/>
          </a:xfrm>
          <a:prstGeom prst="rect">
            <a:avLst/>
          </a:prstGeom>
          <a:noFill/>
          <a:ln>
            <a:noFill/>
          </a:ln>
        </p:spPr>
      </p:pic>
      <p:pic>
        <p:nvPicPr>
          <p:cNvPr id="231" name="Google Shape;231;p32"/>
          <p:cNvPicPr preferRelativeResize="0"/>
          <p:nvPr/>
        </p:nvPicPr>
        <p:blipFill>
          <a:blip r:embed="rId4">
            <a:alphaModFix/>
          </a:blip>
          <a:stretch>
            <a:fillRect/>
          </a:stretch>
        </p:blipFill>
        <p:spPr>
          <a:xfrm>
            <a:off x="5456475" y="4127562"/>
            <a:ext cx="3415400" cy="24343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3"/>
          <p:cNvSpPr txBox="1"/>
          <p:nvPr>
            <p:ph idx="1" type="body"/>
          </p:nvPr>
        </p:nvSpPr>
        <p:spPr>
          <a:xfrm>
            <a:off x="1286217" y="227789"/>
            <a:ext cx="63942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Summary-Literature Survey</a:t>
            </a:r>
            <a:endParaRPr sz="3600">
              <a:solidFill>
                <a:schemeClr val="dk2"/>
              </a:solidFill>
              <a:latin typeface="Libre Franklin"/>
              <a:ea typeface="Libre Franklin"/>
              <a:cs typeface="Libre Franklin"/>
              <a:sym typeface="Libre Franklin"/>
            </a:endParaRPr>
          </a:p>
        </p:txBody>
      </p:sp>
      <p:sp>
        <p:nvSpPr>
          <p:cNvPr id="237" name="Google Shape;237;p33"/>
          <p:cNvSpPr txBox="1"/>
          <p:nvPr>
            <p:ph idx="12" type="sldNum"/>
          </p:nvPr>
        </p:nvSpPr>
        <p:spPr>
          <a:xfrm>
            <a:off x="511175" y="5670550"/>
            <a:ext cx="585788" cy="27305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6</a:t>
            </a:r>
            <a:endParaRPr/>
          </a:p>
        </p:txBody>
      </p:sp>
      <p:graphicFrame>
        <p:nvGraphicFramePr>
          <p:cNvPr id="238" name="Google Shape;238;p33"/>
          <p:cNvGraphicFramePr/>
          <p:nvPr/>
        </p:nvGraphicFramePr>
        <p:xfrm>
          <a:off x="741975" y="868476"/>
          <a:ext cx="3000000" cy="3000000"/>
        </p:xfrm>
        <a:graphic>
          <a:graphicData uri="http://schemas.openxmlformats.org/drawingml/2006/table">
            <a:tbl>
              <a:tblPr bandRow="1" firstCol="1" firstRow="1">
                <a:noFill/>
                <a:tableStyleId>{FC1FC79A-32B9-4EE3-B692-57ABB818A6D0}</a:tableStyleId>
              </a:tblPr>
              <a:tblGrid>
                <a:gridCol w="720375"/>
                <a:gridCol w="1994825"/>
                <a:gridCol w="1737725"/>
                <a:gridCol w="1737725"/>
                <a:gridCol w="1802225"/>
              </a:tblGrid>
              <a:tr h="593000">
                <a:tc>
                  <a:txBody>
                    <a:bodyPr/>
                    <a:lstStyle/>
                    <a:p>
                      <a:pPr indent="0" lvl="0" marL="0" marR="0" rtl="0" algn="ctr">
                        <a:lnSpc>
                          <a:spcPct val="115000"/>
                        </a:lnSpc>
                        <a:spcBef>
                          <a:spcPts val="0"/>
                        </a:spcBef>
                        <a:spcAft>
                          <a:spcPts val="0"/>
                        </a:spcAft>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Title of the Paper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Results </a:t>
                      </a:r>
                      <a:endParaRPr sz="1100" u="none" cap="none" strike="noStrike">
                        <a:latin typeface="Calibri"/>
                        <a:ea typeface="Calibri"/>
                        <a:cs typeface="Calibri"/>
                        <a:sym typeface="Calibri"/>
                      </a:endParaRPr>
                    </a:p>
                  </a:txBody>
                  <a:tcPr marT="0" marB="0" marR="68575" marL="68575"/>
                </a:tc>
              </a:tr>
              <a:tr h="1105500">
                <a:tc>
                  <a:txBody>
                    <a:bodyPr/>
                    <a:lstStyle/>
                    <a:p>
                      <a:pPr indent="0" lvl="0" marL="0" marR="0" rtl="0" algn="ctr">
                        <a:lnSpc>
                          <a:spcPct val="115000"/>
                        </a:lnSpc>
                        <a:spcBef>
                          <a:spcPts val="0"/>
                        </a:spcBef>
                        <a:spcAft>
                          <a:spcPts val="0"/>
                        </a:spcAft>
                        <a:buNone/>
                      </a:pPr>
                      <a:r>
                        <a:rPr lang="en-US" sz="1100" u="none" cap="none" strike="noStrike"/>
                        <a:t>1</a:t>
                      </a:r>
                      <a:endParaRPr sz="1100" u="none" cap="none" strike="noStrike">
                        <a:latin typeface="Calibri"/>
                        <a:ea typeface="Calibri"/>
                        <a:cs typeface="Calibri"/>
                        <a:sym typeface="Calibri"/>
                      </a:endParaRPr>
                    </a:p>
                  </a:txBody>
                  <a:tcPr marT="0" marB="0" marR="68575" marL="68575"/>
                </a:tc>
                <a:tc>
                  <a:txBody>
                    <a:bodyPr/>
                    <a:lstStyle/>
                    <a:p>
                      <a:pPr indent="0" lvl="0" marL="0" rtl="0" algn="l">
                        <a:spcBef>
                          <a:spcPts val="580"/>
                        </a:spcBef>
                        <a:spcAft>
                          <a:spcPts val="0"/>
                        </a:spcAft>
                        <a:buClr>
                          <a:schemeClr val="dk1"/>
                        </a:buClr>
                        <a:buSzPts val="1100"/>
                        <a:buFont typeface="Arial"/>
                        <a:buNone/>
                      </a:pPr>
                      <a:r>
                        <a:rPr lang="en-US" sz="1100">
                          <a:latin typeface="Calibri"/>
                          <a:ea typeface="Calibri"/>
                          <a:cs typeface="Calibri"/>
                          <a:sym typeface="Calibri"/>
                        </a:rPr>
                        <a:t>“Air pollution monitoring and prediction using IoT”, on Inventive Communication and Computational Technologies (ICICCT 2018) </a:t>
                      </a:r>
                      <a:endParaRPr sz="1100" u="none" cap="none" strike="noStrike">
                        <a:latin typeface="Calibri"/>
                        <a:ea typeface="Calibri"/>
                        <a:cs typeface="Calibri"/>
                        <a:sym typeface="Calibri"/>
                      </a:endParaRPr>
                    </a:p>
                  </a:txBody>
                  <a:tcPr marT="0" marB="0" marR="68575" marL="68575"/>
                </a:tc>
                <a:tc>
                  <a:txBody>
                    <a:bodyPr/>
                    <a:lstStyle/>
                    <a:p>
                      <a:pPr indent="0" lvl="0" marL="0" rtl="0" algn="l">
                        <a:spcBef>
                          <a:spcPts val="0"/>
                        </a:spcBef>
                        <a:spcAft>
                          <a:spcPts val="0"/>
                        </a:spcAft>
                        <a:buClr>
                          <a:schemeClr val="dk1"/>
                        </a:buClr>
                        <a:buFont typeface="Arial"/>
                        <a:buNone/>
                      </a:pPr>
                      <a:r>
                        <a:rPr lang="en-US" sz="1100">
                          <a:latin typeface="Calibri"/>
                          <a:ea typeface="Calibri"/>
                          <a:cs typeface="Calibri"/>
                          <a:sym typeface="Calibri"/>
                        </a:rPr>
                        <a:t>Air Pollution monitoring and predictions using IoT sensor</a:t>
                      </a:r>
                      <a:endParaRPr sz="1100" u="none" cap="none" strike="noStrike">
                        <a:latin typeface="Calibri"/>
                        <a:ea typeface="Calibri"/>
                        <a:cs typeface="Calibri"/>
                        <a:sym typeface="Calibri"/>
                      </a:endParaRPr>
                    </a:p>
                  </a:txBody>
                  <a:tcPr marT="0" marB="0" marR="68575" marL="68575"/>
                </a:tc>
                <a:tc>
                  <a:txBody>
                    <a:bodyPr/>
                    <a:lstStyle/>
                    <a:p>
                      <a:pPr indent="0" lvl="0" marL="0" rtl="0" algn="l">
                        <a:spcBef>
                          <a:spcPts val="580"/>
                        </a:spcBef>
                        <a:spcAft>
                          <a:spcPts val="0"/>
                        </a:spcAft>
                        <a:buClr>
                          <a:schemeClr val="dk1"/>
                        </a:buClr>
                        <a:buSzPts val="1100"/>
                        <a:buFont typeface="Arial"/>
                        <a:buNone/>
                      </a:pPr>
                      <a:r>
                        <a:rPr lang="en-US" sz="1100">
                          <a:latin typeface="Calibri"/>
                          <a:ea typeface="Calibri"/>
                          <a:cs typeface="Calibri"/>
                          <a:sym typeface="Calibri"/>
                        </a:rPr>
                        <a:t>The system focuses on the monitoring of air pollutants focus with the combination of IoT with a machine learning algorithm called Recurrent Neural Network more specifically Long Short Term Memory (LSTM). </a:t>
                      </a:r>
                      <a:endParaRPr sz="1100" u="none" cap="none" strike="noStrike">
                        <a:latin typeface="Calibri"/>
                        <a:ea typeface="Calibri"/>
                        <a:cs typeface="Calibri"/>
                        <a:sym typeface="Calibri"/>
                      </a:endParaRPr>
                    </a:p>
                  </a:txBody>
                  <a:tcPr marT="0" marB="0" marR="68575" marL="68575"/>
                </a:tc>
                <a:tc>
                  <a:txBody>
                    <a:bodyPr/>
                    <a:lstStyle/>
                    <a:p>
                      <a:pPr indent="0" lvl="0" marL="0" rtl="0" algn="l">
                        <a:spcBef>
                          <a:spcPts val="580"/>
                        </a:spcBef>
                        <a:spcAft>
                          <a:spcPts val="0"/>
                        </a:spcAft>
                        <a:buClr>
                          <a:schemeClr val="dk1"/>
                        </a:buClr>
                        <a:buSzPts val="1100"/>
                        <a:buFont typeface="Arial"/>
                        <a:buNone/>
                      </a:pPr>
                      <a:r>
                        <a:rPr lang="en-US" sz="1100">
                          <a:latin typeface="Calibri"/>
                          <a:ea typeface="Calibri"/>
                          <a:cs typeface="Calibri"/>
                          <a:sym typeface="Calibri"/>
                        </a:rPr>
                        <a:t>For predicting the LSTM is implemented. It has a quick convergence and reduces the training cycles with a good accuracy.</a:t>
                      </a:r>
                      <a:endParaRPr sz="1100" u="none" cap="none" strike="noStrike">
                        <a:latin typeface="Calibri"/>
                        <a:ea typeface="Calibri"/>
                        <a:cs typeface="Calibri"/>
                        <a:sym typeface="Calibri"/>
                      </a:endParaRPr>
                    </a:p>
                  </a:txBody>
                  <a:tcPr marT="0" marB="0" marR="68575" marL="68575"/>
                </a:tc>
              </a:tr>
              <a:tr h="912150">
                <a:tc>
                  <a:txBody>
                    <a:bodyPr/>
                    <a:lstStyle/>
                    <a:p>
                      <a:pPr indent="0" lvl="0" marL="0" marR="0" rtl="0" algn="ctr">
                        <a:lnSpc>
                          <a:spcPct val="115000"/>
                        </a:lnSpc>
                        <a:spcBef>
                          <a:spcPts val="0"/>
                        </a:spcBef>
                        <a:spcAft>
                          <a:spcPts val="0"/>
                        </a:spcAft>
                        <a:buNone/>
                      </a:pPr>
                      <a:r>
                        <a:rPr lang="en-US" sz="1100" u="none" cap="none" strike="noStrike"/>
                        <a:t>2</a:t>
                      </a:r>
                      <a:endParaRPr sz="1100" u="none" cap="none" strike="noStrike">
                        <a:latin typeface="Calibri"/>
                        <a:ea typeface="Calibri"/>
                        <a:cs typeface="Calibri"/>
                        <a:sym typeface="Calibri"/>
                      </a:endParaRPr>
                    </a:p>
                  </a:txBody>
                  <a:tcPr marT="0" marB="0" marR="68575" marL="68575"/>
                </a:tc>
                <a:tc>
                  <a:txBody>
                    <a:bodyPr/>
                    <a:lstStyle/>
                    <a:p>
                      <a:pPr indent="0" lvl="0" marL="0" rtl="0" algn="l">
                        <a:spcBef>
                          <a:spcPts val="580"/>
                        </a:spcBef>
                        <a:spcAft>
                          <a:spcPts val="0"/>
                        </a:spcAft>
                        <a:buNone/>
                      </a:pPr>
                      <a:r>
                        <a:rPr lang="en-US" sz="1100">
                          <a:latin typeface="Calibri"/>
                          <a:ea typeface="Calibri"/>
                          <a:cs typeface="Calibri"/>
                          <a:sym typeface="Calibri"/>
                        </a:rPr>
                        <a:t>“Air Pollution Monitoring and Prediction Using IoT and Machine Learning”, IJCSIT, 2021.</a:t>
                      </a:r>
                      <a:endParaRPr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Air pollution monitoring and forecasting using IoT and ML</a:t>
                      </a:r>
                      <a:endParaRPr sz="11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They </a:t>
                      </a:r>
                      <a:r>
                        <a:rPr lang="en-US" sz="1100">
                          <a:latin typeface="Calibri"/>
                          <a:ea typeface="Calibri"/>
                          <a:cs typeface="Calibri"/>
                          <a:sym typeface="Calibri"/>
                        </a:rPr>
                        <a:t>proposed a system which uses various sensors to collect the concentration of pollutants and they built various ML models to forecast the future levels of pollution. </a:t>
                      </a:r>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Out of the various ML models implemented, </a:t>
                      </a:r>
                      <a:r>
                        <a:rPr lang="en-US" sz="1100">
                          <a:latin typeface="Calibri"/>
                          <a:ea typeface="Calibri"/>
                          <a:cs typeface="Calibri"/>
                          <a:sym typeface="Calibri"/>
                        </a:rPr>
                        <a:t>The stacking ensemble model gave the highest accuracy and lowest error rate.</a:t>
                      </a:r>
                      <a:endParaRPr/>
                    </a:p>
                  </a:txBody>
                  <a:tcPr marT="0" marB="0" marR="68575" marL="68575"/>
                </a:tc>
              </a:tr>
              <a:tr h="1004925">
                <a:tc>
                  <a:txBody>
                    <a:bodyPr/>
                    <a:lstStyle/>
                    <a:p>
                      <a:pPr indent="0" lvl="0" marL="0" marR="0" rtl="0" algn="ctr">
                        <a:lnSpc>
                          <a:spcPct val="115000"/>
                        </a:lnSpc>
                        <a:spcBef>
                          <a:spcPts val="0"/>
                        </a:spcBef>
                        <a:spcAft>
                          <a:spcPts val="0"/>
                        </a:spcAft>
                        <a:buNone/>
                      </a:pPr>
                      <a:r>
                        <a:rPr lang="en-US" sz="1100" u="none" cap="none" strike="noStrike"/>
                        <a:t>3</a:t>
                      </a:r>
                      <a:endParaRPr sz="1100" u="none" cap="none" strike="noStrike">
                        <a:latin typeface="Calibri"/>
                        <a:ea typeface="Calibri"/>
                        <a:cs typeface="Calibri"/>
                        <a:sym typeface="Calibri"/>
                      </a:endParaRPr>
                    </a:p>
                  </a:txBody>
                  <a:tcPr marT="0" marB="0" marR="68575" marL="68575"/>
                </a:tc>
                <a:tc>
                  <a:txBody>
                    <a:bodyPr/>
                    <a:lstStyle/>
                    <a:p>
                      <a:pPr indent="0" lvl="0" marL="457200" rtl="0" algn="l">
                        <a:spcBef>
                          <a:spcPts val="580"/>
                        </a:spcBef>
                        <a:spcAft>
                          <a:spcPts val="0"/>
                        </a:spcAft>
                        <a:buNone/>
                      </a:pPr>
                      <a:r>
                        <a:t/>
                      </a:r>
                      <a:endParaRPr sz="1100">
                        <a:latin typeface="Calibri"/>
                        <a:ea typeface="Calibri"/>
                        <a:cs typeface="Calibri"/>
                        <a:sym typeface="Calibri"/>
                      </a:endParaRPr>
                    </a:p>
                    <a:p>
                      <a:pPr indent="0" lvl="0" marL="457200" rtl="0" algn="l">
                        <a:spcBef>
                          <a:spcPts val="580"/>
                        </a:spcBef>
                        <a:spcAft>
                          <a:spcPts val="0"/>
                        </a:spcAft>
                        <a:buNone/>
                      </a:pPr>
                      <a:r>
                        <a:rPr lang="en-US" sz="1200">
                          <a:latin typeface="Calibri"/>
                          <a:ea typeface="Calibri"/>
                          <a:cs typeface="Calibri"/>
                          <a:sym typeface="Calibri"/>
                        </a:rPr>
                        <a:t>Air Quality Monitoring And Prediction Using IOT And Machine Learning Approaches</a:t>
                      </a:r>
                      <a:endParaRPr sz="12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457200" rtl="0" algn="l">
                        <a:spcBef>
                          <a:spcPts val="580"/>
                        </a:spcBef>
                        <a:spcAft>
                          <a:spcPts val="0"/>
                        </a:spcAft>
                        <a:buClr>
                          <a:schemeClr val="dk1"/>
                        </a:buClr>
                        <a:buSzPts val="1100"/>
                        <a:buFont typeface="Arial"/>
                        <a:buNone/>
                      </a:pPr>
                      <a:r>
                        <a:rPr lang="en-US" sz="1000">
                          <a:latin typeface="Calibri"/>
                          <a:ea typeface="Calibri"/>
                          <a:cs typeface="Calibri"/>
                          <a:sym typeface="Calibri"/>
                        </a:rPr>
                        <a:t>Air Quality Monitoring And Prediction Using IOT And Machine Learning Approaches</a:t>
                      </a:r>
                      <a:endParaRPr sz="9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0" rtl="0" algn="l">
                        <a:spcBef>
                          <a:spcPts val="580"/>
                        </a:spcBef>
                        <a:spcAft>
                          <a:spcPts val="0"/>
                        </a:spcAft>
                        <a:buClr>
                          <a:schemeClr val="dk1"/>
                        </a:buClr>
                        <a:buSzPts val="1100"/>
                        <a:buFont typeface="Arial"/>
                        <a:buNone/>
                      </a:pPr>
                      <a:r>
                        <a:rPr lang="en-US" sz="1100">
                          <a:latin typeface="Calibri"/>
                          <a:ea typeface="Calibri"/>
                          <a:cs typeface="Calibri"/>
                          <a:sym typeface="Calibri"/>
                        </a:rPr>
                        <a:t>In this study an air quality monitoring device using arduino based sensors was developed to capture air quality parameters followed by the calibration of sensors to improve accuracy. </a:t>
                      </a:r>
                      <a:endParaRPr sz="1100">
                        <a:latin typeface="Calibri"/>
                        <a:ea typeface="Calibri"/>
                        <a:cs typeface="Calibri"/>
                        <a:sym typeface="Calibri"/>
                      </a:endParaRPr>
                    </a:p>
                    <a:p>
                      <a:pPr indent="0" lvl="0" marL="0" rtl="0" algn="l">
                        <a:spcBef>
                          <a:spcPts val="580"/>
                        </a:spcBef>
                        <a:spcAft>
                          <a:spcPts val="0"/>
                        </a:spcAft>
                        <a:buNone/>
                      </a:pPr>
                      <a:r>
                        <a:t/>
                      </a:r>
                      <a:endParaRPr sz="1100">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0" rtl="0" algn="l">
                        <a:spcBef>
                          <a:spcPts val="580"/>
                        </a:spcBef>
                        <a:spcAft>
                          <a:spcPts val="0"/>
                        </a:spcAft>
                        <a:buNone/>
                      </a:pPr>
                      <a:r>
                        <a:rPr lang="en-US" sz="1100">
                          <a:latin typeface="Calibri"/>
                          <a:ea typeface="Calibri"/>
                          <a:cs typeface="Calibri"/>
                          <a:sym typeface="Calibri"/>
                        </a:rPr>
                        <a:t>Testing carried out for the device provided with an overall accuracy of ~ 91%. It shows an improvement in accuracy by approximately 6%-11% which shows that the calibration procedures followed during the study has had a positive impact.</a:t>
                      </a:r>
                      <a:endParaRPr sz="1100">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r>
              <a:tr h="920925">
                <a:tc>
                  <a:txBody>
                    <a:bodyPr/>
                    <a:lstStyle/>
                    <a:p>
                      <a:pPr indent="0" lvl="0" marL="0" marR="0" rtl="0" algn="ctr">
                        <a:lnSpc>
                          <a:spcPct val="115000"/>
                        </a:lnSpc>
                        <a:spcBef>
                          <a:spcPts val="0"/>
                        </a:spcBef>
                        <a:spcAft>
                          <a:spcPts val="0"/>
                        </a:spcAft>
                        <a:buNone/>
                      </a:pPr>
                      <a:r>
                        <a:rPr lang="en-US" sz="1100" u="none" cap="none" strike="noStrike"/>
                        <a:t>4</a:t>
                      </a:r>
                      <a:endParaRPr sz="1100" u="none" cap="none" strike="noStrike">
                        <a:latin typeface="Calibri"/>
                        <a:ea typeface="Calibri"/>
                        <a:cs typeface="Calibri"/>
                        <a:sym typeface="Calibri"/>
                      </a:endParaRPr>
                    </a:p>
                  </a:txBody>
                  <a:tcPr marT="0" marB="0" marR="68575" marL="68575">
                    <a:lnR cap="flat" cmpd="sng" w="12700">
                      <a:solidFill>
                        <a:schemeClr val="lt1"/>
                      </a:solidFill>
                      <a:prstDash val="solid"/>
                      <a:round/>
                      <a:headEnd len="sm" w="sm" type="none"/>
                      <a:tailEnd len="sm" w="sm" type="none"/>
                    </a:lnR>
                  </a:tcPr>
                </a:tc>
                <a:tc>
                  <a:txBody>
                    <a:bodyPr/>
                    <a:lstStyle/>
                    <a:p>
                      <a:pPr indent="0" lvl="0" marL="457200" rtl="0" algn="l">
                        <a:spcBef>
                          <a:spcPts val="580"/>
                        </a:spcBef>
                        <a:spcAft>
                          <a:spcPts val="0"/>
                        </a:spcAft>
                        <a:buNone/>
                      </a:pPr>
                      <a:r>
                        <a:rPr lang="en-US">
                          <a:latin typeface="Calibri"/>
                          <a:ea typeface="Calibri"/>
                          <a:cs typeface="Calibri"/>
                          <a:sym typeface="Calibri"/>
                        </a:rPr>
                        <a:t>Air Quality Prediction using Machine Learning Algorithms</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100">
                          <a:latin typeface="Calibri"/>
                          <a:ea typeface="Calibri"/>
                          <a:cs typeface="Calibri"/>
                          <a:sym typeface="Calibri"/>
                        </a:rPr>
                        <a:t>Air Quality predictions using various Machine Learning Algorithms</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100">
                          <a:latin typeface="Calibri"/>
                          <a:ea typeface="Calibri"/>
                          <a:cs typeface="Calibri"/>
                          <a:sym typeface="Calibri"/>
                        </a:rPr>
                        <a:t>Dataset from Kaggle and models used are AutoRegressive model and ARIMA</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100">
                          <a:latin typeface="Calibri"/>
                          <a:ea typeface="Calibri"/>
                          <a:cs typeface="Calibri"/>
                          <a:sym typeface="Calibri"/>
                        </a:rPr>
                        <a:t>Predicted the AQI of Maharashtra with an MSE of 166.358</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4"/>
          <p:cNvSpPr txBox="1"/>
          <p:nvPr>
            <p:ph idx="1" type="body"/>
          </p:nvPr>
        </p:nvSpPr>
        <p:spPr>
          <a:xfrm>
            <a:off x="1272642" y="254989"/>
            <a:ext cx="63942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Summary-Literature Survey</a:t>
            </a:r>
            <a:endParaRPr sz="3600">
              <a:solidFill>
                <a:schemeClr val="dk2"/>
              </a:solidFill>
              <a:latin typeface="Libre Franklin"/>
              <a:ea typeface="Libre Franklin"/>
              <a:cs typeface="Libre Franklin"/>
              <a:sym typeface="Libre Franklin"/>
            </a:endParaRPr>
          </a:p>
        </p:txBody>
      </p:sp>
      <p:sp>
        <p:nvSpPr>
          <p:cNvPr id="244" name="Google Shape;244;p34"/>
          <p:cNvSpPr txBox="1"/>
          <p:nvPr>
            <p:ph idx="12" type="sldNum"/>
          </p:nvPr>
        </p:nvSpPr>
        <p:spPr>
          <a:xfrm>
            <a:off x="511175" y="5670550"/>
            <a:ext cx="585788" cy="27305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6</a:t>
            </a:r>
            <a:endParaRPr/>
          </a:p>
        </p:txBody>
      </p:sp>
      <p:graphicFrame>
        <p:nvGraphicFramePr>
          <p:cNvPr id="245" name="Google Shape;245;p34"/>
          <p:cNvGraphicFramePr/>
          <p:nvPr/>
        </p:nvGraphicFramePr>
        <p:xfrm>
          <a:off x="575563" y="868501"/>
          <a:ext cx="3000000" cy="3000000"/>
        </p:xfrm>
        <a:graphic>
          <a:graphicData uri="http://schemas.openxmlformats.org/drawingml/2006/table">
            <a:tbl>
              <a:tblPr bandRow="1" firstCol="1" firstRow="1">
                <a:noFill/>
                <a:tableStyleId>{FC1FC79A-32B9-4EE3-B692-57ABB818A6D0}</a:tableStyleId>
              </a:tblPr>
              <a:tblGrid>
                <a:gridCol w="720375"/>
                <a:gridCol w="1994825"/>
                <a:gridCol w="1737725"/>
                <a:gridCol w="1737725"/>
                <a:gridCol w="1802225"/>
              </a:tblGrid>
              <a:tr h="593000">
                <a:tc>
                  <a:txBody>
                    <a:bodyPr/>
                    <a:lstStyle/>
                    <a:p>
                      <a:pPr indent="0" lvl="0" marL="0" marR="0" rtl="0" algn="ctr">
                        <a:lnSpc>
                          <a:spcPct val="115000"/>
                        </a:lnSpc>
                        <a:spcBef>
                          <a:spcPts val="0"/>
                        </a:spcBef>
                        <a:spcAft>
                          <a:spcPts val="0"/>
                        </a:spcAft>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Title of the Paper </a:t>
                      </a:r>
                      <a:endParaRPr sz="11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100" u="none" cap="none" strike="noStrike"/>
                        <a:t>Results </a:t>
                      </a:r>
                      <a:endParaRPr sz="1100" u="none" cap="none" strike="noStrike">
                        <a:latin typeface="Calibri"/>
                        <a:ea typeface="Calibri"/>
                        <a:cs typeface="Calibri"/>
                        <a:sym typeface="Calibri"/>
                      </a:endParaRPr>
                    </a:p>
                  </a:txBody>
                  <a:tcPr marT="0" marB="0" marR="68575" marL="68575"/>
                </a:tc>
              </a:tr>
              <a:tr h="1105500">
                <a:tc>
                  <a:txBody>
                    <a:bodyPr/>
                    <a:lstStyle/>
                    <a:p>
                      <a:pPr indent="0" lvl="0" marL="0" marR="0" rtl="0" algn="ctr">
                        <a:lnSpc>
                          <a:spcPct val="115000"/>
                        </a:lnSpc>
                        <a:spcBef>
                          <a:spcPts val="0"/>
                        </a:spcBef>
                        <a:spcAft>
                          <a:spcPts val="0"/>
                        </a:spcAft>
                        <a:buNone/>
                      </a:pPr>
                      <a:r>
                        <a:rPr lang="en-US" sz="1100" u="none" cap="none" strike="noStrike">
                          <a:latin typeface="Libre Baskerville"/>
                          <a:ea typeface="Libre Baskerville"/>
                          <a:cs typeface="Libre Baskerville"/>
                          <a:sym typeface="Libre Baskerville"/>
                        </a:rPr>
                        <a:t>5</a:t>
                      </a:r>
                      <a:endParaRPr sz="1100" u="none" cap="none" strike="noStrike">
                        <a:latin typeface="Calibri"/>
                        <a:ea typeface="Calibri"/>
                        <a:cs typeface="Calibri"/>
                        <a:sym typeface="Calibri"/>
                      </a:endParaRPr>
                    </a:p>
                  </a:txBody>
                  <a:tcPr marT="0" marB="0" marR="68575" marL="68575">
                    <a:lnR cap="flat" cmpd="sng" w="12700">
                      <a:solidFill>
                        <a:schemeClr val="lt1"/>
                      </a:solidFill>
                      <a:prstDash val="solid"/>
                      <a:round/>
                      <a:headEnd len="sm" w="sm" type="none"/>
                      <a:tailEnd len="sm" w="sm" type="none"/>
                    </a:lnR>
                  </a:tcPr>
                </a:tc>
                <a:tc>
                  <a:txBody>
                    <a:bodyPr/>
                    <a:lstStyle/>
                    <a:p>
                      <a:pPr indent="0" lvl="0" marL="0" rtl="0" algn="l">
                        <a:spcBef>
                          <a:spcPts val="580"/>
                        </a:spcBef>
                        <a:spcAft>
                          <a:spcPts val="0"/>
                        </a:spcAft>
                        <a:buNone/>
                      </a:pPr>
                      <a:r>
                        <a:rPr lang="en-US" sz="1100">
                          <a:latin typeface="Calibri"/>
                          <a:ea typeface="Calibri"/>
                          <a:cs typeface="Calibri"/>
                          <a:sym typeface="Calibri"/>
                        </a:rPr>
                        <a:t>“Adaptive machine learning strategies for network calibration of IoT smart air quality monitoring devices”, Pattern Recognition Letters (2020)</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100">
                          <a:latin typeface="Calibri"/>
                          <a:ea typeface="Calibri"/>
                          <a:cs typeface="Calibri"/>
                          <a:sym typeface="Calibri"/>
                        </a:rPr>
                        <a:t>Overcoming the limited accuracy of long term field deployment of AQMS. </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580"/>
                        </a:spcBef>
                        <a:spcAft>
                          <a:spcPts val="0"/>
                        </a:spcAft>
                        <a:buNone/>
                      </a:pPr>
                      <a:r>
                        <a:rPr lang="en-US" sz="1100">
                          <a:latin typeface="Calibri"/>
                          <a:ea typeface="Calibri"/>
                          <a:cs typeface="Calibri"/>
                          <a:sym typeface="Calibri"/>
                        </a:rPr>
                        <a:t>They have obtained results from different calibration update scenarios to overcome drift effects arising due to multi seasonal deployment of low cost AQM</a:t>
                      </a:r>
                      <a:r>
                        <a:rPr lang="en-US" sz="1100">
                          <a:latin typeface="Calibri"/>
                          <a:ea typeface="Calibri"/>
                          <a:cs typeface="Calibri"/>
                          <a:sym typeface="Calibri"/>
                        </a:rPr>
                        <a:t>S</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580"/>
                        </a:spcBef>
                        <a:spcAft>
                          <a:spcPts val="0"/>
                        </a:spcAft>
                        <a:buNone/>
                      </a:pPr>
                      <a:r>
                        <a:rPr lang="en-US" sz="1000">
                          <a:latin typeface="Calibri"/>
                          <a:ea typeface="Calibri"/>
                          <a:cs typeface="Calibri"/>
                          <a:sym typeface="Calibri"/>
                        </a:rPr>
                        <a:t>Results indicate the relevance of both update periods and amount of labelled samples in determining the final performances. Daily updates using a single hour of high accuracy data.</a:t>
                      </a:r>
                      <a:endParaRPr sz="1300"/>
                    </a:p>
                  </a:txBody>
                  <a:tcPr marT="0" marB="0" marR="68575" marL="68575">
                    <a:lnL cap="flat" cmpd="sng" w="12700">
                      <a:solidFill>
                        <a:schemeClr val="lt1"/>
                      </a:solidFill>
                      <a:prstDash val="solid"/>
                      <a:round/>
                      <a:headEnd len="sm" w="sm" type="none"/>
                      <a:tailEnd len="sm" w="sm" type="none"/>
                    </a:lnL>
                  </a:tcPr>
                </a:tc>
              </a:tr>
              <a:tr h="130100">
                <a:tc>
                  <a:txBody>
                    <a:bodyPr/>
                    <a:lstStyle/>
                    <a:p>
                      <a:pPr indent="0" lvl="0" marL="0" marR="0" rtl="0" algn="ctr">
                        <a:lnSpc>
                          <a:spcPct val="115000"/>
                        </a:lnSpc>
                        <a:spcBef>
                          <a:spcPts val="0"/>
                        </a:spcBef>
                        <a:spcAft>
                          <a:spcPts val="0"/>
                        </a:spcAft>
                        <a:buNone/>
                      </a:pPr>
                      <a:r>
                        <a:rPr lang="en-US" sz="1100" u="none" cap="none" strike="noStrike">
                          <a:latin typeface="Libre Baskerville"/>
                          <a:ea typeface="Libre Baskerville"/>
                          <a:cs typeface="Libre Baskerville"/>
                          <a:sym typeface="Libre Baskerville"/>
                        </a:rPr>
                        <a:t>6</a:t>
                      </a:r>
                      <a:endParaRPr sz="1100" u="none" cap="none" strike="noStrike">
                        <a:latin typeface="Calibri"/>
                        <a:ea typeface="Calibri"/>
                        <a:cs typeface="Calibri"/>
                        <a:sym typeface="Calibri"/>
                      </a:endParaRPr>
                    </a:p>
                  </a:txBody>
                  <a:tcPr marT="0" marB="0" marR="68575" marL="68575"/>
                </a:tc>
                <a:tc>
                  <a:txBody>
                    <a:bodyPr/>
                    <a:lstStyle/>
                    <a:p>
                      <a:pPr indent="0" lvl="0" marL="0" rtl="0" algn="l">
                        <a:spcBef>
                          <a:spcPts val="580"/>
                        </a:spcBef>
                        <a:spcAft>
                          <a:spcPts val="0"/>
                        </a:spcAft>
                        <a:buNone/>
                      </a:pPr>
                      <a:r>
                        <a:rPr lang="en-US" sz="1000">
                          <a:latin typeface="Calibri"/>
                          <a:ea typeface="Calibri"/>
                          <a:cs typeface="Calibri"/>
                          <a:sym typeface="Calibri"/>
                        </a:rPr>
                        <a:t>Air Quality Prediction: Big Data and Machine Learning Approaches</a:t>
                      </a:r>
                      <a:endParaRPr sz="1000">
                        <a:latin typeface="Calibri"/>
                        <a:ea typeface="Calibri"/>
                        <a:cs typeface="Calibri"/>
                        <a:sym typeface="Calibri"/>
                      </a:endParaRPr>
                    </a:p>
                  </a:txBody>
                  <a:tcPr marT="0" marB="0" marR="68575" marL="68575">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spcBef>
                          <a:spcPts val="580"/>
                        </a:spcBef>
                        <a:spcAft>
                          <a:spcPts val="0"/>
                        </a:spcAft>
                        <a:buClr>
                          <a:schemeClr val="dk1"/>
                        </a:buClr>
                        <a:buSzPts val="1100"/>
                        <a:buFont typeface="Arial"/>
                        <a:buNone/>
                      </a:pPr>
                      <a:r>
                        <a:rPr lang="en-US" sz="1000">
                          <a:latin typeface="Calibri"/>
                          <a:ea typeface="Calibri"/>
                          <a:cs typeface="Calibri"/>
                          <a:sym typeface="Calibri"/>
                        </a:rPr>
                        <a:t>Air Quality Prediction: Big Data and Machine Learning Approaches</a:t>
                      </a:r>
                      <a:endParaRPr sz="900">
                        <a:latin typeface="Calibri"/>
                        <a:ea typeface="Calibri"/>
                        <a:cs typeface="Calibri"/>
                        <a:sym typeface="Calibri"/>
                      </a:endParaRPr>
                    </a:p>
                  </a:txBody>
                  <a:tcPr marT="0" marB="0" marR="68575" marL="68575">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spcBef>
                          <a:spcPts val="580"/>
                        </a:spcBef>
                        <a:spcAft>
                          <a:spcPts val="0"/>
                        </a:spcAft>
                        <a:buClr>
                          <a:schemeClr val="dk1"/>
                        </a:buClr>
                        <a:buSzPts val="1100"/>
                        <a:buFont typeface="Arial"/>
                        <a:buNone/>
                      </a:pPr>
                      <a:r>
                        <a:rPr lang="en-US" sz="900">
                          <a:latin typeface="Calibri"/>
                          <a:ea typeface="Calibri"/>
                          <a:cs typeface="Calibri"/>
                          <a:sym typeface="Calibri"/>
                        </a:rPr>
                        <a:t>The aim of this research paper is to investigate various big-data and machine learning based techniques for air quality forecasting. It has also compared the existing research papers with big data based models.</a:t>
                      </a:r>
                      <a:endParaRPr/>
                    </a:p>
                  </a:txBody>
                  <a:tcPr marT="0" marB="0" marR="68575" marL="68575">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spcBef>
                          <a:spcPts val="580"/>
                        </a:spcBef>
                        <a:spcAft>
                          <a:spcPts val="0"/>
                        </a:spcAft>
                        <a:buNone/>
                      </a:pPr>
                      <a:r>
                        <a:rPr lang="en-US" sz="1000">
                          <a:latin typeface="Calibri"/>
                          <a:ea typeface="Calibri"/>
                          <a:cs typeface="Calibri"/>
                          <a:sym typeface="Calibri"/>
                        </a:rPr>
                        <a:t>With the advancement of IoT infrastructures, big data technologies, and machine learning techniques, real-time air quality monitor and evaluation is desirable for future smart cities.</a:t>
                      </a:r>
                      <a:endParaRPr sz="1000">
                        <a:latin typeface="Calibri"/>
                        <a:ea typeface="Calibri"/>
                        <a:cs typeface="Calibri"/>
                        <a:sym typeface="Calibri"/>
                      </a:endParaRPr>
                    </a:p>
                    <a:p>
                      <a:pPr indent="0" lvl="0" marL="0" rtl="0" algn="l">
                        <a:spcBef>
                          <a:spcPts val="0"/>
                        </a:spcBef>
                        <a:spcAft>
                          <a:spcPts val="0"/>
                        </a:spcAft>
                        <a:buNone/>
                      </a:pPr>
                      <a:r>
                        <a:t/>
                      </a:r>
                      <a:endParaRPr/>
                    </a:p>
                  </a:txBody>
                  <a:tcPr marT="0" marB="0" marR="68575" marL="68575">
                    <a:lnB cap="flat" cmpd="sng" w="12700">
                      <a:solidFill>
                        <a:schemeClr val="lt1"/>
                      </a:solidFill>
                      <a:prstDash val="solid"/>
                      <a:round/>
                      <a:headEnd len="sm" w="sm" type="none"/>
                      <a:tailEnd len="sm" w="sm" type="none"/>
                    </a:lnB>
                  </a:tcPr>
                </a:tc>
              </a:tr>
              <a:tr h="1004925">
                <a:tc>
                  <a:txBody>
                    <a:bodyPr/>
                    <a:lstStyle/>
                    <a:p>
                      <a:pPr indent="0" lvl="0" marL="0" marR="0" rtl="0" algn="ctr">
                        <a:lnSpc>
                          <a:spcPct val="115000"/>
                        </a:lnSpc>
                        <a:spcBef>
                          <a:spcPts val="0"/>
                        </a:spcBef>
                        <a:spcAft>
                          <a:spcPts val="0"/>
                        </a:spcAft>
                        <a:buNone/>
                      </a:pPr>
                      <a:r>
                        <a:rPr lang="en-US" sz="1100" u="none" cap="none" strike="noStrike">
                          <a:latin typeface="Libre Baskerville"/>
                          <a:ea typeface="Libre Baskerville"/>
                          <a:cs typeface="Libre Baskerville"/>
                          <a:sym typeface="Libre Baskerville"/>
                        </a:rPr>
                        <a:t>7</a:t>
                      </a:r>
                      <a:endParaRPr sz="1100" u="none" cap="none" strike="noStrike">
                        <a:latin typeface="Calibri"/>
                        <a:ea typeface="Calibri"/>
                        <a:cs typeface="Calibri"/>
                        <a:sym typeface="Calibri"/>
                      </a:endParaRPr>
                    </a:p>
                  </a:txBody>
                  <a:tcPr marT="0" marB="0" marR="68575" marL="68575">
                    <a:lnR cap="flat" cmpd="sng" w="12700">
                      <a:solidFill>
                        <a:schemeClr val="lt1"/>
                      </a:solidFill>
                      <a:prstDash val="solid"/>
                      <a:round/>
                      <a:headEnd len="sm" w="sm" type="none"/>
                      <a:tailEnd len="sm" w="sm" type="none"/>
                    </a:lnR>
                  </a:tcPr>
                </a:tc>
                <a:tc>
                  <a:txBody>
                    <a:bodyPr/>
                    <a:lstStyle/>
                    <a:p>
                      <a:pPr indent="0" lvl="0" marL="0" rtl="0" algn="l">
                        <a:spcBef>
                          <a:spcPts val="580"/>
                        </a:spcBef>
                        <a:spcAft>
                          <a:spcPts val="0"/>
                        </a:spcAft>
                        <a:buNone/>
                      </a:pPr>
                      <a:r>
                        <a:rPr lang="en-US" sz="1100">
                          <a:latin typeface="Calibri"/>
                          <a:ea typeface="Calibri"/>
                          <a:cs typeface="Calibri"/>
                          <a:sym typeface="Calibri"/>
                        </a:rPr>
                        <a:t>Real Time Localized Air Quality Monitoring and Prediction Through Mobile and Fixed IoT Sensing Network</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100">
                          <a:latin typeface="Calibri"/>
                          <a:ea typeface="Calibri"/>
                          <a:cs typeface="Calibri"/>
                          <a:sym typeface="Calibri"/>
                        </a:rPr>
                        <a:t>Air Quality monitoring and prediction using Mobile and Static IoT Sensors and predicting using ML algorithms </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just">
                        <a:spcBef>
                          <a:spcPts val="580"/>
                        </a:spcBef>
                        <a:spcAft>
                          <a:spcPts val="0"/>
                        </a:spcAft>
                        <a:buNone/>
                      </a:pPr>
                      <a:r>
                        <a:rPr lang="en-US" sz="1000">
                          <a:latin typeface="Calibri"/>
                          <a:ea typeface="Calibri"/>
                          <a:cs typeface="Calibri"/>
                          <a:sym typeface="Calibri"/>
                        </a:rPr>
                        <a:t>This research focuses on modeling the air quality pattern in a given region by adopting both fixed and moving IoT sensors, which are placed on vehicles patrolling around the region. With this approach, a full spectrum of how air quality varies in nearby regions can be analyzed</a:t>
                      </a:r>
                      <a:r>
                        <a:rPr lang="en-US" sz="1100">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100">
                          <a:latin typeface="Calibri"/>
                          <a:ea typeface="Calibri"/>
                          <a:cs typeface="Calibri"/>
                          <a:sym typeface="Calibri"/>
                        </a:rPr>
                        <a:t>Gradient Boosting Regressor gave the least RMSE for P.M2.5</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920925">
                <a:tc>
                  <a:txBody>
                    <a:bodyPr/>
                    <a:lstStyle/>
                    <a:p>
                      <a:pPr indent="0" lvl="0" marL="0" marR="0" rtl="0" algn="ctr">
                        <a:lnSpc>
                          <a:spcPct val="115000"/>
                        </a:lnSpc>
                        <a:spcBef>
                          <a:spcPts val="0"/>
                        </a:spcBef>
                        <a:spcAft>
                          <a:spcPts val="0"/>
                        </a:spcAft>
                        <a:buNone/>
                      </a:pPr>
                      <a:r>
                        <a:rPr lang="en-US" sz="1100" u="none" cap="none" strike="noStrike">
                          <a:latin typeface="Libre Baskerville"/>
                          <a:ea typeface="Libre Baskerville"/>
                          <a:cs typeface="Libre Baskerville"/>
                          <a:sym typeface="Libre Baskerville"/>
                        </a:rPr>
                        <a:t>8</a:t>
                      </a:r>
                      <a:endParaRPr sz="1100" u="none" cap="none" strike="noStrike">
                        <a:latin typeface="Calibri"/>
                        <a:ea typeface="Calibri"/>
                        <a:cs typeface="Calibri"/>
                        <a:sym typeface="Calibri"/>
                      </a:endParaRPr>
                    </a:p>
                  </a:txBody>
                  <a:tcPr marT="0" marB="0" marR="68575" marL="68575"/>
                </a:tc>
                <a:tc>
                  <a:txBody>
                    <a:bodyPr/>
                    <a:lstStyle/>
                    <a:p>
                      <a:pPr indent="0" lvl="0" marL="0" rtl="0" algn="l">
                        <a:spcBef>
                          <a:spcPts val="580"/>
                        </a:spcBef>
                        <a:spcAft>
                          <a:spcPts val="0"/>
                        </a:spcAft>
                        <a:buNone/>
                      </a:pPr>
                      <a:r>
                        <a:rPr lang="en-US" sz="1100">
                          <a:latin typeface="Calibri"/>
                          <a:ea typeface="Calibri"/>
                          <a:cs typeface="Calibri"/>
                          <a:sym typeface="Calibri"/>
                        </a:rPr>
                        <a:t>IoT enabled Environmental Air Pollution Monitoring and Rerouting system using Machine learning algorithms”,  IOP Conference Series, 2020.</a:t>
                      </a:r>
                      <a:endParaRPr sz="1100" u="none" cap="none" strike="noStrike">
                        <a:latin typeface="Calibri"/>
                        <a:ea typeface="Calibri"/>
                        <a:cs typeface="Calibri"/>
                        <a:sym typeface="Calibri"/>
                      </a:endParaRPr>
                    </a:p>
                  </a:txBody>
                  <a:tcPr marT="0" marB="0" marR="68575" marL="68575">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None/>
                      </a:pPr>
                      <a:r>
                        <a:rPr lang="en-US" sz="1100">
                          <a:latin typeface="Calibri"/>
                          <a:ea typeface="Calibri"/>
                          <a:cs typeface="Calibri"/>
                          <a:sym typeface="Calibri"/>
                        </a:rPr>
                        <a:t>Air pollution monitoring system used as a rerouting system to find pollution free route</a:t>
                      </a:r>
                      <a:endParaRPr sz="1100" u="none" cap="none" strike="noStrike">
                        <a:latin typeface="Calibri"/>
                        <a:ea typeface="Calibri"/>
                        <a:cs typeface="Calibri"/>
                        <a:sym typeface="Calibri"/>
                      </a:endParaRPr>
                    </a:p>
                  </a:txBody>
                  <a:tcPr marT="0" marB="0" marR="68575" marL="68575">
                    <a:lnT cap="flat" cmpd="sng" w="38100">
                      <a:solidFill>
                        <a:schemeClr val="lt1"/>
                      </a:solidFill>
                      <a:prstDash val="solid"/>
                      <a:round/>
                      <a:headEnd len="sm" w="sm" type="none"/>
                      <a:tailEnd len="sm" w="sm" type="none"/>
                    </a:lnT>
                  </a:tcPr>
                </a:tc>
                <a:tc>
                  <a:txBody>
                    <a:bodyPr/>
                    <a:lstStyle/>
                    <a:p>
                      <a:pPr indent="0" lvl="0" marL="0" rtl="0" algn="l">
                        <a:spcBef>
                          <a:spcPts val="580"/>
                        </a:spcBef>
                        <a:spcAft>
                          <a:spcPts val="0"/>
                        </a:spcAft>
                        <a:buNone/>
                      </a:pPr>
                      <a:r>
                        <a:rPr lang="en-US" sz="1000">
                          <a:latin typeface="Calibri"/>
                          <a:ea typeface="Calibri"/>
                          <a:cs typeface="Calibri"/>
                          <a:sym typeface="Calibri"/>
                        </a:rPr>
                        <a:t>With the collected time series samples, the prediction analysis was done with neural network Multilayer perceptron and support vector machine regression (SVMR) learning algorithm.</a:t>
                      </a:r>
                      <a:endParaRPr sz="1000" u="none" cap="none" strike="noStrike">
                        <a:latin typeface="Calibri"/>
                        <a:ea typeface="Calibri"/>
                        <a:cs typeface="Calibri"/>
                        <a:sym typeface="Calibri"/>
                      </a:endParaRPr>
                    </a:p>
                  </a:txBody>
                  <a:tcPr marT="0" marB="0" marR="68575" marL="68575">
                    <a:lnT cap="flat" cmpd="sng" w="38100">
                      <a:solidFill>
                        <a:schemeClr val="lt1"/>
                      </a:solidFill>
                      <a:prstDash val="solid"/>
                      <a:round/>
                      <a:headEnd len="sm" w="sm" type="none"/>
                      <a:tailEnd len="sm" w="sm" type="none"/>
                    </a:lnT>
                  </a:tcPr>
                </a:tc>
                <a:tc>
                  <a:txBody>
                    <a:bodyPr/>
                    <a:lstStyle/>
                    <a:p>
                      <a:pPr indent="0" lvl="0" marL="0" rtl="0" algn="l">
                        <a:spcBef>
                          <a:spcPts val="580"/>
                        </a:spcBef>
                        <a:spcAft>
                          <a:spcPts val="0"/>
                        </a:spcAft>
                        <a:buNone/>
                      </a:pPr>
                      <a:r>
                        <a:rPr lang="en-US" sz="1100">
                          <a:latin typeface="Calibri"/>
                          <a:ea typeface="Calibri"/>
                          <a:cs typeface="Calibri"/>
                          <a:sym typeface="Calibri"/>
                        </a:rPr>
                        <a:t>The pollution conditions were updated successfully updated in the Google Maps API and depending on the pollution conditions the suggested route was the most pollution free route.</a:t>
                      </a:r>
                      <a:endParaRPr sz="1100" u="none" cap="none" strike="noStrike">
                        <a:latin typeface="Calibri"/>
                        <a:ea typeface="Calibri"/>
                        <a:cs typeface="Calibri"/>
                        <a:sym typeface="Calibri"/>
                      </a:endParaRPr>
                    </a:p>
                  </a:txBody>
                  <a:tcPr marT="0" marB="0" marR="68575" marL="68575">
                    <a:lnT cap="flat" cmpd="sng" w="38100">
                      <a:solidFill>
                        <a:schemeClr val="lt1"/>
                      </a:solidFill>
                      <a:prstDash val="solid"/>
                      <a:round/>
                      <a:headEnd len="sm" w="sm" type="none"/>
                      <a:tailEnd len="sm" w="sm" type="none"/>
                    </a:lnT>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5"/>
          <p:cNvSpPr txBox="1"/>
          <p:nvPr>
            <p:ph idx="1" type="body"/>
          </p:nvPr>
        </p:nvSpPr>
        <p:spPr>
          <a:xfrm>
            <a:off x="1299842" y="404664"/>
            <a:ext cx="63942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Summary-Literature Survey</a:t>
            </a:r>
            <a:endParaRPr sz="3600">
              <a:solidFill>
                <a:schemeClr val="dk2"/>
              </a:solidFill>
              <a:latin typeface="Libre Franklin"/>
              <a:ea typeface="Libre Franklin"/>
              <a:cs typeface="Libre Franklin"/>
              <a:sym typeface="Libre Franklin"/>
            </a:endParaRPr>
          </a:p>
        </p:txBody>
      </p:sp>
      <p:sp>
        <p:nvSpPr>
          <p:cNvPr id="251" name="Google Shape;251;p35"/>
          <p:cNvSpPr txBox="1"/>
          <p:nvPr>
            <p:ph idx="12" type="sldNum"/>
          </p:nvPr>
        </p:nvSpPr>
        <p:spPr>
          <a:xfrm>
            <a:off x="511175" y="5670550"/>
            <a:ext cx="585900" cy="273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6</a:t>
            </a:r>
            <a:endParaRPr/>
          </a:p>
        </p:txBody>
      </p:sp>
      <p:graphicFrame>
        <p:nvGraphicFramePr>
          <p:cNvPr id="252" name="Google Shape;252;p35"/>
          <p:cNvGraphicFramePr/>
          <p:nvPr/>
        </p:nvGraphicFramePr>
        <p:xfrm>
          <a:off x="755575" y="1412776"/>
          <a:ext cx="3000000" cy="3000000"/>
        </p:xfrm>
        <a:graphic>
          <a:graphicData uri="http://schemas.openxmlformats.org/drawingml/2006/table">
            <a:tbl>
              <a:tblPr bandRow="1" firstCol="1" firstRow="1">
                <a:noFill/>
                <a:tableStyleId>{FC1FC79A-32B9-4EE3-B692-57ABB818A6D0}</a:tableStyleId>
              </a:tblPr>
              <a:tblGrid>
                <a:gridCol w="720375"/>
                <a:gridCol w="1994825"/>
                <a:gridCol w="1737725"/>
                <a:gridCol w="1737725"/>
                <a:gridCol w="1802225"/>
              </a:tblGrid>
              <a:tr h="593000">
                <a:tc>
                  <a:txBody>
                    <a:bodyPr/>
                    <a:lstStyle/>
                    <a:p>
                      <a:pPr indent="0" lvl="0" marL="0" marR="0" rtl="0" algn="ctr">
                        <a:lnSpc>
                          <a:spcPct val="115000"/>
                        </a:lnSpc>
                        <a:spcBef>
                          <a:spcPts val="0"/>
                        </a:spcBef>
                        <a:spcAft>
                          <a:spcPts val="0"/>
                        </a:spcAft>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Title of the Paper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Results </a:t>
                      </a:r>
                      <a:endParaRPr sz="1100" u="none" cap="none" strike="noStrike">
                        <a:latin typeface="Calibri"/>
                        <a:ea typeface="Calibri"/>
                        <a:cs typeface="Calibri"/>
                        <a:sym typeface="Calibri"/>
                      </a:endParaRPr>
                    </a:p>
                  </a:txBody>
                  <a:tcPr marT="0" marB="0" marR="68575" marL="68575"/>
                </a:tc>
              </a:tr>
              <a:tr h="1105500">
                <a:tc>
                  <a:txBody>
                    <a:bodyPr/>
                    <a:lstStyle/>
                    <a:p>
                      <a:pPr indent="0" lvl="0" marL="0" marR="0" rtl="0" algn="ctr">
                        <a:lnSpc>
                          <a:spcPct val="115000"/>
                        </a:lnSpc>
                        <a:spcBef>
                          <a:spcPts val="0"/>
                        </a:spcBef>
                        <a:spcAft>
                          <a:spcPts val="0"/>
                        </a:spcAft>
                        <a:buNone/>
                      </a:pPr>
                      <a:r>
                        <a:rPr lang="en-US" sz="1100">
                          <a:latin typeface="Libre Baskerville"/>
                          <a:ea typeface="Libre Baskerville"/>
                          <a:cs typeface="Libre Baskerville"/>
                          <a:sym typeface="Libre Baskerville"/>
                        </a:rPr>
                        <a:t>9</a:t>
                      </a:r>
                      <a:endParaRPr sz="1100" u="none" cap="none" strike="noStrike">
                        <a:latin typeface="Calibri"/>
                        <a:ea typeface="Calibri"/>
                        <a:cs typeface="Calibri"/>
                        <a:sym typeface="Calibri"/>
                      </a:endParaRPr>
                    </a:p>
                  </a:txBody>
                  <a:tcPr marT="0" marB="0" marR="68575" marL="68575"/>
                </a:tc>
                <a:tc>
                  <a:txBody>
                    <a:bodyPr/>
                    <a:lstStyle/>
                    <a:p>
                      <a:pPr indent="0" lvl="0" marL="0" rtl="0" algn="l">
                        <a:spcBef>
                          <a:spcPts val="580"/>
                        </a:spcBef>
                        <a:spcAft>
                          <a:spcPts val="0"/>
                        </a:spcAft>
                        <a:buNone/>
                      </a:pPr>
                      <a:r>
                        <a:rPr lang="en-US" sz="1100">
                          <a:latin typeface="Libre Baskerville"/>
                          <a:ea typeface="Libre Baskerville"/>
                          <a:cs typeface="Libre Baskerville"/>
                          <a:sym typeface="Libre Baskerville"/>
                        </a:rPr>
                        <a:t>Air pollution prediction through internet of things technology and big data analytics</a:t>
                      </a:r>
                      <a:endParaRPr sz="800">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0" rtl="0" algn="l">
                        <a:spcBef>
                          <a:spcPts val="580"/>
                        </a:spcBef>
                        <a:spcAft>
                          <a:spcPts val="0"/>
                        </a:spcAft>
                        <a:buClr>
                          <a:schemeClr val="dk1"/>
                        </a:buClr>
                        <a:buSzPts val="1100"/>
                        <a:buFont typeface="Arial"/>
                        <a:buNone/>
                      </a:pPr>
                      <a:r>
                        <a:rPr lang="en-US" sz="1000">
                          <a:latin typeface="Libre Baskerville"/>
                          <a:ea typeface="Libre Baskerville"/>
                          <a:cs typeface="Libre Baskerville"/>
                          <a:sym typeface="Libre Baskerville"/>
                        </a:rPr>
                        <a:t>Air pollution prediction through internet of things technology and big data analytics</a:t>
                      </a:r>
                      <a:endParaRPr sz="7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0" rtl="0" algn="l">
                        <a:spcBef>
                          <a:spcPts val="580"/>
                        </a:spcBef>
                        <a:spcAft>
                          <a:spcPts val="0"/>
                        </a:spcAft>
                        <a:buNone/>
                      </a:pPr>
                      <a:r>
                        <a:rPr lang="en-US" sz="900">
                          <a:latin typeface="Calibri"/>
                          <a:ea typeface="Calibri"/>
                          <a:cs typeface="Calibri"/>
                          <a:sym typeface="Calibri"/>
                        </a:rPr>
                        <a:t>In this paper, we examine the possibility to make a fusion between the two new concepts big data and internet of things; in the context of predicting air pollution that occurs when harmful substances; like NO2, SO2, CO and O3, are introduced into Earth’s atmosphere.</a:t>
                      </a:r>
                      <a:endParaRPr sz="6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0" rtl="0" algn="l">
                        <a:spcBef>
                          <a:spcPts val="580"/>
                        </a:spcBef>
                        <a:spcAft>
                          <a:spcPts val="0"/>
                        </a:spcAft>
                        <a:buNone/>
                      </a:pPr>
                      <a:r>
                        <a:rPr lang="en-US" sz="1000">
                          <a:latin typeface="Calibri"/>
                          <a:ea typeface="Calibri"/>
                          <a:cs typeface="Calibri"/>
                          <a:sym typeface="Calibri"/>
                        </a:rPr>
                        <a:t>Working with US pollution dataset and using Spark technology in Databricks platform, it managed to build an accurate model capable of making good predictions for air quality.</a:t>
                      </a:r>
                      <a:endParaRPr sz="7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r>
              <a:tr h="912150">
                <a:tc>
                  <a:txBody>
                    <a:bodyPr/>
                    <a:lstStyle/>
                    <a:p>
                      <a:pPr indent="0" lvl="0" marL="0" marR="0" rtl="0" algn="ctr">
                        <a:lnSpc>
                          <a:spcPct val="115000"/>
                        </a:lnSpc>
                        <a:spcBef>
                          <a:spcPts val="0"/>
                        </a:spcBef>
                        <a:spcAft>
                          <a:spcPts val="0"/>
                        </a:spcAft>
                        <a:buNone/>
                      </a:pPr>
                      <a:r>
                        <a:rPr lang="en-US" sz="1100">
                          <a:latin typeface="Libre Baskerville"/>
                          <a:ea typeface="Libre Baskerville"/>
                          <a:cs typeface="Libre Baskerville"/>
                          <a:sym typeface="Libre Baskerville"/>
                        </a:rPr>
                        <a:t>10</a:t>
                      </a:r>
                      <a:endParaRPr sz="1100" u="none" cap="none" strike="noStrike">
                        <a:latin typeface="Calibri"/>
                        <a:ea typeface="Calibri"/>
                        <a:cs typeface="Calibri"/>
                        <a:sym typeface="Calibri"/>
                      </a:endParaRPr>
                    </a:p>
                  </a:txBody>
                  <a:tcPr marT="0" marB="0" marR="68575" marL="68575">
                    <a:lnR cap="flat" cmpd="sng" w="12700">
                      <a:solidFill>
                        <a:schemeClr val="lt1"/>
                      </a:solidFill>
                      <a:prstDash val="solid"/>
                      <a:round/>
                      <a:headEnd len="sm" w="sm" type="none"/>
                      <a:tailEnd len="sm" w="sm" type="none"/>
                    </a:lnR>
                  </a:tcPr>
                </a:tc>
                <a:tc>
                  <a:txBody>
                    <a:bodyPr/>
                    <a:lstStyle/>
                    <a:p>
                      <a:pPr indent="0" lvl="0" marL="0" rtl="0" algn="l">
                        <a:spcBef>
                          <a:spcPts val="580"/>
                        </a:spcBef>
                        <a:spcAft>
                          <a:spcPts val="0"/>
                        </a:spcAft>
                        <a:buNone/>
                      </a:pPr>
                      <a:r>
                        <a:rPr lang="en-US">
                          <a:latin typeface="Calibri"/>
                          <a:ea typeface="Calibri"/>
                          <a:cs typeface="Calibri"/>
                          <a:sym typeface="Calibri"/>
                        </a:rPr>
                        <a:t>Developing a risk-based air quality health index</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100">
                          <a:latin typeface="Calibri"/>
                          <a:ea typeface="Calibri"/>
                          <a:cs typeface="Calibri"/>
                          <a:sym typeface="Calibri"/>
                        </a:rPr>
                        <a:t>Finding out the different pollutants in the air and analysing how the affect the Air Quality and consequently the health of people</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spcBef>
                          <a:spcPts val="580"/>
                        </a:spcBef>
                        <a:spcAft>
                          <a:spcPts val="0"/>
                        </a:spcAft>
                        <a:buNone/>
                      </a:pPr>
                      <a:r>
                        <a:rPr lang="en-US" sz="900">
                          <a:latin typeface="Calibri"/>
                          <a:ea typeface="Calibri"/>
                          <a:cs typeface="Calibri"/>
                          <a:sym typeface="Calibri"/>
                        </a:rPr>
                        <a:t>Time series studies were performed to obtain the relative risks of hospital admissions for respiratory and cardiovascular diseases associated with four air pollutants: sulphur dioxide, nitrogen dioxide, ozone, and particulate matter with an aerodynamic diameter less than 10 mm (PM10).</a:t>
                      </a:r>
                      <a:r>
                        <a:rPr lang="en-US" sz="1100">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spcBef>
                          <a:spcPts val="580"/>
                        </a:spcBef>
                        <a:spcAft>
                          <a:spcPts val="0"/>
                        </a:spcAft>
                        <a:buNone/>
                      </a:pPr>
                      <a:r>
                        <a:rPr lang="en-US" sz="1100">
                          <a:latin typeface="Calibri"/>
                          <a:ea typeface="Calibri"/>
                          <a:cs typeface="Calibri"/>
                          <a:sym typeface="Calibri"/>
                        </a:rPr>
                        <a:t>All four air pollutants (NO2, O3, PM10 and SO2) had significantly raised RRs of emergency hospital admissions for respiratory and cardiovascular diseases for all age groups combined.</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1028250">
                <a:tc>
                  <a:txBody>
                    <a:bodyPr/>
                    <a:lstStyle/>
                    <a:p>
                      <a:pPr indent="0" lvl="0" marL="0" marR="0" rtl="0" algn="ctr">
                        <a:lnSpc>
                          <a:spcPct val="115000"/>
                        </a:lnSpc>
                        <a:spcBef>
                          <a:spcPts val="0"/>
                        </a:spcBef>
                        <a:spcAft>
                          <a:spcPts val="0"/>
                        </a:spcAft>
                        <a:buNone/>
                      </a:pPr>
                      <a:r>
                        <a:rPr lang="en-US" sz="1100">
                          <a:latin typeface="Libre Baskerville"/>
                          <a:ea typeface="Libre Baskerville"/>
                          <a:cs typeface="Libre Baskerville"/>
                          <a:sym typeface="Libre Baskerville"/>
                        </a:rPr>
                        <a:t>11</a:t>
                      </a:r>
                      <a:endParaRPr sz="1100" u="none" cap="none" strike="noStrike">
                        <a:latin typeface="Calibri"/>
                        <a:ea typeface="Calibri"/>
                        <a:cs typeface="Calibri"/>
                        <a:sym typeface="Calibri"/>
                      </a:endParaRPr>
                    </a:p>
                  </a:txBody>
                  <a:tcPr marT="0" marB="0" marR="68575" marL="68575">
                    <a:lnR cap="flat" cmpd="sng" w="12700">
                      <a:solidFill>
                        <a:schemeClr val="lt1"/>
                      </a:solidFill>
                      <a:prstDash val="solid"/>
                      <a:round/>
                      <a:headEnd len="sm" w="sm" type="none"/>
                      <a:tailEnd len="sm" w="sm" type="none"/>
                    </a:lnR>
                  </a:tcPr>
                </a:tc>
                <a:tc>
                  <a:txBody>
                    <a:bodyPr/>
                    <a:lstStyle/>
                    <a:p>
                      <a:pPr indent="0" lvl="0" marL="0" rtl="0" algn="l">
                        <a:spcBef>
                          <a:spcPts val="580"/>
                        </a:spcBef>
                        <a:spcAft>
                          <a:spcPts val="0"/>
                        </a:spcAft>
                        <a:buNone/>
                      </a:pPr>
                      <a:r>
                        <a:rPr lang="en-US" sz="1100">
                          <a:latin typeface="Calibri"/>
                          <a:ea typeface="Calibri"/>
                          <a:cs typeface="Calibri"/>
                          <a:sym typeface="Calibri"/>
                        </a:rPr>
                        <a:t>“Air pollution monitoring system using IoT and Artificial Intelligence”, International Journal of Modern Agriculture 2021.</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100">
                          <a:latin typeface="Calibri"/>
                          <a:ea typeface="Calibri"/>
                          <a:cs typeface="Calibri"/>
                          <a:sym typeface="Calibri"/>
                        </a:rPr>
                        <a:t>Air pollution monitoring system using IoT and AI.</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spcBef>
                          <a:spcPts val="580"/>
                        </a:spcBef>
                        <a:spcAft>
                          <a:spcPts val="0"/>
                        </a:spcAft>
                        <a:buNone/>
                      </a:pPr>
                      <a:r>
                        <a:rPr lang="en-US" sz="900">
                          <a:latin typeface="Calibri"/>
                          <a:ea typeface="Calibri"/>
                          <a:cs typeface="Calibri"/>
                          <a:sym typeface="Calibri"/>
                        </a:rPr>
                        <a:t>In this paper, they have proposed a system which monitors CO2, dust and methane. They have used a IoT device to capture the concentration of these gases in the atmosphere.</a:t>
                      </a:r>
                      <a:endParaRPr sz="9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580"/>
                        </a:spcBef>
                        <a:spcAft>
                          <a:spcPts val="0"/>
                        </a:spcAft>
                        <a:buNone/>
                      </a:pPr>
                      <a:r>
                        <a:rPr lang="en-US" sz="900">
                          <a:latin typeface="Calibri"/>
                          <a:ea typeface="Calibri"/>
                          <a:cs typeface="Calibri"/>
                          <a:sym typeface="Calibri"/>
                        </a:rPr>
                        <a:t>They successfully implemented the system and were able to detect the concentration of the various gases in the atmosphere. If a particular gas concentration was greater than the set threshold, an alarm was triggered. </a:t>
                      </a:r>
                      <a:endParaRPr sz="9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920925">
                <a:tc>
                  <a:txBody>
                    <a:bodyPr/>
                    <a:lstStyle/>
                    <a:p>
                      <a:pPr indent="0" lvl="0" marL="0" marR="0" rtl="0" algn="ctr">
                        <a:lnSpc>
                          <a:spcPct val="115000"/>
                        </a:lnSpc>
                        <a:spcBef>
                          <a:spcPts val="0"/>
                        </a:spcBef>
                        <a:spcAft>
                          <a:spcPts val="0"/>
                        </a:spcAft>
                        <a:buNone/>
                      </a:pPr>
                      <a:r>
                        <a:rPr lang="en-US" sz="1100">
                          <a:latin typeface="Libre Baskerville"/>
                          <a:ea typeface="Libre Baskerville"/>
                          <a:cs typeface="Libre Baskerville"/>
                          <a:sym typeface="Libre Baskerville"/>
                        </a:rPr>
                        <a:t>12</a:t>
                      </a:r>
                      <a:endParaRPr sz="1100" u="none" cap="none" strike="noStrike">
                        <a:latin typeface="Calibri"/>
                        <a:ea typeface="Calibri"/>
                        <a:cs typeface="Calibri"/>
                        <a:sym typeface="Calibri"/>
                      </a:endParaRPr>
                    </a:p>
                  </a:txBody>
                  <a:tcPr marT="0" marB="0" marR="68575" marL="68575">
                    <a:lnR cap="flat" cmpd="sng" w="12700">
                      <a:solidFill>
                        <a:schemeClr val="lt1"/>
                      </a:solidFill>
                      <a:prstDash val="solid"/>
                      <a:round/>
                      <a:headEnd len="sm" w="sm" type="none"/>
                      <a:tailEnd len="sm" w="sm" type="none"/>
                    </a:lnR>
                  </a:tcPr>
                </a:tc>
                <a:tc>
                  <a:txBody>
                    <a:bodyPr/>
                    <a:lstStyle/>
                    <a:p>
                      <a:pPr indent="0" lvl="0" marL="0" rtl="0" algn="l">
                        <a:spcBef>
                          <a:spcPts val="580"/>
                        </a:spcBef>
                        <a:spcAft>
                          <a:spcPts val="0"/>
                        </a:spcAft>
                        <a:buNone/>
                      </a:pPr>
                      <a:r>
                        <a:rPr lang="en-US" sz="900">
                          <a:latin typeface="Libre Baskerville"/>
                          <a:ea typeface="Libre Baskerville"/>
                          <a:cs typeface="Libre Baskerville"/>
                          <a:sym typeface="Libre Baskerville"/>
                        </a:rPr>
                        <a:t>Modeling air quality prediction using a deep learning approach: Method optimization and evaluation</a:t>
                      </a:r>
                      <a:endParaRPr sz="6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580"/>
                        </a:spcBef>
                        <a:spcAft>
                          <a:spcPts val="0"/>
                        </a:spcAft>
                        <a:buSzPts val="1100"/>
                        <a:buNone/>
                      </a:pPr>
                      <a:r>
                        <a:rPr lang="en-US" sz="900">
                          <a:latin typeface="Libre Baskerville"/>
                          <a:ea typeface="Libre Baskerville"/>
                          <a:cs typeface="Libre Baskerville"/>
                          <a:sym typeface="Libre Baskerville"/>
                        </a:rPr>
                        <a:t>Modeling air quality prediction using a deep learning approach: Method optimization and evaluation</a:t>
                      </a:r>
                      <a:endParaRPr sz="6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580"/>
                        </a:spcBef>
                        <a:spcAft>
                          <a:spcPts val="0"/>
                        </a:spcAft>
                        <a:buClr>
                          <a:schemeClr val="dk1"/>
                        </a:buClr>
                        <a:buSzPts val="1100"/>
                        <a:buFont typeface="Arial"/>
                        <a:buNone/>
                      </a:pPr>
                      <a:r>
                        <a:rPr lang="en-US" sz="1000">
                          <a:latin typeface="Calibri"/>
                          <a:ea typeface="Calibri"/>
                          <a:cs typeface="Calibri"/>
                          <a:sym typeface="Calibri"/>
                        </a:rPr>
                        <a:t>In this paper , a deep learning framework to predict air quality in the following 24hrs is proposed. A neural network with a temporal sliding long short-term memory extended model(TS-LSTME)</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T cap="flat" cmpd="sng" w="38100">
                      <a:solidFill>
                        <a:schemeClr val="lt1"/>
                      </a:solidFill>
                      <a:prstDash val="solid"/>
                      <a:round/>
                      <a:headEnd len="sm" w="sm" type="none"/>
                      <a:tailEnd len="sm" w="sm" type="none"/>
                    </a:lnT>
                  </a:tcPr>
                </a:tc>
                <a:tc>
                  <a:txBody>
                    <a:bodyPr/>
                    <a:lstStyle/>
                    <a:p>
                      <a:pPr indent="0" lvl="0" marL="0" rtl="0" algn="l">
                        <a:spcBef>
                          <a:spcPts val="580"/>
                        </a:spcBef>
                        <a:spcAft>
                          <a:spcPts val="0"/>
                        </a:spcAft>
                        <a:buNone/>
                      </a:pPr>
                      <a:r>
                        <a:rPr lang="en-US" sz="900">
                          <a:latin typeface="Calibri"/>
                          <a:ea typeface="Calibri"/>
                          <a:cs typeface="Calibri"/>
                          <a:sym typeface="Calibri"/>
                        </a:rPr>
                        <a:t>The proposed model had better stability and performances with high correlation coefficient R Squared, compared to the multiple linear regression, support vector, the traditional LSTM, and the LSTME</a:t>
                      </a:r>
                      <a:endParaRPr sz="600" u="none" cap="none" strike="noStrike">
                        <a:latin typeface="Calibri"/>
                        <a:ea typeface="Calibri"/>
                        <a:cs typeface="Calibri"/>
                        <a:sym typeface="Calibri"/>
                      </a:endParaRPr>
                    </a:p>
                  </a:txBody>
                  <a:tcPr marT="0" marB="0" marR="68575" marL="68575">
                    <a:lnT cap="flat" cmpd="sng" w="38100">
                      <a:solidFill>
                        <a:schemeClr val="lt1"/>
                      </a:solidFill>
                      <a:prstDash val="solid"/>
                      <a:round/>
                      <a:headEnd len="sm" w="sm" type="none"/>
                      <a:tailEnd len="sm" w="sm" type="none"/>
                    </a:lnT>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ph idx="1" type="body"/>
          </p:nvPr>
        </p:nvSpPr>
        <p:spPr>
          <a:xfrm>
            <a:off x="1286242" y="-11"/>
            <a:ext cx="63942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Summary-Literature Survey</a:t>
            </a:r>
            <a:endParaRPr sz="3600">
              <a:solidFill>
                <a:schemeClr val="dk2"/>
              </a:solidFill>
              <a:latin typeface="Libre Franklin"/>
              <a:ea typeface="Libre Franklin"/>
              <a:cs typeface="Libre Franklin"/>
              <a:sym typeface="Libre Franklin"/>
            </a:endParaRPr>
          </a:p>
        </p:txBody>
      </p:sp>
      <p:sp>
        <p:nvSpPr>
          <p:cNvPr id="258" name="Google Shape;258;p36"/>
          <p:cNvSpPr txBox="1"/>
          <p:nvPr>
            <p:ph idx="12" type="sldNum"/>
          </p:nvPr>
        </p:nvSpPr>
        <p:spPr>
          <a:xfrm>
            <a:off x="511175" y="5670550"/>
            <a:ext cx="585900" cy="273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6</a:t>
            </a:r>
            <a:endParaRPr/>
          </a:p>
        </p:txBody>
      </p:sp>
      <p:graphicFrame>
        <p:nvGraphicFramePr>
          <p:cNvPr id="259" name="Google Shape;259;p36"/>
          <p:cNvGraphicFramePr/>
          <p:nvPr/>
        </p:nvGraphicFramePr>
        <p:xfrm>
          <a:off x="415375" y="664576"/>
          <a:ext cx="3000000" cy="3000000"/>
        </p:xfrm>
        <a:graphic>
          <a:graphicData uri="http://schemas.openxmlformats.org/drawingml/2006/table">
            <a:tbl>
              <a:tblPr bandRow="1" firstCol="1" firstRow="1">
                <a:noFill/>
                <a:tableStyleId>{FC1FC79A-32B9-4EE3-B692-57ABB818A6D0}</a:tableStyleId>
              </a:tblPr>
              <a:tblGrid>
                <a:gridCol w="720375"/>
                <a:gridCol w="1994825"/>
                <a:gridCol w="1737725"/>
                <a:gridCol w="1737725"/>
                <a:gridCol w="1802225"/>
              </a:tblGrid>
              <a:tr h="593000">
                <a:tc>
                  <a:txBody>
                    <a:bodyPr/>
                    <a:lstStyle/>
                    <a:p>
                      <a:pPr indent="0" lvl="0" marL="0" marR="0" rtl="0" algn="ctr">
                        <a:lnSpc>
                          <a:spcPct val="115000"/>
                        </a:lnSpc>
                        <a:spcBef>
                          <a:spcPts val="0"/>
                        </a:spcBef>
                        <a:spcAft>
                          <a:spcPts val="0"/>
                        </a:spcAft>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Title of the Paper </a:t>
                      </a:r>
                      <a:endParaRPr sz="11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100" u="none" cap="none" strike="noStrike"/>
                        <a:t>Results </a:t>
                      </a:r>
                      <a:endParaRPr sz="1100" u="none" cap="none" strike="noStrike">
                        <a:latin typeface="Calibri"/>
                        <a:ea typeface="Calibri"/>
                        <a:cs typeface="Calibri"/>
                        <a:sym typeface="Calibri"/>
                      </a:endParaRPr>
                    </a:p>
                  </a:txBody>
                  <a:tcPr marT="0" marB="0" marR="68575" marL="68575">
                    <a:lnB cap="flat" cmpd="sng" w="12700">
                      <a:solidFill>
                        <a:schemeClr val="lt1"/>
                      </a:solidFill>
                      <a:prstDash val="solid"/>
                      <a:round/>
                      <a:headEnd len="sm" w="sm" type="none"/>
                      <a:tailEnd len="sm" w="sm" type="none"/>
                    </a:lnB>
                  </a:tcPr>
                </a:tc>
              </a:tr>
              <a:tr h="1105500">
                <a:tc>
                  <a:txBody>
                    <a:bodyPr/>
                    <a:lstStyle/>
                    <a:p>
                      <a:pPr indent="0" lvl="0" marL="0" marR="0" rtl="0" algn="ctr">
                        <a:lnSpc>
                          <a:spcPct val="115000"/>
                        </a:lnSpc>
                        <a:spcBef>
                          <a:spcPts val="0"/>
                        </a:spcBef>
                        <a:spcAft>
                          <a:spcPts val="0"/>
                        </a:spcAft>
                        <a:buNone/>
                      </a:pPr>
                      <a:r>
                        <a:rPr lang="en-US" sz="1100">
                          <a:latin typeface="Libre Baskerville"/>
                          <a:ea typeface="Libre Baskerville"/>
                          <a:cs typeface="Libre Baskerville"/>
                          <a:sym typeface="Libre Baskerville"/>
                        </a:rPr>
                        <a:t>13</a:t>
                      </a:r>
                      <a:endParaRPr sz="1100" u="none" cap="none" strike="noStrike">
                        <a:latin typeface="Calibri"/>
                        <a:ea typeface="Calibri"/>
                        <a:cs typeface="Calibri"/>
                        <a:sym typeface="Calibri"/>
                      </a:endParaRPr>
                    </a:p>
                  </a:txBody>
                  <a:tcPr marT="0" marB="0" marR="68575" marL="68575">
                    <a:lnR cap="flat" cmpd="sng" w="12700">
                      <a:solidFill>
                        <a:schemeClr val="lt1"/>
                      </a:solidFill>
                      <a:prstDash val="solid"/>
                      <a:round/>
                      <a:headEnd len="sm" w="sm" type="none"/>
                      <a:tailEnd len="sm" w="sm" type="none"/>
                    </a:lnR>
                  </a:tcPr>
                </a:tc>
                <a:tc>
                  <a:txBody>
                    <a:bodyPr/>
                    <a:lstStyle/>
                    <a:p>
                      <a:pPr indent="0" lvl="0" marL="0" rtl="0" algn="l">
                        <a:spcBef>
                          <a:spcPts val="580"/>
                        </a:spcBef>
                        <a:spcAft>
                          <a:spcPts val="0"/>
                        </a:spcAft>
                        <a:buNone/>
                      </a:pPr>
                      <a:r>
                        <a:rPr lang="en-US">
                          <a:latin typeface="Calibri"/>
                          <a:ea typeface="Calibri"/>
                          <a:cs typeface="Calibri"/>
                          <a:sym typeface="Calibri"/>
                        </a:rPr>
                        <a:t>Impact of lockdown on air quality in India during COVID-19 pandemic</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100">
                          <a:latin typeface="Calibri"/>
                          <a:ea typeface="Calibri"/>
                          <a:cs typeface="Calibri"/>
                          <a:sym typeface="Calibri"/>
                        </a:rPr>
                        <a:t>Analysing the Air Quality during lockdown to find out the main contributors to pollution and what caused its reduction</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580"/>
                        </a:spcBef>
                        <a:spcAft>
                          <a:spcPts val="0"/>
                        </a:spcAft>
                        <a:buNone/>
                      </a:pPr>
                      <a:r>
                        <a:rPr lang="en-US" sz="1100">
                          <a:latin typeface="Calibri"/>
                          <a:ea typeface="Calibri"/>
                          <a:cs typeface="Calibri"/>
                          <a:sym typeface="Calibri"/>
                        </a:rPr>
                        <a:t>The trajectory analysis was performed using HYPSPLIT model. an analysis of air quality (particulate matter-PM2.5, Air Quality Index, and tropospheric NO2) over India using ground and satellite observations. </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580"/>
                        </a:spcBef>
                        <a:spcAft>
                          <a:spcPts val="0"/>
                        </a:spcAft>
                        <a:buNone/>
                      </a:pPr>
                      <a:r>
                        <a:rPr lang="en-US" sz="1100">
                          <a:latin typeface="Calibri"/>
                          <a:ea typeface="Calibri"/>
                          <a:cs typeface="Calibri"/>
                          <a:sym typeface="Calibri"/>
                        </a:rPr>
                        <a:t>The key takeaways from the paper were the correlation between PM2.5 and AQI and how Vehicular Motion is one of the major contributors of Air Quality being poor.</a:t>
                      </a:r>
                      <a:endParaRPr sz="1100" u="none" cap="none" strike="noStrike">
                        <a:latin typeface="Calibri"/>
                        <a:ea typeface="Calibri"/>
                        <a:cs typeface="Calibri"/>
                        <a:sym typeface="Calibri"/>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912150">
                <a:tc>
                  <a:txBody>
                    <a:bodyPr/>
                    <a:lstStyle/>
                    <a:p>
                      <a:pPr indent="0" lvl="0" marL="0" marR="0" rtl="0" algn="ctr">
                        <a:lnSpc>
                          <a:spcPct val="115000"/>
                        </a:lnSpc>
                        <a:spcBef>
                          <a:spcPts val="0"/>
                        </a:spcBef>
                        <a:spcAft>
                          <a:spcPts val="0"/>
                        </a:spcAft>
                        <a:buNone/>
                      </a:pPr>
                      <a:r>
                        <a:rPr lang="en-US" sz="1100">
                          <a:latin typeface="Libre Baskerville"/>
                          <a:ea typeface="Libre Baskerville"/>
                          <a:cs typeface="Libre Baskerville"/>
                          <a:sym typeface="Libre Baskerville"/>
                        </a:rPr>
                        <a:t>14</a:t>
                      </a:r>
                      <a:endParaRPr sz="1100" u="none" cap="none" strike="noStrike">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rPr lang="en-US" sz="1100">
                          <a:latin typeface="Calibri"/>
                          <a:ea typeface="Calibri"/>
                          <a:cs typeface="Calibri"/>
                          <a:sym typeface="Calibri"/>
                        </a:rPr>
                        <a:t>A Review on Indoor Air Quality Monitoring using IoT at Campus Environment”, International Journal of Engineering and Technology</a:t>
                      </a:r>
                      <a:endParaRPr sz="1100">
                        <a:latin typeface="Calibri"/>
                        <a:ea typeface="Calibri"/>
                        <a:cs typeface="Calibri"/>
                        <a:sym typeface="Calibri"/>
                      </a:endParaRPr>
                    </a:p>
                  </a:txBody>
                  <a:tcPr marT="0" marB="0" marR="68575" marL="68575">
                    <a:lnT cap="flat" cmpd="sng" w="38100">
                      <a:solidFill>
                        <a:schemeClr val="lt1"/>
                      </a:solidFill>
                      <a:prstDash val="solid"/>
                      <a:round/>
                      <a:headEnd len="sm" w="sm" type="none"/>
                      <a:tailEnd len="sm" w="sm" type="none"/>
                    </a:lnT>
                  </a:tcPr>
                </a:tc>
                <a:tc>
                  <a:txBody>
                    <a:bodyPr/>
                    <a:lstStyle/>
                    <a:p>
                      <a:pPr indent="0" lvl="0" marL="0" rtl="0" algn="l">
                        <a:spcBef>
                          <a:spcPts val="0"/>
                        </a:spcBef>
                        <a:spcAft>
                          <a:spcPts val="0"/>
                        </a:spcAft>
                        <a:buNone/>
                      </a:pPr>
                      <a:r>
                        <a:rPr lang="en-US" sz="1100">
                          <a:latin typeface="Calibri"/>
                          <a:ea typeface="Calibri"/>
                          <a:cs typeface="Calibri"/>
                          <a:sym typeface="Calibri"/>
                        </a:rPr>
                        <a:t>Analysis</a:t>
                      </a:r>
                      <a:r>
                        <a:rPr lang="en-US" sz="1100">
                          <a:latin typeface="Calibri"/>
                          <a:ea typeface="Calibri"/>
                          <a:cs typeface="Calibri"/>
                          <a:sym typeface="Calibri"/>
                        </a:rPr>
                        <a:t> on various indoor air quality measuring systems</a:t>
                      </a:r>
                      <a:endParaRPr sz="1100">
                        <a:latin typeface="Calibri"/>
                        <a:ea typeface="Calibri"/>
                        <a:cs typeface="Calibri"/>
                        <a:sym typeface="Calibri"/>
                      </a:endParaRPr>
                    </a:p>
                  </a:txBody>
                  <a:tcPr marT="0" marB="0" marR="68575" marL="68575">
                    <a:lnT cap="flat" cmpd="sng" w="38100">
                      <a:solidFill>
                        <a:schemeClr val="lt1"/>
                      </a:solidFill>
                      <a:prstDash val="solid"/>
                      <a:round/>
                      <a:headEnd len="sm" w="sm" type="none"/>
                      <a:tailEnd len="sm" w="sm" type="none"/>
                    </a:lnT>
                  </a:tcPr>
                </a:tc>
                <a:tc>
                  <a:txBody>
                    <a:bodyPr/>
                    <a:lstStyle/>
                    <a:p>
                      <a:pPr indent="0" lvl="0" marL="0" rtl="0" algn="l">
                        <a:spcBef>
                          <a:spcPts val="580"/>
                        </a:spcBef>
                        <a:spcAft>
                          <a:spcPts val="0"/>
                        </a:spcAft>
                        <a:buNone/>
                      </a:pPr>
                      <a:r>
                        <a:rPr lang="en-US" sz="1100">
                          <a:latin typeface="Calibri"/>
                          <a:ea typeface="Calibri"/>
                          <a:cs typeface="Calibri"/>
                          <a:sym typeface="Calibri"/>
                        </a:rPr>
                        <a:t>Best way to build a low cost IAQMS is by using Arduino. Pollutants most commonly are used in observations are temperature, humidity, and CO2. Next challenges from IAQ monitoring system is to improve the accuracy of sensor with the condition of ‘&lt; 1ppm’</a:t>
                      </a:r>
                      <a:endParaRPr/>
                    </a:p>
                  </a:txBody>
                  <a:tcPr marT="0" marB="0" marR="68575" marL="68575">
                    <a:lnT cap="flat" cmpd="sng" w="38100">
                      <a:solidFill>
                        <a:schemeClr val="lt1"/>
                      </a:solidFill>
                      <a:prstDash val="solid"/>
                      <a:round/>
                      <a:headEnd len="sm" w="sm" type="none"/>
                      <a:tailEnd len="sm" w="sm" type="none"/>
                    </a:lnT>
                  </a:tcPr>
                </a:tc>
                <a:tc>
                  <a:txBody>
                    <a:bodyPr/>
                    <a:lstStyle/>
                    <a:p>
                      <a:pPr indent="0" lvl="0" marL="0" rtl="0" algn="l">
                        <a:spcBef>
                          <a:spcPts val="580"/>
                        </a:spcBef>
                        <a:spcAft>
                          <a:spcPts val="0"/>
                        </a:spcAft>
                        <a:buNone/>
                      </a:pPr>
                      <a:r>
                        <a:rPr lang="en-US" sz="1100">
                          <a:latin typeface="Calibri"/>
                          <a:ea typeface="Calibri"/>
                          <a:cs typeface="Calibri"/>
                          <a:sym typeface="Calibri"/>
                        </a:rPr>
                        <a:t>This study was conducted for facilitating researchers to create a monitoring system for the Indoor Air Quality by using the Internet of Things.</a:t>
                      </a:r>
                      <a:endParaRPr/>
                    </a:p>
                  </a:txBody>
                  <a:tcPr marT="0" marB="0" marR="68575" marL="68575">
                    <a:lnT cap="flat" cmpd="sng" w="38100">
                      <a:solidFill>
                        <a:schemeClr val="lt1"/>
                      </a:solidFill>
                      <a:prstDash val="solid"/>
                      <a:round/>
                      <a:headEnd len="sm" w="sm" type="none"/>
                      <a:tailEnd len="sm" w="sm" type="none"/>
                    </a:lnT>
                  </a:tcPr>
                </a:tc>
              </a:tr>
              <a:tr h="1004925">
                <a:tc>
                  <a:txBody>
                    <a:bodyPr/>
                    <a:lstStyle/>
                    <a:p>
                      <a:pPr indent="0" lvl="0" marL="0" marR="0" rtl="0" algn="ctr">
                        <a:lnSpc>
                          <a:spcPct val="115000"/>
                        </a:lnSpc>
                        <a:spcBef>
                          <a:spcPts val="0"/>
                        </a:spcBef>
                        <a:spcAft>
                          <a:spcPts val="0"/>
                        </a:spcAft>
                        <a:buNone/>
                      </a:pPr>
                      <a:r>
                        <a:rPr lang="en-US" sz="1100">
                          <a:latin typeface="Libre Baskerville"/>
                          <a:ea typeface="Libre Baskerville"/>
                          <a:cs typeface="Libre Baskerville"/>
                          <a:sym typeface="Libre Baskerville"/>
                        </a:rPr>
                        <a:t>15</a:t>
                      </a:r>
                      <a:endParaRPr sz="1100" u="none" cap="none" strike="noStrike">
                        <a:latin typeface="Calibri"/>
                        <a:ea typeface="Calibri"/>
                        <a:cs typeface="Calibri"/>
                        <a:sym typeface="Calibri"/>
                      </a:endParaRPr>
                    </a:p>
                  </a:txBody>
                  <a:tcPr marT="0" marB="0" marR="68575" marL="68575"/>
                </a:tc>
                <a:tc>
                  <a:txBody>
                    <a:bodyPr/>
                    <a:lstStyle/>
                    <a:p>
                      <a:pPr indent="0" lvl="0" marL="0" rtl="0" algn="l">
                        <a:spcBef>
                          <a:spcPts val="580"/>
                        </a:spcBef>
                        <a:spcAft>
                          <a:spcPts val="0"/>
                        </a:spcAft>
                        <a:buNone/>
                      </a:pPr>
                      <a:r>
                        <a:rPr lang="en-US" sz="900">
                          <a:latin typeface="Libre Baskerville"/>
                          <a:ea typeface="Libre Baskerville"/>
                          <a:cs typeface="Libre Baskerville"/>
                          <a:sym typeface="Libre Baskerville"/>
                        </a:rPr>
                        <a:t>Air Quality Monitoring System Based on IoT using Raspberry Pi</a:t>
                      </a:r>
                      <a:endParaRPr sz="900"/>
                    </a:p>
                  </a:txBody>
                  <a:tcPr marT="0" marB="0" marR="68575" marL="68575"/>
                </a:tc>
                <a:tc>
                  <a:txBody>
                    <a:bodyPr/>
                    <a:lstStyle/>
                    <a:p>
                      <a:pPr indent="0" lvl="0" marL="0" rtl="0" algn="l">
                        <a:spcBef>
                          <a:spcPts val="580"/>
                        </a:spcBef>
                        <a:spcAft>
                          <a:spcPts val="0"/>
                        </a:spcAft>
                        <a:buClr>
                          <a:schemeClr val="dk1"/>
                        </a:buClr>
                        <a:buSzPts val="1100"/>
                        <a:buFont typeface="Arial"/>
                        <a:buNone/>
                      </a:pPr>
                      <a:r>
                        <a:rPr lang="en-US" sz="900">
                          <a:latin typeface="Libre Baskerville"/>
                          <a:ea typeface="Libre Baskerville"/>
                          <a:cs typeface="Libre Baskerville"/>
                          <a:sym typeface="Libre Baskerville"/>
                        </a:rPr>
                        <a:t>Air Quality Monitoring System Based on IoT using Raspberry Pi</a:t>
                      </a:r>
                      <a:endParaRPr sz="1200"/>
                    </a:p>
                  </a:txBody>
                  <a:tcPr marT="0" marB="0" marR="68575" marL="68575"/>
                </a:tc>
                <a:tc>
                  <a:txBody>
                    <a:bodyPr/>
                    <a:lstStyle/>
                    <a:p>
                      <a:pPr indent="0" lvl="0" marL="0" rtl="0" algn="l">
                        <a:spcBef>
                          <a:spcPts val="580"/>
                        </a:spcBef>
                        <a:spcAft>
                          <a:spcPts val="0"/>
                        </a:spcAft>
                        <a:buNone/>
                      </a:pPr>
                      <a:r>
                        <a:rPr lang="en-US" sz="900">
                          <a:latin typeface="Calibri"/>
                          <a:ea typeface="Calibri"/>
                          <a:cs typeface="Calibri"/>
                          <a:sym typeface="Calibri"/>
                        </a:rPr>
                        <a:t>This paper presents a real-time standalone air quality monitoring system. Internet of Things converging with cloud computing offers a novel technique for better management of data coming from different sensors, collected and transmitted by low power, low cost ARM based mini computer Raspberry pi. </a:t>
                      </a:r>
                      <a:endParaRPr sz="900">
                        <a:latin typeface="Calibri"/>
                        <a:ea typeface="Calibri"/>
                        <a:cs typeface="Calibri"/>
                        <a:sym typeface="Calibri"/>
                      </a:endParaRPr>
                    </a:p>
                  </a:txBody>
                  <a:tcPr marT="0" marB="0" marR="68575" marL="68575"/>
                </a:tc>
                <a:tc>
                  <a:txBody>
                    <a:bodyPr/>
                    <a:lstStyle/>
                    <a:p>
                      <a:pPr indent="0" lvl="0" marL="0" rtl="0" algn="l">
                        <a:spcBef>
                          <a:spcPts val="580"/>
                        </a:spcBef>
                        <a:spcAft>
                          <a:spcPts val="0"/>
                        </a:spcAft>
                        <a:buClr>
                          <a:schemeClr val="dk1"/>
                        </a:buClr>
                        <a:buSzPts val="1100"/>
                        <a:buFont typeface="Arial"/>
                        <a:buNone/>
                      </a:pPr>
                      <a:r>
                        <a:rPr lang="en-US" sz="1000">
                          <a:latin typeface="Calibri"/>
                          <a:ea typeface="Calibri"/>
                          <a:cs typeface="Calibri"/>
                          <a:sym typeface="Calibri"/>
                        </a:rPr>
                        <a:t>Internet of Things converging with cloud computing offers a novel technique for better management of data coming from different sensors, collected and transmitted by low power, low cost ARM based mini computer Raspberry pi.</a:t>
                      </a:r>
                      <a:endParaRPr sz="7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7"/>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Proposed System</a:t>
            </a:r>
            <a:endParaRPr sz="3600">
              <a:solidFill>
                <a:schemeClr val="dk2"/>
              </a:solidFill>
              <a:latin typeface="Libre Franklin"/>
              <a:ea typeface="Libre Franklin"/>
              <a:cs typeface="Libre Franklin"/>
              <a:sym typeface="Libre Franklin"/>
            </a:endParaRPr>
          </a:p>
        </p:txBody>
      </p:sp>
      <p:sp>
        <p:nvSpPr>
          <p:cNvPr id="265" name="Google Shape;265;p37"/>
          <p:cNvSpPr txBox="1"/>
          <p:nvPr>
            <p:ph idx="3" type="body"/>
          </p:nvPr>
        </p:nvSpPr>
        <p:spPr>
          <a:xfrm>
            <a:off x="917193" y="1907722"/>
            <a:ext cx="7309614" cy="3498950"/>
          </a:xfrm>
          <a:prstGeom prst="rect">
            <a:avLst/>
          </a:prstGeom>
          <a:noFill/>
          <a:ln>
            <a:noFill/>
          </a:ln>
        </p:spPr>
        <p:txBody>
          <a:bodyPr anchorCtr="0" anchor="t" bIns="91425" lIns="91425" spcFirstLastPara="1" rIns="91425" wrap="square" tIns="91425">
            <a:noAutofit/>
          </a:bodyPr>
          <a:lstStyle/>
          <a:p>
            <a:pPr indent="0" lvl="0" marL="457200" rtl="0" algn="just">
              <a:lnSpc>
                <a:spcPct val="125000"/>
              </a:lnSpc>
              <a:spcBef>
                <a:spcPts val="0"/>
              </a:spcBef>
              <a:spcAft>
                <a:spcPts val="1000"/>
              </a:spcAft>
              <a:buNone/>
            </a:pPr>
            <a:r>
              <a:rPr lang="en-US" sz="1200">
                <a:latin typeface="Times New Roman"/>
                <a:ea typeface="Times New Roman"/>
                <a:cs typeface="Times New Roman"/>
                <a:sym typeface="Times New Roman"/>
              </a:rPr>
              <a:t>The aim of this project is to build a cost effective and efficient air quality monitoring and predicting system using Arduino and various sensors like MQ135 Air quality sensor, MQ131 Ozone sensor, PM2.5 sensor etc. The data collected by the sensors will be uploaded to a server, where it can be used as a test dataset for our model. We aim to build a prediction model using different Machine Learning algorithms such as linear regression, decision tree, random forest etc, and a few Deep Learning algorithms and then choose the best model based on accuracy and error rate. We also aim to benchmark our findings against the recommended limits given by the World Health Organisation and give a few insights on what can be done to stay within the limits. In short, we want to provide a holistic solution.</a:t>
            </a:r>
            <a:endParaRPr>
              <a:latin typeface="Times New Roman"/>
              <a:ea typeface="Times New Roman"/>
              <a:cs typeface="Times New Roman"/>
              <a:sym typeface="Times New Roman"/>
            </a:endParaRPr>
          </a:p>
        </p:txBody>
      </p:sp>
      <p:sp>
        <p:nvSpPr>
          <p:cNvPr id="266" name="Google Shape;266;p37"/>
          <p:cNvSpPr txBox="1"/>
          <p:nvPr>
            <p:ph idx="12" type="sldNum"/>
          </p:nvPr>
        </p:nvSpPr>
        <p:spPr>
          <a:xfrm>
            <a:off x="511175" y="5670550"/>
            <a:ext cx="585788" cy="27305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6</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8"/>
          <p:cNvSpPr txBox="1"/>
          <p:nvPr>
            <p:ph idx="1" type="body"/>
          </p:nvPr>
        </p:nvSpPr>
        <p:spPr>
          <a:xfrm>
            <a:off x="1098696" y="332656"/>
            <a:ext cx="7045224"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Objectives </a:t>
            </a:r>
            <a:endParaRPr sz="3600">
              <a:solidFill>
                <a:schemeClr val="dk2"/>
              </a:solidFill>
              <a:latin typeface="Libre Franklin"/>
              <a:ea typeface="Libre Franklin"/>
              <a:cs typeface="Libre Franklin"/>
              <a:sym typeface="Libre Franklin"/>
            </a:endParaRPr>
          </a:p>
        </p:txBody>
      </p:sp>
      <p:sp>
        <p:nvSpPr>
          <p:cNvPr id="272" name="Google Shape;272;p38"/>
          <p:cNvSpPr txBox="1"/>
          <p:nvPr>
            <p:ph idx="12" type="sldNum"/>
          </p:nvPr>
        </p:nvSpPr>
        <p:spPr>
          <a:xfrm>
            <a:off x="511175" y="5670550"/>
            <a:ext cx="585788" cy="27305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5</a:t>
            </a:r>
            <a:endParaRPr/>
          </a:p>
        </p:txBody>
      </p:sp>
      <p:sp>
        <p:nvSpPr>
          <p:cNvPr id="273" name="Google Shape;273;p38"/>
          <p:cNvSpPr txBox="1"/>
          <p:nvPr/>
        </p:nvSpPr>
        <p:spPr>
          <a:xfrm>
            <a:off x="1054163" y="1156605"/>
            <a:ext cx="7134300" cy="529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While researching about </a:t>
            </a:r>
            <a:r>
              <a:rPr lang="en-US" sz="1600">
                <a:solidFill>
                  <a:schemeClr val="dk1"/>
                </a:solidFill>
                <a:latin typeface="Times New Roman"/>
                <a:ea typeface="Times New Roman"/>
                <a:cs typeface="Times New Roman"/>
                <a:sym typeface="Times New Roman"/>
              </a:rPr>
              <a:t>the current products in the market, we realized that the 3 main reasons the Air Pollution Monitoring systems haven’t been adopted by every organization are:</a:t>
            </a:r>
            <a:endParaRPr sz="1600">
              <a:solidFill>
                <a:schemeClr val="dk1"/>
              </a:solidFill>
              <a:latin typeface="Times New Roman"/>
              <a:ea typeface="Times New Roman"/>
              <a:cs typeface="Times New Roman"/>
              <a:sym typeface="Times New Roman"/>
            </a:endParaRPr>
          </a:p>
          <a:p>
            <a:pPr indent="-209550" lvl="0" marL="457200" rtl="0" algn="l">
              <a:lnSpc>
                <a:spcPct val="115000"/>
              </a:lnSpc>
              <a:spcBef>
                <a:spcPts val="0"/>
              </a:spcBef>
              <a:spcAft>
                <a:spcPts val="0"/>
              </a:spcAft>
              <a:buClr>
                <a:schemeClr val="dk1"/>
              </a:buClr>
              <a:buSzPts val="1500"/>
              <a:buAutoNum type="arabicParenR"/>
            </a:pPr>
            <a:r>
              <a:rPr lang="en-US" sz="1600">
                <a:solidFill>
                  <a:schemeClr val="dk1"/>
                </a:solidFill>
                <a:latin typeface="Times New Roman"/>
                <a:ea typeface="Times New Roman"/>
                <a:cs typeface="Times New Roman"/>
                <a:sym typeface="Times New Roman"/>
              </a:rPr>
              <a:t>High Costs</a:t>
            </a:r>
            <a:endParaRPr sz="1600">
              <a:solidFill>
                <a:schemeClr val="dk1"/>
              </a:solidFill>
              <a:latin typeface="Times New Roman"/>
              <a:ea typeface="Times New Roman"/>
              <a:cs typeface="Times New Roman"/>
              <a:sym typeface="Times New Roman"/>
            </a:endParaRPr>
          </a:p>
          <a:p>
            <a:pPr indent="-209550" lvl="0" marL="457200" rtl="0" algn="l">
              <a:lnSpc>
                <a:spcPct val="115000"/>
              </a:lnSpc>
              <a:spcBef>
                <a:spcPts val="0"/>
              </a:spcBef>
              <a:spcAft>
                <a:spcPts val="0"/>
              </a:spcAft>
              <a:buClr>
                <a:schemeClr val="dk1"/>
              </a:buClr>
              <a:buSzPts val="1500"/>
              <a:buAutoNum type="arabicParenR"/>
            </a:pPr>
            <a:r>
              <a:rPr lang="en-US" sz="1600">
                <a:solidFill>
                  <a:schemeClr val="dk1"/>
                </a:solidFill>
                <a:latin typeface="Times New Roman"/>
                <a:ea typeface="Times New Roman"/>
                <a:cs typeface="Times New Roman"/>
                <a:sym typeface="Times New Roman"/>
              </a:rPr>
              <a:t>Low Awareness</a:t>
            </a:r>
            <a:endParaRPr sz="1600">
              <a:solidFill>
                <a:schemeClr val="dk1"/>
              </a:solidFill>
              <a:latin typeface="Times New Roman"/>
              <a:ea typeface="Times New Roman"/>
              <a:cs typeface="Times New Roman"/>
              <a:sym typeface="Times New Roman"/>
            </a:endParaRPr>
          </a:p>
          <a:p>
            <a:pPr indent="-209550" lvl="0" marL="457200" rtl="0" algn="l">
              <a:lnSpc>
                <a:spcPct val="115000"/>
              </a:lnSpc>
              <a:spcBef>
                <a:spcPts val="0"/>
              </a:spcBef>
              <a:spcAft>
                <a:spcPts val="0"/>
              </a:spcAft>
              <a:buClr>
                <a:schemeClr val="dk1"/>
              </a:buClr>
              <a:buSzPts val="1500"/>
              <a:buAutoNum type="arabicParenR"/>
            </a:pPr>
            <a:r>
              <a:rPr lang="en-US" sz="1600">
                <a:solidFill>
                  <a:schemeClr val="dk1"/>
                </a:solidFill>
                <a:latin typeface="Times New Roman"/>
                <a:ea typeface="Times New Roman"/>
                <a:cs typeface="Times New Roman"/>
                <a:sym typeface="Times New Roman"/>
              </a:rPr>
              <a:t>Bulky Equipment</a:t>
            </a:r>
            <a:endParaRPr sz="1600">
              <a:solidFill>
                <a:schemeClr val="dk1"/>
              </a:solidFill>
              <a:latin typeface="Times New Roman"/>
              <a:ea typeface="Times New Roman"/>
              <a:cs typeface="Times New Roman"/>
              <a:sym typeface="Times New Roman"/>
            </a:endParaRPr>
          </a:p>
          <a:p>
            <a:pPr indent="342900" lvl="0" marL="0" rtl="0" algn="l">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As part of our project, we aim to solve these 3 issues mainly.</a:t>
            </a:r>
            <a:endParaRPr sz="1600">
              <a:solidFill>
                <a:schemeClr val="dk1"/>
              </a:solidFill>
              <a:latin typeface="Times New Roman"/>
              <a:ea typeface="Times New Roman"/>
              <a:cs typeface="Times New Roman"/>
              <a:sym typeface="Times New Roman"/>
            </a:endParaRPr>
          </a:p>
          <a:p>
            <a:pPr indent="34290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Build an IoT system to monitor Air Quality:</a:t>
            </a:r>
            <a:endParaRPr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a) Monitor Concentrations of  No2, So2, O3 and PM 2.5</a:t>
            </a:r>
            <a:endParaRPr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b) Measure AQI</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Build a model to predict the Air Quality in the near future, using the output of the IoT system as input.</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Build a website to display the real time findings.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Provide analytics on the website, such as the maximum recommended limit and the current concentration.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Provide measures to improve Air Quality.</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Provide safety measures.  </a:t>
            </a:r>
            <a:endParaRPr sz="1600">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60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References </a:t>
            </a:r>
            <a:endParaRPr sz="3600">
              <a:solidFill>
                <a:schemeClr val="dk2"/>
              </a:solidFill>
              <a:latin typeface="Libre Franklin"/>
              <a:ea typeface="Libre Franklin"/>
              <a:cs typeface="Libre Franklin"/>
              <a:sym typeface="Libre Franklin"/>
            </a:endParaRPr>
          </a:p>
        </p:txBody>
      </p:sp>
      <p:sp>
        <p:nvSpPr>
          <p:cNvPr id="279" name="Google Shape;279;p39"/>
          <p:cNvSpPr txBox="1"/>
          <p:nvPr>
            <p:ph idx="3" type="body"/>
          </p:nvPr>
        </p:nvSpPr>
        <p:spPr>
          <a:xfrm>
            <a:off x="448376" y="1037077"/>
            <a:ext cx="8432100" cy="53922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SzPts val="1400"/>
              <a:buNone/>
            </a:pPr>
            <a:r>
              <a:rPr lang="en-US" sz="1800">
                <a:latin typeface="Arial"/>
                <a:ea typeface="Arial"/>
                <a:cs typeface="Arial"/>
                <a:sym typeface="Arial"/>
              </a:rPr>
              <a:t> </a:t>
            </a:r>
            <a:endParaRPr sz="1800">
              <a:latin typeface="Arial"/>
              <a:ea typeface="Arial"/>
              <a:cs typeface="Arial"/>
              <a:sym typeface="Arial"/>
            </a:endParaRPr>
          </a:p>
          <a:p>
            <a:pPr indent="-317500" lvl="0" marL="457200" rtl="0" algn="l">
              <a:spcBef>
                <a:spcPts val="580"/>
              </a:spcBef>
              <a:spcAft>
                <a:spcPts val="0"/>
              </a:spcAft>
              <a:buSzPts val="1400"/>
              <a:buAutoNum type="arabicPeriod"/>
            </a:pPr>
            <a:r>
              <a:rPr lang="en-US" sz="1400"/>
              <a:t>Temesegan Walelign Ayele, et. al “Air pollution monitoring and prediction using IoT”, on Inventive Communication and Computational Technologies (ICICCT 2018)IEEE Xplore Compliant - Part Number: CFP18BAC-ART; ISBN:978-1-5386-1974-2 – 2018</a:t>
            </a:r>
            <a:endParaRPr sz="1400"/>
          </a:p>
          <a:p>
            <a:pPr indent="-317500" lvl="0" marL="457200" rtl="0" algn="l">
              <a:spcBef>
                <a:spcPts val="0"/>
              </a:spcBef>
              <a:spcAft>
                <a:spcPts val="0"/>
              </a:spcAft>
              <a:buSzPts val="1400"/>
              <a:buAutoNum type="arabicPeriod"/>
            </a:pPr>
            <a:r>
              <a:rPr lang="en-US" sz="1400"/>
              <a:t>Ssneha Balasubramanian et al. “Air Pollution Monitoring and Prediction Using IoT and Machine Learning”, IJCSIT, 2021.</a:t>
            </a:r>
            <a:endParaRPr sz="1400"/>
          </a:p>
          <a:p>
            <a:pPr indent="-317500" lvl="0" marL="457200" rtl="0" algn="l">
              <a:spcBef>
                <a:spcPts val="0"/>
              </a:spcBef>
              <a:spcAft>
                <a:spcPts val="0"/>
              </a:spcAft>
              <a:buSzPts val="1400"/>
              <a:buAutoNum type="arabicPeriod"/>
            </a:pPr>
            <a:r>
              <a:rPr lang="en-US" sz="1400"/>
              <a:t>T.S. Kitchilan et al M.D.B.C.K. Abeyratne “Air Quality Monitoring And Prediction Using IOT And Machine Learning Approaches” ,IJSRP,2022</a:t>
            </a:r>
            <a:endParaRPr sz="1400"/>
          </a:p>
          <a:p>
            <a:pPr indent="-317500" lvl="0" marL="457200" rtl="0" algn="l">
              <a:spcBef>
                <a:spcPts val="0"/>
              </a:spcBef>
              <a:spcAft>
                <a:spcPts val="0"/>
              </a:spcAft>
              <a:buSzPts val="1400"/>
              <a:buAutoNum type="arabicPeriod"/>
            </a:pPr>
            <a:r>
              <a:rPr lang="en-US" sz="1400"/>
              <a:t>Sachin Bhimrao Bhoite et al. “Air Quality Prediction using Machine Learning Algorithms”, International Journal of Computer Applications Technology and Research Volume 8–Issue 09, 367-370, 2019, ISSN:-2319–8656, 2019</a:t>
            </a:r>
            <a:endParaRPr sz="1400"/>
          </a:p>
          <a:p>
            <a:pPr indent="-317500" lvl="0" marL="457200" rtl="0" algn="l">
              <a:spcBef>
                <a:spcPts val="0"/>
              </a:spcBef>
              <a:spcAft>
                <a:spcPts val="0"/>
              </a:spcAft>
              <a:buSzPts val="1400"/>
              <a:buAutoNum type="arabicPeriod"/>
            </a:pPr>
            <a:r>
              <a:rPr lang="en-US" sz="1400"/>
              <a:t>Saverio De Vito, et al. “Adaptive machine learning strategies for network calibration of IoT smart air quality monitoring devices”, Pattern Recognition Letters (2020).</a:t>
            </a:r>
            <a:endParaRPr sz="1400"/>
          </a:p>
          <a:p>
            <a:pPr indent="-317500" lvl="0" marL="457200" rtl="0" algn="l">
              <a:spcBef>
                <a:spcPts val="0"/>
              </a:spcBef>
              <a:spcAft>
                <a:spcPts val="0"/>
              </a:spcAft>
              <a:buSzPts val="1400"/>
              <a:buAutoNum type="arabicPeriod"/>
            </a:pPr>
            <a:r>
              <a:rPr lang="en-US" sz="1400"/>
              <a:t>Gaganjot Kaur, “Air Quality Prediction: Big Data and Machine Learning Approaches”,Researchgate, 2018</a:t>
            </a:r>
            <a:endParaRPr sz="1400"/>
          </a:p>
          <a:p>
            <a:pPr indent="-317500" lvl="0" marL="457200" rtl="0" algn="l">
              <a:spcBef>
                <a:spcPts val="0"/>
              </a:spcBef>
              <a:spcAft>
                <a:spcPts val="0"/>
              </a:spcAft>
              <a:buSzPts val="1400"/>
              <a:buAutoNum type="arabicPeriod"/>
            </a:pPr>
            <a:r>
              <a:rPr lang="en-US" sz="1400"/>
              <a:t>Dan Zhang, et al. “Real Time Localized Air Quality Monitoring and Prediction Through Mobile and Fixed IoT Sensing Network”,  IEEE Access, 10.1109/ACCESS.2020.2993547, 2020</a:t>
            </a:r>
            <a:endParaRPr sz="1400"/>
          </a:p>
          <a:p>
            <a:pPr indent="-317500" lvl="0" marL="457200" rtl="0" algn="l">
              <a:spcBef>
                <a:spcPts val="0"/>
              </a:spcBef>
              <a:spcAft>
                <a:spcPts val="0"/>
              </a:spcAft>
              <a:buSzPts val="1400"/>
              <a:buAutoNum type="arabicPeriod"/>
            </a:pPr>
            <a:r>
              <a:rPr lang="en-US" sz="1400"/>
              <a:t>Leeban Moses, et al. “IoT enabled Environmental Air Pollution Monitoring and Rerouting system using Machine learning algorithms”,  IOP Conference Series, 2020</a:t>
            </a:r>
            <a:endParaRPr sz="1400"/>
          </a:p>
          <a:p>
            <a:pPr indent="-317500" lvl="0" marL="457200" rtl="0" algn="l">
              <a:spcBef>
                <a:spcPts val="0"/>
              </a:spcBef>
              <a:spcAft>
                <a:spcPts val="0"/>
              </a:spcAft>
              <a:buSzPts val="1400"/>
              <a:buAutoNum type="arabicPeriod"/>
            </a:pPr>
            <a:r>
              <a:rPr lang="en-US" sz="1400"/>
              <a:t>Safae Sossi Alaoui et al., Brahim Aksasse and Yousef Farhaoui ,“Air pollution prediction through internet of things technology and big data analytics”, 2019 Inderscience Enterprises Ltd.</a:t>
            </a:r>
            <a:endParaRPr sz="1400"/>
          </a:p>
          <a:p>
            <a:pPr indent="0" lvl="0" marL="0" rtl="0" algn="just">
              <a:lnSpc>
                <a:spcPct val="150000"/>
              </a:lnSpc>
              <a:spcBef>
                <a:spcPts val="0"/>
              </a:spcBef>
              <a:spcAft>
                <a:spcPts val="600"/>
              </a:spcAft>
              <a:buSzPts val="1400"/>
              <a:buNone/>
            </a:pPr>
            <a:r>
              <a:t/>
            </a:r>
            <a:endParaRPr>
              <a:latin typeface="Times New Roman"/>
              <a:ea typeface="Times New Roman"/>
              <a:cs typeface="Times New Roman"/>
              <a:sym typeface="Times New Roman"/>
            </a:endParaRPr>
          </a:p>
        </p:txBody>
      </p:sp>
      <p:sp>
        <p:nvSpPr>
          <p:cNvPr id="280" name="Google Shape;280;p39"/>
          <p:cNvSpPr txBox="1"/>
          <p:nvPr>
            <p:ph idx="12" type="sldNum"/>
          </p:nvPr>
        </p:nvSpPr>
        <p:spPr>
          <a:xfrm>
            <a:off x="511175" y="5670550"/>
            <a:ext cx="585788" cy="27305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0"/>
          <p:cNvSpPr txBox="1"/>
          <p:nvPr>
            <p:ph idx="1" type="body"/>
          </p:nvPr>
        </p:nvSpPr>
        <p:spPr>
          <a:xfrm>
            <a:off x="688623" y="404664"/>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References </a:t>
            </a:r>
            <a:endParaRPr sz="3600">
              <a:solidFill>
                <a:schemeClr val="dk2"/>
              </a:solidFill>
              <a:latin typeface="Libre Franklin"/>
              <a:ea typeface="Libre Franklin"/>
              <a:cs typeface="Libre Franklin"/>
              <a:sym typeface="Libre Franklin"/>
            </a:endParaRPr>
          </a:p>
        </p:txBody>
      </p:sp>
      <p:sp>
        <p:nvSpPr>
          <p:cNvPr id="286" name="Google Shape;286;p40"/>
          <p:cNvSpPr txBox="1"/>
          <p:nvPr>
            <p:ph idx="3" type="body"/>
          </p:nvPr>
        </p:nvSpPr>
        <p:spPr>
          <a:xfrm>
            <a:off x="448375" y="1037075"/>
            <a:ext cx="8432100" cy="46335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SzPts val="1400"/>
              <a:buNone/>
            </a:pPr>
            <a:r>
              <a:rPr lang="en-US" sz="1800">
                <a:latin typeface="Arial"/>
                <a:ea typeface="Arial"/>
                <a:cs typeface="Arial"/>
                <a:sym typeface="Arial"/>
              </a:rPr>
              <a:t> </a:t>
            </a:r>
            <a:endParaRPr sz="1800">
              <a:latin typeface="Arial"/>
              <a:ea typeface="Arial"/>
              <a:cs typeface="Arial"/>
              <a:sym typeface="Arial"/>
            </a:endParaRPr>
          </a:p>
          <a:p>
            <a:pPr indent="0" lvl="0" marL="0" rtl="0" algn="l">
              <a:spcBef>
                <a:spcPts val="580"/>
              </a:spcBef>
              <a:spcAft>
                <a:spcPts val="0"/>
              </a:spcAft>
              <a:buNone/>
            </a:pPr>
            <a:r>
              <a:rPr lang="en-US" sz="1400"/>
              <a:t>10. Tze Wai Wong, et al. “Developing a risk-based air quality health index” , Elesevire ,2012</a:t>
            </a:r>
            <a:endParaRPr sz="1400"/>
          </a:p>
          <a:p>
            <a:pPr indent="0" lvl="0" marL="0" rtl="0" algn="l">
              <a:spcBef>
                <a:spcPts val="580"/>
              </a:spcBef>
              <a:spcAft>
                <a:spcPts val="0"/>
              </a:spcAft>
              <a:buNone/>
            </a:pPr>
            <a:r>
              <a:rPr lang="en-US" sz="1400"/>
              <a:t>11. Meivel S, et. al “Air pollution monitoring system using IoT and Artificial Intelligence”, International Journal of Modern Agriculture 2021.</a:t>
            </a:r>
            <a:endParaRPr sz="1400"/>
          </a:p>
          <a:p>
            <a:pPr indent="0" lvl="0" marL="0" rtl="0" algn="l">
              <a:spcBef>
                <a:spcPts val="580"/>
              </a:spcBef>
              <a:spcAft>
                <a:spcPts val="0"/>
              </a:spcAft>
              <a:buNone/>
            </a:pPr>
            <a:r>
              <a:rPr lang="en-US" sz="1400"/>
              <a:t>12. Wenjing Mao, Weilin Wang, Limin Jiao, Suli Zhao, Anbao Liu “Modeling air quality prediction using a deep learning approach: Method optimization and evaluation” 2020 Published by Elsevier.</a:t>
            </a:r>
            <a:endParaRPr sz="1400"/>
          </a:p>
          <a:p>
            <a:pPr indent="0" lvl="0" marL="0" rtl="0" algn="l">
              <a:spcBef>
                <a:spcPts val="580"/>
              </a:spcBef>
              <a:spcAft>
                <a:spcPts val="0"/>
              </a:spcAft>
              <a:buNone/>
            </a:pPr>
            <a:r>
              <a:rPr lang="en-US" sz="1400"/>
              <a:t>13. Ramesh P. Singh, et al. “Impact of lockdown on air quality in India during COVID-19 pandemic”, Springer Nature B.V. 2020</a:t>
            </a:r>
            <a:endParaRPr sz="1400"/>
          </a:p>
          <a:p>
            <a:pPr indent="0" lvl="0" marL="0" rtl="0" algn="l">
              <a:spcBef>
                <a:spcPts val="580"/>
              </a:spcBef>
              <a:spcAft>
                <a:spcPts val="0"/>
              </a:spcAft>
              <a:buNone/>
            </a:pPr>
            <a:r>
              <a:rPr lang="en-US" sz="1400"/>
              <a:t>14. Anindya Ananda Hapsari, et al. “A Review on Indoor Air Quality Monitoring using IoT at Campus Environment”, International Journal of Engineering and Technology</a:t>
            </a:r>
            <a:endParaRPr sz="1400"/>
          </a:p>
          <a:p>
            <a:pPr indent="0" lvl="0" marL="0" rtl="0" algn="l">
              <a:spcBef>
                <a:spcPts val="580"/>
              </a:spcBef>
              <a:spcAft>
                <a:spcPts val="0"/>
              </a:spcAft>
              <a:buNone/>
            </a:pPr>
            <a:r>
              <a:rPr lang="en-US" sz="1400"/>
              <a:t>15. Somansh Kumar, “Air Quality Monitoring System Based on IoT using Raspberry Pi”,ISBN:978-1-5090-6471-7/17/$31.00 ©2017 IEEE</a:t>
            </a:r>
            <a:endParaRPr sz="1400"/>
          </a:p>
          <a:p>
            <a:pPr indent="0" lvl="0" marL="0" rtl="0" algn="just">
              <a:lnSpc>
                <a:spcPct val="150000"/>
              </a:lnSpc>
              <a:spcBef>
                <a:spcPts val="0"/>
              </a:spcBef>
              <a:spcAft>
                <a:spcPts val="600"/>
              </a:spcAft>
              <a:buSzPts val="1400"/>
              <a:buNone/>
            </a:pPr>
            <a:r>
              <a:t/>
            </a:r>
            <a:endParaRPr>
              <a:latin typeface="Times New Roman"/>
              <a:ea typeface="Times New Roman"/>
              <a:cs typeface="Times New Roman"/>
              <a:sym typeface="Times New Roman"/>
            </a:endParaRPr>
          </a:p>
        </p:txBody>
      </p:sp>
      <p:sp>
        <p:nvSpPr>
          <p:cNvPr id="287" name="Google Shape;287;p40"/>
          <p:cNvSpPr txBox="1"/>
          <p:nvPr>
            <p:ph idx="12" type="sldNum"/>
          </p:nvPr>
        </p:nvSpPr>
        <p:spPr>
          <a:xfrm>
            <a:off x="511175" y="5670550"/>
            <a:ext cx="585900" cy="273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6</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nvSpPr>
        <p:spPr>
          <a:xfrm>
            <a:off x="650081" y="5600700"/>
            <a:ext cx="64293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lt1"/>
                </a:solidFill>
                <a:latin typeface="Century Gothic"/>
                <a:ea typeface="Century Gothic"/>
                <a:cs typeface="Century Gothic"/>
                <a:sym typeface="Century Gothic"/>
              </a:rPr>
              <a:t>13</a:t>
            </a:r>
            <a:endParaRPr b="1" i="1" sz="2000">
              <a:solidFill>
                <a:schemeClr val="lt1"/>
              </a:solidFill>
              <a:latin typeface="Century Gothic"/>
              <a:ea typeface="Century Gothic"/>
              <a:cs typeface="Century Gothic"/>
              <a:sym typeface="Century Gothic"/>
            </a:endParaRPr>
          </a:p>
        </p:txBody>
      </p:sp>
      <p:sp>
        <p:nvSpPr>
          <p:cNvPr id="293" name="Google Shape;293;p41"/>
          <p:cNvSpPr txBox="1"/>
          <p:nvPr/>
        </p:nvSpPr>
        <p:spPr>
          <a:xfrm>
            <a:off x="3200400" y="3200401"/>
            <a:ext cx="27432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400">
              <a:solidFill>
                <a:srgbClr val="000000"/>
              </a:solidFill>
              <a:latin typeface="Arial"/>
              <a:ea typeface="Arial"/>
              <a:cs typeface="Arial"/>
              <a:sym typeface="Arial"/>
            </a:endParaRPr>
          </a:p>
        </p:txBody>
      </p:sp>
      <p:pic>
        <p:nvPicPr>
          <p:cNvPr descr="A picture containing text, stationary, writing implement, pen&#10;&#10;Description automatically generated" id="294" name="Google Shape;294;p41"/>
          <p:cNvPicPr preferRelativeResize="0"/>
          <p:nvPr/>
        </p:nvPicPr>
        <p:blipFill rotWithShape="1">
          <a:blip r:embed="rId3">
            <a:alphaModFix/>
          </a:blip>
          <a:srcRect b="0" l="0" r="0" t="0"/>
          <a:stretch/>
        </p:blipFill>
        <p:spPr>
          <a:xfrm>
            <a:off x="1131454" y="1987851"/>
            <a:ext cx="7017705" cy="324712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