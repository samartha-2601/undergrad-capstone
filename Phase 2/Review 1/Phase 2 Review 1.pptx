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6858000" cy="9144000"/>
  <p:embeddedFontLst>
    <p:embeddedFont>
      <p:font typeface="Libre Franklin"/>
      <p:regular r:id="rId21"/>
      <p:bold r:id="rId22"/>
      <p:italic r:id="rId23"/>
      <p:boldItalic r:id="rId24"/>
    </p:embeddedFont>
    <p:embeddedFont>
      <p:font typeface="Libre Baskerville"/>
      <p:regular r:id="rId25"/>
      <p:bold r:id="rId26"/>
      <p:italic r:id="rId27"/>
    </p:embeddedFon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LibreFranklin-bold.fntdata"/><Relationship Id="rId21" Type="http://schemas.openxmlformats.org/officeDocument/2006/relationships/font" Target="fonts/LibreFranklin-regular.fntdata"/><Relationship Id="rId24" Type="http://schemas.openxmlformats.org/officeDocument/2006/relationships/font" Target="fonts/LibreFranklin-boldItalic.fntdata"/><Relationship Id="rId23" Type="http://schemas.openxmlformats.org/officeDocument/2006/relationships/font" Target="fonts/LibreFranklin-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ibreBaskerville-bold.fntdata"/><Relationship Id="rId25" Type="http://schemas.openxmlformats.org/officeDocument/2006/relationships/font" Target="fonts/LibreBaskerville-regular.fntdata"/><Relationship Id="rId28" Type="http://schemas.openxmlformats.org/officeDocument/2006/relationships/font" Target="fonts/CenturyGothic-regular.fntdata"/><Relationship Id="rId27" Type="http://schemas.openxmlformats.org/officeDocument/2006/relationships/font" Target="fonts/LibreBaskerville-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28" name="Google Shape;12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048752a9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45" name="Google Shape;145;g2048752a90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1ebe2d69a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54" name="Google Shape;154;g21ebe2d69a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63" name="Google Shape;16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04c31dfdac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73" name="Google Shape;173;g204c31dfdac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85" name="Google Shape;18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04c31dfda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95" name="Google Shape;195;g204c31dfdac_0_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04c31dfdac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04" name="Google Shape;204;g204c31dfdac_0_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1ebe2d69a3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13" name="Google Shape;213;g21ebe2d69a3_0_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1ebe2d69a3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23" name="Google Shape;223;g21ebe2d69a3_0_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33" name="Google Shape;23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42" name="Google Shape;24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9" name="Google Shape;19;p2"/>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0" name="Google Shape;20;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1" name="Google Shape;21;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2"/>
          <p:cNvSpPr/>
          <p:nvPr/>
        </p:nvSpPr>
        <p:spPr>
          <a:xfrm>
            <a:off x="62931" y="1449303"/>
            <a:ext cx="9021537" cy="15273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5" name="Google Shape;25;p2"/>
          <p:cNvSpPr/>
          <p:nvPr/>
        </p:nvSpPr>
        <p:spPr>
          <a:xfrm>
            <a:off x="62931" y="1396720"/>
            <a:ext cx="9021537" cy="12058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6" name="Google Shape;26;p2"/>
          <p:cNvSpPr/>
          <p:nvPr/>
        </p:nvSpPr>
        <p:spPr>
          <a:xfrm>
            <a:off x="62931" y="2976649"/>
            <a:ext cx="9021537" cy="11053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7" name="Google Shape;27;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4" name="Shape 34"/>
        <p:cNvGrpSpPr/>
        <p:nvPr/>
      </p:nvGrpSpPr>
      <p:grpSpPr>
        <a:xfrm>
          <a:off x="0" y="0"/>
          <a:ext cx="0" cy="0"/>
          <a:chOff x="0" y="0"/>
          <a:chExt cx="0" cy="0"/>
        </a:xfrm>
      </p:grpSpPr>
      <p:sp>
        <p:nvSpPr>
          <p:cNvPr id="35" name="Google Shape;35;p4"/>
          <p:cNvSpPr/>
          <p:nvPr>
            <p:ph idx="2" type="pic"/>
          </p:nvPr>
        </p:nvSpPr>
        <p:spPr>
          <a:xfrm>
            <a:off x="3429000" y="1295400"/>
            <a:ext cx="2362200" cy="4267200"/>
          </a:xfrm>
          <a:prstGeom prst="rect">
            <a:avLst/>
          </a:prstGeom>
          <a:noFill/>
          <a:ln>
            <a:noFill/>
          </a:ln>
        </p:spPr>
      </p:sp>
      <p:sp>
        <p:nvSpPr>
          <p:cNvPr id="36" name="Google Shape;36;p4"/>
          <p:cNvSpPr txBox="1"/>
          <p:nvPr>
            <p:ph idx="1" type="body"/>
          </p:nvPr>
        </p:nvSpPr>
        <p:spPr>
          <a:xfrm>
            <a:off x="381000" y="76200"/>
            <a:ext cx="4191000" cy="10160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Clr>
                <a:srgbClr val="000000"/>
              </a:buClr>
              <a:buSzPts val="1400"/>
              <a:buFont typeface="Arial"/>
              <a:buNone/>
              <a:defRPr/>
            </a:lvl1pPr>
            <a:lvl2pPr indent="-342900" lvl="1" marL="914400" algn="l">
              <a:spcBef>
                <a:spcPts val="0"/>
              </a:spcBef>
              <a:spcAft>
                <a:spcPts val="0"/>
              </a:spcAft>
              <a:buClr>
                <a:srgbClr val="000000"/>
              </a:buClr>
              <a:buSzPts val="1800"/>
              <a:buChar char="–"/>
              <a:defRPr/>
            </a:lvl2pPr>
            <a:lvl3pPr indent="-342900" lvl="2" marL="1371600" algn="l">
              <a:spcBef>
                <a:spcPts val="0"/>
              </a:spcBef>
              <a:spcAft>
                <a:spcPts val="0"/>
              </a:spcAft>
              <a:buClr>
                <a:srgbClr val="000000"/>
              </a:buClr>
              <a:buSzPts val="1800"/>
              <a:buChar char="•"/>
              <a:defRPr/>
            </a:lvl3pPr>
            <a:lvl4pPr indent="-342900" lvl="3" marL="1828800" algn="l">
              <a:spcBef>
                <a:spcPts val="0"/>
              </a:spcBef>
              <a:spcAft>
                <a:spcPts val="0"/>
              </a:spcAft>
              <a:buClr>
                <a:srgbClr val="000000"/>
              </a:buClr>
              <a:buSzPts val="1800"/>
              <a:buChar char="–"/>
              <a:defRPr/>
            </a:lvl4pPr>
            <a:lvl5pPr indent="-342900" lvl="4" marL="2286000" algn="l">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7" name="Google Shape;37;p4"/>
          <p:cNvSpPr txBox="1"/>
          <p:nvPr>
            <p:ph idx="3" type="body"/>
          </p:nvPr>
        </p:nvSpPr>
        <p:spPr>
          <a:xfrm>
            <a:off x="4800600" y="76200"/>
            <a:ext cx="3276600" cy="10160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Clr>
                <a:srgbClr val="000000"/>
              </a:buClr>
              <a:buSzPts val="1400"/>
              <a:buFont typeface="Arial"/>
              <a:buNone/>
              <a:defRPr/>
            </a:lvl1pPr>
            <a:lvl2pPr indent="-342900" lvl="1" marL="914400" algn="l">
              <a:spcBef>
                <a:spcPts val="0"/>
              </a:spcBef>
              <a:spcAft>
                <a:spcPts val="0"/>
              </a:spcAft>
              <a:buClr>
                <a:srgbClr val="000000"/>
              </a:buClr>
              <a:buSzPts val="1800"/>
              <a:buChar char="–"/>
              <a:defRPr/>
            </a:lvl2pPr>
            <a:lvl3pPr indent="-342900" lvl="2" marL="1371600" algn="l">
              <a:spcBef>
                <a:spcPts val="0"/>
              </a:spcBef>
              <a:spcAft>
                <a:spcPts val="0"/>
              </a:spcAft>
              <a:buClr>
                <a:srgbClr val="000000"/>
              </a:buClr>
              <a:buSzPts val="1800"/>
              <a:buChar char="•"/>
              <a:defRPr/>
            </a:lvl3pPr>
            <a:lvl4pPr indent="-342900" lvl="3" marL="1828800" algn="l">
              <a:spcBef>
                <a:spcPts val="0"/>
              </a:spcBef>
              <a:spcAft>
                <a:spcPts val="0"/>
              </a:spcAft>
              <a:buClr>
                <a:srgbClr val="000000"/>
              </a:buClr>
              <a:buSzPts val="1800"/>
              <a:buChar char="–"/>
              <a:defRPr/>
            </a:lvl4pPr>
            <a:lvl5pPr indent="-342900" lvl="4" marL="2286000" algn="l">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8" name="Google Shape;38;p4"/>
          <p:cNvSpPr txBox="1"/>
          <p:nvPr>
            <p:ph idx="10" type="dt"/>
          </p:nvPr>
        </p:nvSpPr>
        <p:spPr>
          <a:xfrm>
            <a:off x="7772401" y="6136218"/>
            <a:ext cx="766763" cy="368300"/>
          </a:xfrm>
          <a:prstGeom prst="rect">
            <a:avLst/>
          </a:prstGeom>
          <a:noFill/>
          <a:ln>
            <a:noFill/>
          </a:ln>
        </p:spPr>
        <p:txBody>
          <a:bodyPr anchorCtr="0" anchor="ctr" bIns="91425" lIns="91425" spcFirstLastPara="1" rIns="91425" wrap="square" tIns="91425">
            <a:noAutofit/>
          </a:bodyPr>
          <a:lstStyle>
            <a:lvl1pPr lvl="0" algn="r">
              <a:spcBef>
                <a:spcPts val="0"/>
              </a:spcBef>
              <a:spcAft>
                <a:spcPts val="0"/>
              </a:spcAft>
              <a:buClr>
                <a:schemeClr val="dk2"/>
              </a:buClr>
              <a:buSzPts val="1400"/>
              <a:buFont typeface="Libre Baskerville"/>
              <a:buNone/>
              <a:defRPr/>
            </a:lvl1pPr>
            <a:lvl2pPr lvl="1" algn="l">
              <a:spcBef>
                <a:spcPts val="0"/>
              </a:spcBef>
              <a:spcAft>
                <a:spcPts val="0"/>
              </a:spcAft>
              <a:buClr>
                <a:schemeClr val="dk1"/>
              </a:buClr>
              <a:buSzPts val="1400"/>
              <a:buFont typeface="Libre Baskerville"/>
              <a:buNone/>
              <a:defRPr/>
            </a:lvl2pPr>
            <a:lvl3pPr lvl="2" algn="l">
              <a:spcBef>
                <a:spcPts val="0"/>
              </a:spcBef>
              <a:spcAft>
                <a:spcPts val="0"/>
              </a:spcAft>
              <a:buClr>
                <a:schemeClr val="dk1"/>
              </a:buClr>
              <a:buSzPts val="1400"/>
              <a:buFont typeface="Libre Baskerville"/>
              <a:buNone/>
              <a:defRPr/>
            </a:lvl3pPr>
            <a:lvl4pPr lvl="3" algn="l">
              <a:spcBef>
                <a:spcPts val="0"/>
              </a:spcBef>
              <a:spcAft>
                <a:spcPts val="0"/>
              </a:spcAft>
              <a:buClr>
                <a:schemeClr val="dk1"/>
              </a:buClr>
              <a:buSzPts val="1400"/>
              <a:buFont typeface="Libre Baskerville"/>
              <a:buNone/>
              <a:defRPr/>
            </a:lvl4pPr>
            <a:lvl5pPr lvl="4" algn="l">
              <a:spcBef>
                <a:spcPts val="0"/>
              </a:spcBef>
              <a:spcAft>
                <a:spcPts val="0"/>
              </a:spcAft>
              <a:buClr>
                <a:schemeClr val="dk1"/>
              </a:buClr>
              <a:buSzPts val="1400"/>
              <a:buFont typeface="Libre Baskerville"/>
              <a:buNone/>
              <a:defRPr/>
            </a:lvl5pPr>
            <a:lvl6pPr lvl="5" algn="l">
              <a:spcBef>
                <a:spcPts val="0"/>
              </a:spcBef>
              <a:spcAft>
                <a:spcPts val="0"/>
              </a:spcAft>
              <a:buClr>
                <a:schemeClr val="dk1"/>
              </a:buClr>
              <a:buSzPts val="1400"/>
              <a:buFont typeface="Libre Baskerville"/>
              <a:buNone/>
              <a:defRPr/>
            </a:lvl6pPr>
            <a:lvl7pPr lvl="6" algn="l">
              <a:spcBef>
                <a:spcPts val="0"/>
              </a:spcBef>
              <a:spcAft>
                <a:spcPts val="0"/>
              </a:spcAft>
              <a:buClr>
                <a:schemeClr val="dk1"/>
              </a:buClr>
              <a:buSzPts val="1400"/>
              <a:buFont typeface="Libre Baskerville"/>
              <a:buNone/>
              <a:defRPr/>
            </a:lvl7pPr>
            <a:lvl8pPr lvl="7" algn="l">
              <a:spcBef>
                <a:spcPts val="0"/>
              </a:spcBef>
              <a:spcAft>
                <a:spcPts val="0"/>
              </a:spcAft>
              <a:buClr>
                <a:schemeClr val="dk1"/>
              </a:buClr>
              <a:buSzPts val="1400"/>
              <a:buFont typeface="Libre Baskerville"/>
              <a:buNone/>
              <a:defRPr/>
            </a:lvl8pPr>
            <a:lvl9pPr lvl="8" algn="l">
              <a:spcBef>
                <a:spcPts val="0"/>
              </a:spcBef>
              <a:spcAft>
                <a:spcPts val="0"/>
              </a:spcAft>
              <a:buClr>
                <a:schemeClr val="dk1"/>
              </a:buClr>
              <a:buSzPts val="1400"/>
              <a:buFont typeface="Libre Baskerville"/>
              <a:buNone/>
              <a:defRPr/>
            </a:lvl9pPr>
          </a:lstStyle>
          <a:p/>
        </p:txBody>
      </p:sp>
      <p:sp>
        <p:nvSpPr>
          <p:cNvPr id="39" name="Google Shape;39;p4"/>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Clr>
                <a:schemeClr val="dk2"/>
              </a:buClr>
              <a:buSzPts val="1400"/>
              <a:buFont typeface="Libre Baskerville"/>
              <a:buNone/>
              <a:defRPr/>
            </a:lvl1pPr>
            <a:lvl2pPr lvl="1" algn="l">
              <a:spcBef>
                <a:spcPts val="0"/>
              </a:spcBef>
              <a:spcAft>
                <a:spcPts val="0"/>
              </a:spcAft>
              <a:buClr>
                <a:schemeClr val="dk1"/>
              </a:buClr>
              <a:buSzPts val="1400"/>
              <a:buFont typeface="Libre Baskerville"/>
              <a:buNone/>
              <a:defRPr/>
            </a:lvl2pPr>
            <a:lvl3pPr lvl="2" algn="l">
              <a:spcBef>
                <a:spcPts val="0"/>
              </a:spcBef>
              <a:spcAft>
                <a:spcPts val="0"/>
              </a:spcAft>
              <a:buClr>
                <a:schemeClr val="dk1"/>
              </a:buClr>
              <a:buSzPts val="1400"/>
              <a:buFont typeface="Libre Baskerville"/>
              <a:buNone/>
              <a:defRPr/>
            </a:lvl3pPr>
            <a:lvl4pPr lvl="3" algn="l">
              <a:spcBef>
                <a:spcPts val="0"/>
              </a:spcBef>
              <a:spcAft>
                <a:spcPts val="0"/>
              </a:spcAft>
              <a:buClr>
                <a:schemeClr val="dk1"/>
              </a:buClr>
              <a:buSzPts val="1400"/>
              <a:buFont typeface="Libre Baskerville"/>
              <a:buNone/>
              <a:defRPr/>
            </a:lvl4pPr>
            <a:lvl5pPr lvl="4" algn="l">
              <a:spcBef>
                <a:spcPts val="0"/>
              </a:spcBef>
              <a:spcAft>
                <a:spcPts val="0"/>
              </a:spcAft>
              <a:buClr>
                <a:schemeClr val="dk1"/>
              </a:buClr>
              <a:buSzPts val="1400"/>
              <a:buFont typeface="Libre Baskerville"/>
              <a:buNone/>
              <a:defRPr/>
            </a:lvl5pPr>
            <a:lvl6pPr lvl="5" algn="l">
              <a:spcBef>
                <a:spcPts val="0"/>
              </a:spcBef>
              <a:spcAft>
                <a:spcPts val="0"/>
              </a:spcAft>
              <a:buClr>
                <a:schemeClr val="dk1"/>
              </a:buClr>
              <a:buSzPts val="1400"/>
              <a:buFont typeface="Libre Baskerville"/>
              <a:buNone/>
              <a:defRPr/>
            </a:lvl6pPr>
            <a:lvl7pPr lvl="6" algn="l">
              <a:spcBef>
                <a:spcPts val="0"/>
              </a:spcBef>
              <a:spcAft>
                <a:spcPts val="0"/>
              </a:spcAft>
              <a:buClr>
                <a:schemeClr val="dk1"/>
              </a:buClr>
              <a:buSzPts val="1400"/>
              <a:buFont typeface="Libre Baskerville"/>
              <a:buNone/>
              <a:defRPr/>
            </a:lvl7pPr>
            <a:lvl8pPr lvl="7" algn="l">
              <a:spcBef>
                <a:spcPts val="0"/>
              </a:spcBef>
              <a:spcAft>
                <a:spcPts val="0"/>
              </a:spcAft>
              <a:buClr>
                <a:schemeClr val="dk1"/>
              </a:buClr>
              <a:buSzPts val="1400"/>
              <a:buFont typeface="Libre Baskerville"/>
              <a:buNone/>
              <a:defRPr/>
            </a:lvl8pPr>
            <a:lvl9pPr lvl="8" algn="l">
              <a:spcBef>
                <a:spcPts val="0"/>
              </a:spcBef>
              <a:spcAft>
                <a:spcPts val="0"/>
              </a:spcAft>
              <a:buClr>
                <a:schemeClr val="dk1"/>
              </a:buClr>
              <a:buSzPts val="1400"/>
              <a:buFont typeface="Libre Baskerville"/>
              <a:buNone/>
              <a:defRPr/>
            </a:lvl9pPr>
          </a:lstStyle>
          <a:p/>
        </p:txBody>
      </p:sp>
      <p:sp>
        <p:nvSpPr>
          <p:cNvPr id="40" name="Google Shape;40;p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US"/>
              <a:t>1</a:t>
            </a:r>
            <a:endParaRPr b="0" i="0" sz="1400">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5" name="Shape 45"/>
        <p:cNvGrpSpPr/>
        <p:nvPr/>
      </p:nvGrpSpPr>
      <p:grpSpPr>
        <a:xfrm>
          <a:off x="0" y="0"/>
          <a:ext cx="0" cy="0"/>
          <a:chOff x="0" y="0"/>
          <a:chExt cx="0" cy="0"/>
        </a:xfrm>
      </p:grpSpPr>
      <p:sp>
        <p:nvSpPr>
          <p:cNvPr id="46" name="Google Shape;46;p6"/>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47" name="Google Shape;47;p6"/>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48" name="Google Shape;48;p6"/>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b="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2040"/>
              <a:buNone/>
              <a:defRPr sz="2400">
                <a:solidFill>
                  <a:srgbClr val="888888"/>
                </a:solidFill>
              </a:defRPr>
            </a:lvl1pPr>
            <a:lvl2pPr indent="-228600" lvl="1" marL="914400" algn="l">
              <a:spcBef>
                <a:spcPts val="370"/>
              </a:spcBef>
              <a:spcAft>
                <a:spcPts val="0"/>
              </a:spcAft>
              <a:buSzPts val="1530"/>
              <a:buNone/>
              <a:defRPr sz="1800">
                <a:solidFill>
                  <a:srgbClr val="888888"/>
                </a:solidFill>
              </a:defRPr>
            </a:lvl2pPr>
            <a:lvl3pPr indent="-228600" lvl="2" marL="1371600" algn="l">
              <a:spcBef>
                <a:spcPts val="370"/>
              </a:spcBef>
              <a:spcAft>
                <a:spcPts val="0"/>
              </a:spcAft>
              <a:buSzPts val="1360"/>
              <a:buNone/>
              <a:defRPr sz="1600">
                <a:solidFill>
                  <a:srgbClr val="888888"/>
                </a:solidFill>
              </a:defRPr>
            </a:lvl3pPr>
            <a:lvl4pPr indent="-228600" lvl="3" marL="1828800" algn="l">
              <a:spcBef>
                <a:spcPts val="370"/>
              </a:spcBef>
              <a:spcAft>
                <a:spcPts val="0"/>
              </a:spcAft>
              <a:buSzPts val="1120"/>
              <a:buNone/>
              <a:defRPr sz="1400">
                <a:solidFill>
                  <a:srgbClr val="888888"/>
                </a:solidFill>
              </a:defRPr>
            </a:lvl4pPr>
            <a:lvl5pPr indent="-228600" lvl="4" marL="2286000" algn="l">
              <a:spcBef>
                <a:spcPts val="370"/>
              </a:spcBef>
              <a:spcAft>
                <a:spcPts val="0"/>
              </a:spcAft>
              <a:buSzPts val="1400"/>
              <a:buFont typeface="Libre Baskerville"/>
              <a:buNone/>
              <a:defRPr sz="1400">
                <a:solidFill>
                  <a:srgbClr val="888888"/>
                </a:solidFill>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0" name="Google Shape;50;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p:nvPr/>
        </p:nvSpPr>
        <p:spPr>
          <a:xfrm flipH="1" rot="10800000">
            <a:off x="69412" y="2376830"/>
            <a:ext cx="9013515"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3" name="Google Shape;53;p6"/>
          <p:cNvSpPr/>
          <p:nvPr/>
        </p:nvSpPr>
        <p:spPr>
          <a:xfrm>
            <a:off x="69146" y="2341475"/>
            <a:ext cx="9013781"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4" name="Google Shape;54;p6"/>
          <p:cNvSpPr/>
          <p:nvPr/>
        </p:nvSpPr>
        <p:spPr>
          <a:xfrm>
            <a:off x="68306" y="2468880"/>
            <a:ext cx="9014621" cy="4572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5" name="Google Shape;55;p6"/>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7"/>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2" name="Google Shape;62;p7"/>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8"/>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8"/>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6" name="Google Shape;66;p8"/>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1" name="Google Shape;71;p8"/>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10"/>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79" name="Google Shape;79;p10"/>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80" name="Google Shape;80;p10"/>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0"/>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1530"/>
              <a:buNone/>
              <a:defRPr sz="1800"/>
            </a:lvl1pPr>
            <a:lvl2pPr indent="-228600" lvl="1" marL="914400" algn="l">
              <a:spcBef>
                <a:spcPts val="370"/>
              </a:spcBef>
              <a:spcAft>
                <a:spcPts val="0"/>
              </a:spcAft>
              <a:buSzPts val="1020"/>
              <a:buNone/>
              <a:defRPr sz="1200"/>
            </a:lvl2pPr>
            <a:lvl3pPr indent="-228600" lvl="2" marL="1371600" algn="l">
              <a:spcBef>
                <a:spcPts val="370"/>
              </a:spcBef>
              <a:spcAft>
                <a:spcPts val="0"/>
              </a:spcAft>
              <a:buSzPts val="850"/>
              <a:buNone/>
              <a:defRPr sz="1000"/>
            </a:lvl3pPr>
            <a:lvl4pPr indent="-228600" lvl="3" marL="1828800" algn="l">
              <a:spcBef>
                <a:spcPts val="370"/>
              </a:spcBef>
              <a:spcAft>
                <a:spcPts val="0"/>
              </a:spcAft>
              <a:buSzPts val="720"/>
              <a:buNone/>
              <a:defRPr sz="900"/>
            </a:lvl4pPr>
            <a:lvl5pPr indent="-228600" lvl="4" marL="2286000" algn="l">
              <a:spcBef>
                <a:spcPts val="370"/>
              </a:spcBef>
              <a:spcAft>
                <a:spcPts val="0"/>
              </a:spcAft>
              <a:buSzPts val="900"/>
              <a:buFont typeface="Libre Baskerville"/>
              <a:buNone/>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2" name="Google Shape;82;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10"/>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11"/>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spcBef>
                <a:spcPts val="0"/>
              </a:spcBef>
              <a:spcAft>
                <a:spcPts val="0"/>
              </a:spcAft>
              <a:buClr>
                <a:schemeClr val="dk2"/>
              </a:buClr>
              <a:buSzPts val="2800"/>
              <a:buFont typeface="Libre Franklin"/>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1"/>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1360"/>
              <a:buFont typeface="Libre Baskerville"/>
              <a:buNone/>
              <a:defRPr sz="1600"/>
            </a:lvl1pPr>
            <a:lvl2pPr indent="-293369" lvl="1" marL="914400" algn="l">
              <a:spcBef>
                <a:spcPts val="370"/>
              </a:spcBef>
              <a:spcAft>
                <a:spcPts val="0"/>
              </a:spcAft>
              <a:buSzPts val="1020"/>
              <a:buChar char="⚫"/>
              <a:defRPr sz="1200"/>
            </a:lvl2pPr>
            <a:lvl3pPr indent="-282575" lvl="2" marL="1371600" algn="l">
              <a:spcBef>
                <a:spcPts val="370"/>
              </a:spcBef>
              <a:spcAft>
                <a:spcPts val="0"/>
              </a:spcAft>
              <a:buSzPts val="850"/>
              <a:buChar char="⚫"/>
              <a:defRPr sz="1000"/>
            </a:lvl3pPr>
            <a:lvl4pPr indent="-274319" lvl="3" marL="1828800" algn="l">
              <a:spcBef>
                <a:spcPts val="370"/>
              </a:spcBef>
              <a:spcAft>
                <a:spcPts val="0"/>
              </a:spcAft>
              <a:buSzPts val="720"/>
              <a:buChar char="⚫"/>
              <a:defRPr sz="900"/>
            </a:lvl4pPr>
            <a:lvl5pPr indent="-285750" lvl="4" marL="2286000" algn="l">
              <a:spcBef>
                <a:spcPts val="370"/>
              </a:spcBef>
              <a:spcAft>
                <a:spcPts val="0"/>
              </a:spcAft>
              <a:buSzPts val="900"/>
              <a:buFont typeface="Libre Baskerville"/>
              <a:buChar char="o"/>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9" name="Google Shape;89;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2" name="Google Shape;92;p11"/>
          <p:cNvSpPr/>
          <p:nvPr/>
        </p:nvSpPr>
        <p:spPr>
          <a:xfrm flipH="1" rot="10800000">
            <a:off x="68307" y="4683555"/>
            <a:ext cx="9006840"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3" name="Google Shape;93;p11"/>
          <p:cNvSpPr/>
          <p:nvPr/>
        </p:nvSpPr>
        <p:spPr>
          <a:xfrm>
            <a:off x="68508" y="4650474"/>
            <a:ext cx="9006639"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4" name="Google Shape;94;p11"/>
          <p:cNvSpPr/>
          <p:nvPr/>
        </p:nvSpPr>
        <p:spPr>
          <a:xfrm>
            <a:off x="68510" y="4773224"/>
            <a:ext cx="9006637" cy="4880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5" name="Google Shape;95;p11"/>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2"/>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9" name="Google Shape;99;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3"/>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3"/>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05" name="Google Shape;105;p1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 name="Google Shape;11;p1"/>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6" name="Google Shape;16;p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www.investopedia.com/terms/a/autoregressive.asp" TargetMode="External"/><Relationship Id="rId4" Type="http://schemas.openxmlformats.org/officeDocument/2006/relationships/hyperlink" Target="https://www.investopedia.com/terms/m/movingaverage.as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80000"/>
              </a:lnSpc>
              <a:spcBef>
                <a:spcPts val="0"/>
              </a:spcBef>
              <a:spcAft>
                <a:spcPts val="0"/>
              </a:spcAft>
              <a:buClr>
                <a:srgbClr val="FFFFFF"/>
              </a:buClr>
              <a:buSzPct val="100000"/>
              <a:buFont typeface="Libre Franklin"/>
              <a:buNone/>
            </a:pPr>
            <a:r>
              <a:rPr b="1" lang="en-US"/>
              <a:t>Air pollution monitoring, forecasting and controlling system</a:t>
            </a:r>
            <a:endParaRPr b="1"/>
          </a:p>
        </p:txBody>
      </p:sp>
      <p:sp>
        <p:nvSpPr>
          <p:cNvPr id="113" name="Google Shape;113;p14"/>
          <p:cNvSpPr txBox="1"/>
          <p:nvPr/>
        </p:nvSpPr>
        <p:spPr>
          <a:xfrm>
            <a:off x="5652120" y="3212976"/>
            <a:ext cx="3024300" cy="194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1"/>
              </a:buClr>
              <a:buSzPts val="1530"/>
              <a:buFont typeface="Noto Sans Symbols"/>
              <a:buNone/>
            </a:pPr>
            <a:r>
              <a:rPr b="1" i="0" lang="en-US" sz="1800" u="none" cap="none" strike="noStrike">
                <a:solidFill>
                  <a:srgbClr val="000000"/>
                </a:solidFill>
                <a:latin typeface="Arial"/>
                <a:ea typeface="Arial"/>
                <a:cs typeface="Arial"/>
                <a:sym typeface="Arial"/>
              </a:rPr>
              <a:t>Under the Guidance of</a:t>
            </a:r>
            <a:endParaRPr/>
          </a:p>
          <a:p>
            <a:pPr indent="0" lvl="0" marL="0" marR="0" rtl="0" algn="l">
              <a:spcBef>
                <a:spcPts val="580"/>
              </a:spcBef>
              <a:spcAft>
                <a:spcPts val="0"/>
              </a:spcAft>
              <a:buClr>
                <a:schemeClr val="accent1"/>
              </a:buClr>
              <a:buSzPts val="153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ctr">
              <a:spcBef>
                <a:spcPts val="580"/>
              </a:spcBef>
              <a:spcAft>
                <a:spcPts val="0"/>
              </a:spcAft>
              <a:buClr>
                <a:schemeClr val="accent1"/>
              </a:buClr>
              <a:buSzPts val="1530"/>
              <a:buFont typeface="Noto Sans Symbols"/>
              <a:buNone/>
            </a:pPr>
            <a:r>
              <a:rPr b="1" lang="en-US" sz="1800"/>
              <a:t>Prof. Pallavi B</a:t>
            </a:r>
            <a:endParaRPr/>
          </a:p>
          <a:p>
            <a:pPr indent="0" lvl="0" marL="0" marR="0" rtl="0" algn="ctr">
              <a:spcBef>
                <a:spcPts val="580"/>
              </a:spcBef>
              <a:spcAft>
                <a:spcPts val="0"/>
              </a:spcAft>
              <a:buClr>
                <a:schemeClr val="accent1"/>
              </a:buClr>
              <a:buSzPts val="1530"/>
              <a:buFont typeface="Noto Sans Symbols"/>
              <a:buNone/>
            </a:pPr>
            <a:r>
              <a:rPr lang="en-US" sz="1800"/>
              <a:t>Assistant Professor</a:t>
            </a:r>
            <a:endParaRPr/>
          </a:p>
          <a:p>
            <a:pPr indent="0" lvl="0" marL="0" marR="0" rtl="0" algn="ctr">
              <a:spcBef>
                <a:spcPts val="580"/>
              </a:spcBef>
              <a:spcAft>
                <a:spcPts val="0"/>
              </a:spcAft>
              <a:buClr>
                <a:schemeClr val="accent1"/>
              </a:buClr>
              <a:buSzPts val="1530"/>
              <a:buFont typeface="Noto Sans Symbols"/>
              <a:buNone/>
            </a:pPr>
            <a:r>
              <a:rPr b="0" i="0" lang="en-US" sz="1800" u="none" cap="none" strike="noStrike">
                <a:solidFill>
                  <a:srgbClr val="000000"/>
                </a:solidFill>
                <a:latin typeface="Arial"/>
                <a:ea typeface="Arial"/>
                <a:cs typeface="Arial"/>
                <a:sym typeface="Arial"/>
              </a:rPr>
              <a:t>Department of ISE</a:t>
            </a:r>
            <a:endParaRPr b="0" i="0" sz="1800" u="none" cap="none" strike="noStrike">
              <a:solidFill>
                <a:srgbClr val="000000"/>
              </a:solidFill>
              <a:latin typeface="Arial"/>
              <a:ea typeface="Arial"/>
              <a:cs typeface="Arial"/>
              <a:sym typeface="Arial"/>
            </a:endParaRPr>
          </a:p>
        </p:txBody>
      </p:sp>
      <p:sp>
        <p:nvSpPr>
          <p:cNvPr id="114" name="Google Shape;114;p14"/>
          <p:cNvSpPr txBox="1"/>
          <p:nvPr/>
        </p:nvSpPr>
        <p:spPr>
          <a:xfrm>
            <a:off x="1403648" y="188640"/>
            <a:ext cx="7488832" cy="1224136"/>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spcBef>
                <a:spcPts val="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BMS College of Engineering</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Department of Information Science and Engineering</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CAPSTONE PROJECT PHASE -</a:t>
            </a:r>
            <a:r>
              <a:rPr b="1" lang="en-US" sz="2600">
                <a:solidFill>
                  <a:schemeClr val="dk2"/>
                </a:solidFill>
                <a:latin typeface="Libre Baskerville"/>
                <a:ea typeface="Libre Baskerville"/>
                <a:cs typeface="Libre Baskerville"/>
                <a:sym typeface="Libre Baskerville"/>
              </a:rPr>
              <a:t>2</a:t>
            </a:r>
            <a:r>
              <a:rPr b="1" i="0" lang="en-US" sz="2600" u="none" cap="none" strike="noStrike">
                <a:solidFill>
                  <a:schemeClr val="dk2"/>
                </a:solidFill>
                <a:latin typeface="Libre Baskerville"/>
                <a:ea typeface="Libre Baskerville"/>
                <a:cs typeface="Libre Baskerville"/>
                <a:sym typeface="Libre Baskerville"/>
              </a:rPr>
              <a:t> </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Review - I</a:t>
            </a:r>
            <a:endParaRPr b="1" i="0" sz="2600" u="none" cap="none" strike="noStrike">
              <a:solidFill>
                <a:schemeClr val="dk2"/>
              </a:solidFill>
              <a:latin typeface="Libre Baskerville"/>
              <a:ea typeface="Libre Baskerville"/>
              <a:cs typeface="Libre Baskerville"/>
              <a:sym typeface="Libre Baskerville"/>
            </a:endParaRPr>
          </a:p>
        </p:txBody>
      </p:sp>
      <p:pic>
        <p:nvPicPr>
          <p:cNvPr descr="Related image" id="115" name="Google Shape;115;p14"/>
          <p:cNvPicPr preferRelativeResize="0"/>
          <p:nvPr/>
        </p:nvPicPr>
        <p:blipFill rotWithShape="1">
          <a:blip r:embed="rId3">
            <a:alphaModFix/>
          </a:blip>
          <a:srcRect b="0" l="0" r="0" t="0"/>
          <a:stretch/>
        </p:blipFill>
        <p:spPr>
          <a:xfrm>
            <a:off x="456134" y="195450"/>
            <a:ext cx="1019522" cy="992334"/>
          </a:xfrm>
          <a:prstGeom prst="rect">
            <a:avLst/>
          </a:prstGeom>
          <a:noFill/>
          <a:ln>
            <a:noFill/>
          </a:ln>
        </p:spPr>
      </p:pic>
      <p:sp>
        <p:nvSpPr>
          <p:cNvPr id="116" name="Google Shape;116;p14"/>
          <p:cNvSpPr/>
          <p:nvPr/>
        </p:nvSpPr>
        <p:spPr>
          <a:xfrm>
            <a:off x="179500" y="3074525"/>
            <a:ext cx="4665600" cy="229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Batch No:-</a:t>
            </a:r>
            <a:r>
              <a:rPr b="0" i="0" lang="en-US" sz="1800" u="none" cap="none" strike="noStrike">
                <a:solidFill>
                  <a:srgbClr val="000000"/>
                </a:solidFill>
                <a:latin typeface="Arial"/>
                <a:ea typeface="Arial"/>
                <a:cs typeface="Arial"/>
                <a:sym typeface="Arial"/>
              </a:rPr>
              <a:t> 25</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Project Team  Members: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50000"/>
              </a:lnSpc>
              <a:spcBef>
                <a:spcPts val="0"/>
              </a:spcBef>
              <a:spcAft>
                <a:spcPts val="0"/>
              </a:spcAft>
              <a:buClr>
                <a:schemeClr val="dk1"/>
              </a:buClr>
              <a:buSzPts val="1800"/>
              <a:buFont typeface="Libre Baskerville"/>
              <a:buNone/>
            </a:pPr>
            <a:r>
              <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3F3F3F"/>
              </a:buClr>
              <a:buSzPts val="1800"/>
              <a:buFont typeface="Calibri"/>
              <a:buNone/>
            </a:pPr>
            <a:r>
              <a:rPr b="1" lang="en-US" sz="2000">
                <a:solidFill>
                  <a:schemeClr val="dk1"/>
                </a:solidFill>
                <a:latin typeface="Calibri"/>
                <a:ea typeface="Calibri"/>
                <a:cs typeface="Calibri"/>
                <a:sym typeface="Calibri"/>
              </a:rPr>
              <a:t>Prateek M Gummaraju </a:t>
            </a:r>
            <a:r>
              <a:rPr b="1" i="0" lang="en-US" sz="2000" u="none" cap="none" strike="noStrike">
                <a:solidFill>
                  <a:schemeClr val="dk1"/>
                </a:solidFill>
                <a:latin typeface="Calibri"/>
                <a:ea typeface="Calibri"/>
                <a:cs typeface="Calibri"/>
                <a:sym typeface="Calibri"/>
              </a:rPr>
              <a:t>(</a:t>
            </a:r>
            <a:r>
              <a:rPr b="1" lang="en-US" sz="2000">
                <a:solidFill>
                  <a:schemeClr val="dk1"/>
                </a:solidFill>
                <a:latin typeface="Calibri"/>
                <a:ea typeface="Calibri"/>
                <a:cs typeface="Calibri"/>
                <a:sym typeface="Calibri"/>
              </a:rPr>
              <a:t>1BM19IS117</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lnSpc>
                <a:spcPct val="150000"/>
              </a:lnSpc>
              <a:spcBef>
                <a:spcPts val="0"/>
              </a:spcBef>
              <a:spcAft>
                <a:spcPts val="0"/>
              </a:spcAft>
              <a:buClr>
                <a:srgbClr val="3F3F3F"/>
              </a:buClr>
              <a:buSzPts val="1800"/>
              <a:buFont typeface="Calibri"/>
              <a:buNone/>
            </a:pPr>
            <a:r>
              <a:rPr b="1" lang="en-US" sz="2000">
                <a:solidFill>
                  <a:schemeClr val="dk1"/>
                </a:solidFill>
                <a:latin typeface="Calibri"/>
                <a:ea typeface="Calibri"/>
                <a:cs typeface="Calibri"/>
                <a:sym typeface="Calibri"/>
              </a:rPr>
              <a:t>Ruchi Agarwal </a:t>
            </a:r>
            <a:r>
              <a:rPr b="1" i="0" lang="en-US" sz="2000" u="none" cap="none" strike="noStrike">
                <a:solidFill>
                  <a:schemeClr val="dk1"/>
                </a:solidFill>
                <a:latin typeface="Calibri"/>
                <a:ea typeface="Calibri"/>
                <a:cs typeface="Calibri"/>
                <a:sym typeface="Calibri"/>
              </a:rPr>
              <a:t>(</a:t>
            </a:r>
            <a:r>
              <a:rPr b="1" lang="en-US" sz="2000">
                <a:solidFill>
                  <a:schemeClr val="dk1"/>
                </a:solidFill>
                <a:latin typeface="Calibri"/>
                <a:ea typeface="Calibri"/>
                <a:cs typeface="Calibri"/>
                <a:sym typeface="Calibri"/>
              </a:rPr>
              <a:t>1BM19IS133</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lnSpc>
                <a:spcPct val="150000"/>
              </a:lnSpc>
              <a:spcBef>
                <a:spcPts val="0"/>
              </a:spcBef>
              <a:spcAft>
                <a:spcPts val="0"/>
              </a:spcAft>
              <a:buNone/>
            </a:pPr>
            <a:r>
              <a:rPr b="1" lang="en-US" sz="2000">
                <a:solidFill>
                  <a:schemeClr val="dk1"/>
                </a:solidFill>
                <a:latin typeface="Calibri"/>
                <a:ea typeface="Calibri"/>
                <a:cs typeface="Calibri"/>
                <a:sym typeface="Calibri"/>
              </a:rPr>
              <a:t>Samartha S</a:t>
            </a:r>
            <a:r>
              <a:rPr b="1" i="0" lang="en-US" sz="2000" u="none" cap="none" strike="noStrike">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1BM19IS219</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spcBef>
                <a:spcPts val="0"/>
              </a:spcBef>
              <a:spcAft>
                <a:spcPts val="0"/>
              </a:spcAft>
              <a:buClr>
                <a:schemeClr val="dk1"/>
              </a:buClr>
              <a:buSzPts val="1800"/>
              <a:buFont typeface="Libre Baskerville"/>
              <a:buNone/>
            </a:pPr>
            <a:r>
              <a:t/>
            </a:r>
            <a:endParaRPr b="0" i="0" sz="1800" u="none" cap="none" strike="noStrike">
              <a:solidFill>
                <a:srgbClr val="404040"/>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type="title"/>
          </p:nvPr>
        </p:nvSpPr>
        <p:spPr>
          <a:xfrm>
            <a:off x="611560" y="116632"/>
            <a:ext cx="7772400" cy="720080"/>
          </a:xfrm>
          <a:prstGeom prst="rect">
            <a:avLst/>
          </a:prstGeom>
          <a:noFill/>
          <a:ln>
            <a:noFill/>
          </a:ln>
        </p:spPr>
        <p:txBody>
          <a:bodyPr anchorCtr="0" anchor="b" bIns="91425" lIns="91425" spcFirstLastPara="1" rIns="91425" wrap="square" tIns="45700">
            <a:normAutofit fontScale="90000"/>
          </a:bodyPr>
          <a:lstStyle/>
          <a:p>
            <a:pPr indent="0" lvl="0" marL="0" rtl="0" algn="ctr">
              <a:spcBef>
                <a:spcPts val="0"/>
              </a:spcBef>
              <a:spcAft>
                <a:spcPts val="0"/>
              </a:spcAft>
              <a:buClr>
                <a:schemeClr val="dk2"/>
              </a:buClr>
              <a:buSzPct val="153846"/>
              <a:buFont typeface="Libre Franklin"/>
              <a:buNone/>
            </a:pPr>
            <a:r>
              <a:rPr b="1" lang="en-US" sz="2600">
                <a:solidFill>
                  <a:schemeClr val="dk1"/>
                </a:solidFill>
                <a:latin typeface="Libre Baskerville"/>
                <a:ea typeface="Libre Baskerville"/>
                <a:cs typeface="Libre Baskerville"/>
                <a:sym typeface="Libre Baskerville"/>
              </a:rPr>
              <a:t>Agenda</a:t>
            </a:r>
            <a:endParaRPr/>
          </a:p>
        </p:txBody>
      </p:sp>
      <p:sp>
        <p:nvSpPr>
          <p:cNvPr id="122" name="Google Shape;122;p15"/>
          <p:cNvSpPr txBox="1"/>
          <p:nvPr>
            <p:ph idx="1" type="body"/>
          </p:nvPr>
        </p:nvSpPr>
        <p:spPr>
          <a:xfrm>
            <a:off x="774500" y="1060500"/>
            <a:ext cx="3083700" cy="4737000"/>
          </a:xfrm>
          <a:prstGeom prst="rect">
            <a:avLst/>
          </a:prstGeom>
          <a:noFill/>
          <a:ln>
            <a:noFill/>
          </a:ln>
        </p:spPr>
        <p:txBody>
          <a:bodyPr anchorCtr="0" anchor="t" bIns="45700" lIns="91425" spcFirstLastPara="1" rIns="91425" wrap="square" tIns="45700">
            <a:normAutofit/>
          </a:bodyPr>
          <a:lstStyle/>
          <a:p>
            <a:pPr indent="-133985" lvl="0" marL="274320" rtl="0" algn="l">
              <a:spcBef>
                <a:spcPts val="0"/>
              </a:spcBef>
              <a:spcAft>
                <a:spcPts val="0"/>
              </a:spcAft>
              <a:buSzPts val="2210"/>
              <a:buNone/>
            </a:pPr>
            <a:r>
              <a:t/>
            </a:r>
            <a:endParaRPr/>
          </a:p>
          <a:p>
            <a:pPr indent="-274320" lvl="0" marL="274320" rtl="0" algn="l">
              <a:spcBef>
                <a:spcPts val="580"/>
              </a:spcBef>
              <a:spcAft>
                <a:spcPts val="0"/>
              </a:spcAft>
              <a:buSzPts val="2210"/>
              <a:buChar char="⚫"/>
            </a:pPr>
            <a:r>
              <a:rPr lang="en-US">
                <a:latin typeface="Arial"/>
                <a:ea typeface="Arial"/>
                <a:cs typeface="Arial"/>
                <a:sym typeface="Arial"/>
              </a:rPr>
              <a:t>Introduction</a:t>
            </a:r>
            <a:endParaRPr/>
          </a:p>
          <a:p>
            <a:pPr indent="-274320" lvl="0" marL="274320" rtl="0" algn="l">
              <a:spcBef>
                <a:spcPts val="580"/>
              </a:spcBef>
              <a:spcAft>
                <a:spcPts val="0"/>
              </a:spcAft>
              <a:buSzPts val="2210"/>
              <a:buChar char="⚫"/>
            </a:pPr>
            <a:r>
              <a:rPr lang="en-US">
                <a:latin typeface="Arial"/>
                <a:ea typeface="Arial"/>
                <a:cs typeface="Arial"/>
                <a:sym typeface="Arial"/>
              </a:rPr>
              <a:t>Motivation</a:t>
            </a:r>
            <a:endParaRPr/>
          </a:p>
          <a:p>
            <a:pPr indent="-274320" lvl="0" marL="274320" rtl="0" algn="l">
              <a:spcBef>
                <a:spcPts val="580"/>
              </a:spcBef>
              <a:spcAft>
                <a:spcPts val="0"/>
              </a:spcAft>
              <a:buSzPts val="2210"/>
              <a:buChar char="⚫"/>
            </a:pPr>
            <a:r>
              <a:rPr lang="en-US">
                <a:latin typeface="Arial"/>
                <a:ea typeface="Arial"/>
                <a:cs typeface="Arial"/>
                <a:sym typeface="Arial"/>
              </a:rPr>
              <a:t>Literature Survey</a:t>
            </a:r>
            <a:endParaRPr/>
          </a:p>
          <a:p>
            <a:pPr indent="-274320" lvl="0" marL="274320" rtl="0" algn="l">
              <a:spcBef>
                <a:spcPts val="580"/>
              </a:spcBef>
              <a:spcAft>
                <a:spcPts val="0"/>
              </a:spcAft>
              <a:buSzPts val="2210"/>
              <a:buChar char="⚫"/>
            </a:pPr>
            <a:r>
              <a:rPr lang="en-US">
                <a:latin typeface="Arial"/>
                <a:ea typeface="Arial"/>
                <a:cs typeface="Arial"/>
                <a:sym typeface="Arial"/>
              </a:rPr>
              <a:t>Survey</a:t>
            </a:r>
            <a:r>
              <a:rPr lang="en-US">
                <a:latin typeface="Arial"/>
                <a:ea typeface="Arial"/>
                <a:cs typeface="Arial"/>
                <a:sym typeface="Arial"/>
              </a:rPr>
              <a:t> Summary</a:t>
            </a:r>
            <a:endParaRPr/>
          </a:p>
          <a:p>
            <a:pPr indent="-317500" lvl="0" marL="274320" rtl="0" algn="l">
              <a:spcBef>
                <a:spcPts val="580"/>
              </a:spcBef>
              <a:spcAft>
                <a:spcPts val="0"/>
              </a:spcAft>
              <a:buSzPts val="2210"/>
              <a:buChar char="⚫"/>
            </a:pPr>
            <a:r>
              <a:rPr lang="en-US">
                <a:latin typeface="Arial"/>
                <a:ea typeface="Arial"/>
                <a:cs typeface="Arial"/>
                <a:sym typeface="Arial"/>
              </a:rPr>
              <a:t>Proposed System</a:t>
            </a:r>
            <a:endParaRPr/>
          </a:p>
          <a:p>
            <a:pPr indent="0" lvl="0" marL="274320" rtl="0" algn="l">
              <a:spcBef>
                <a:spcPts val="580"/>
              </a:spcBef>
              <a:spcAft>
                <a:spcPts val="0"/>
              </a:spcAft>
              <a:buNone/>
            </a:pPr>
            <a:r>
              <a:t/>
            </a:r>
            <a:endParaRPr>
              <a:latin typeface="Arial"/>
              <a:ea typeface="Arial"/>
              <a:cs typeface="Arial"/>
              <a:sym typeface="Arial"/>
            </a:endParaRPr>
          </a:p>
        </p:txBody>
      </p:sp>
      <p:sp>
        <p:nvSpPr>
          <p:cNvPr id="123" name="Google Shape;123;p1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
        <p:nvSpPr>
          <p:cNvPr id="124" name="Google Shape;124;p1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Department of ISE, BMSCE</a:t>
            </a:r>
            <a:endParaRPr/>
          </a:p>
        </p:txBody>
      </p:sp>
      <p:sp>
        <p:nvSpPr>
          <p:cNvPr id="125" name="Google Shape;125;p15"/>
          <p:cNvSpPr txBox="1"/>
          <p:nvPr/>
        </p:nvSpPr>
        <p:spPr>
          <a:xfrm>
            <a:off x="4876800" y="1559100"/>
            <a:ext cx="3000000" cy="2483400"/>
          </a:xfrm>
          <a:prstGeom prst="rect">
            <a:avLst/>
          </a:prstGeom>
          <a:noFill/>
          <a:ln>
            <a:noFill/>
          </a:ln>
        </p:spPr>
        <p:txBody>
          <a:bodyPr anchorCtr="0" anchor="t" bIns="91425" lIns="91425" spcFirstLastPara="1" rIns="91425" wrap="square" tIns="91425">
            <a:spAutoFit/>
          </a:bodyPr>
          <a:lstStyle/>
          <a:p>
            <a:pPr indent="-317500" lvl="0" marL="274320" rtl="0" algn="l">
              <a:spcBef>
                <a:spcPts val="580"/>
              </a:spcBef>
              <a:spcAft>
                <a:spcPts val="0"/>
              </a:spcAft>
              <a:buClr>
                <a:schemeClr val="accent1"/>
              </a:buClr>
              <a:buSzPts val="2210"/>
              <a:buFont typeface="Noto Sans Symbols"/>
              <a:buChar char="⚫"/>
            </a:pPr>
            <a:r>
              <a:rPr lang="en-US" sz="2600">
                <a:solidFill>
                  <a:schemeClr val="dk1"/>
                </a:solidFill>
              </a:rPr>
              <a:t>Applications</a:t>
            </a:r>
            <a:endParaRPr sz="2600">
              <a:solidFill>
                <a:schemeClr val="dk1"/>
              </a:solidFill>
              <a:latin typeface="Libre Baskerville"/>
              <a:ea typeface="Libre Baskerville"/>
              <a:cs typeface="Libre Baskerville"/>
              <a:sym typeface="Libre Baskerville"/>
            </a:endParaRPr>
          </a:p>
          <a:p>
            <a:pPr indent="-317500" lvl="0" marL="274320" rtl="0" algn="l">
              <a:spcBef>
                <a:spcPts val="580"/>
              </a:spcBef>
              <a:spcAft>
                <a:spcPts val="0"/>
              </a:spcAft>
              <a:buClr>
                <a:schemeClr val="accent1"/>
              </a:buClr>
              <a:buSzPts val="2210"/>
              <a:buFont typeface="Noto Sans Symbols"/>
              <a:buChar char="⚫"/>
            </a:pPr>
            <a:r>
              <a:rPr lang="en-US" sz="2600">
                <a:solidFill>
                  <a:schemeClr val="dk1"/>
                </a:solidFill>
              </a:rPr>
              <a:t>SRS</a:t>
            </a:r>
            <a:endParaRPr sz="2600">
              <a:solidFill>
                <a:schemeClr val="dk1"/>
              </a:solidFill>
              <a:latin typeface="Libre Baskerville"/>
              <a:ea typeface="Libre Baskerville"/>
              <a:cs typeface="Libre Baskerville"/>
              <a:sym typeface="Libre Baskerville"/>
            </a:endParaRPr>
          </a:p>
          <a:p>
            <a:pPr indent="-317500" lvl="0" marL="274320" rtl="0" algn="l">
              <a:spcBef>
                <a:spcPts val="580"/>
              </a:spcBef>
              <a:spcAft>
                <a:spcPts val="0"/>
              </a:spcAft>
              <a:buClr>
                <a:schemeClr val="accent1"/>
              </a:buClr>
              <a:buSzPts val="2210"/>
              <a:buFont typeface="Noto Sans Symbols"/>
              <a:buChar char="⚫"/>
            </a:pPr>
            <a:r>
              <a:rPr lang="en-US" sz="2600">
                <a:solidFill>
                  <a:schemeClr val="dk1"/>
                </a:solidFill>
              </a:rPr>
              <a:t>System Design</a:t>
            </a:r>
            <a:endParaRPr sz="2600">
              <a:solidFill>
                <a:schemeClr val="dk1"/>
              </a:solidFill>
              <a:latin typeface="Libre Baskerville"/>
              <a:ea typeface="Libre Baskerville"/>
              <a:cs typeface="Libre Baskerville"/>
              <a:sym typeface="Libre Baskerville"/>
            </a:endParaRPr>
          </a:p>
          <a:p>
            <a:pPr indent="-317500" lvl="0" marL="274320" rtl="0" algn="l">
              <a:spcBef>
                <a:spcPts val="580"/>
              </a:spcBef>
              <a:spcAft>
                <a:spcPts val="0"/>
              </a:spcAft>
              <a:buClr>
                <a:schemeClr val="accent1"/>
              </a:buClr>
              <a:buSzPts val="2210"/>
              <a:buFont typeface="Noto Sans Symbols"/>
              <a:buChar char="⚫"/>
            </a:pPr>
            <a:r>
              <a:rPr lang="en-US" sz="2600">
                <a:solidFill>
                  <a:schemeClr val="dk1"/>
                </a:solidFill>
              </a:rPr>
              <a:t>Detailed Design</a:t>
            </a:r>
            <a:endParaRPr sz="2600">
              <a:solidFill>
                <a:schemeClr val="dk1"/>
              </a:solidFill>
            </a:endParaRPr>
          </a:p>
          <a:p>
            <a:pPr indent="-274320" lvl="0" marL="274320" rtl="0" algn="l">
              <a:spcBef>
                <a:spcPts val="580"/>
              </a:spcBef>
              <a:spcAft>
                <a:spcPts val="0"/>
              </a:spcAft>
              <a:buClr>
                <a:schemeClr val="accent1"/>
              </a:buClr>
              <a:buSzPts val="2210"/>
              <a:buFont typeface="Noto Sans Symbols"/>
              <a:buChar char="⚫"/>
            </a:pPr>
            <a:r>
              <a:rPr lang="en-US" sz="2600">
                <a:solidFill>
                  <a:schemeClr val="dk1"/>
                </a:solidFill>
              </a:rPr>
              <a:t>References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6"/>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b="1" lang="en-US"/>
              <a:t>Introduction</a:t>
            </a:r>
            <a:endParaRPr sz="3600">
              <a:solidFill>
                <a:schemeClr val="dk2"/>
              </a:solidFill>
              <a:latin typeface="Libre Franklin"/>
              <a:ea typeface="Libre Franklin"/>
              <a:cs typeface="Libre Franklin"/>
              <a:sym typeface="Libre Franklin"/>
            </a:endParaRPr>
          </a:p>
        </p:txBody>
      </p:sp>
      <p:sp>
        <p:nvSpPr>
          <p:cNvPr id="131" name="Google Shape;131;p16"/>
          <p:cNvSpPr txBox="1"/>
          <p:nvPr/>
        </p:nvSpPr>
        <p:spPr>
          <a:xfrm>
            <a:off x="812800" y="1013821"/>
            <a:ext cx="7263000" cy="6419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Air pollution is defined as the presence of compounds in the atmosphere that are harmful to human beings and other living organisms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Has severe effects on human health - Respiratory issues, lungs and heart problems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Offering a holistic approach to tackle the issue of air </a:t>
            </a:r>
            <a:r>
              <a:rPr lang="en-US" sz="1800">
                <a:solidFill>
                  <a:schemeClr val="dk1"/>
                </a:solidFill>
                <a:latin typeface="Times New Roman"/>
                <a:ea typeface="Times New Roman"/>
                <a:cs typeface="Times New Roman"/>
                <a:sym typeface="Times New Roman"/>
              </a:rPr>
              <a:t>pollution</a:t>
            </a:r>
            <a:r>
              <a:rPr lang="en-US" sz="1800">
                <a:solidFill>
                  <a:schemeClr val="dk1"/>
                </a:solidFill>
                <a:latin typeface="Times New Roman"/>
                <a:ea typeface="Times New Roman"/>
                <a:cs typeface="Times New Roman"/>
                <a:sym typeface="Times New Roman"/>
              </a:rPr>
              <a:t> by building a device that can monitor air pollution, predict future levels of </a:t>
            </a:r>
            <a:r>
              <a:rPr lang="en-US" sz="1800">
                <a:solidFill>
                  <a:schemeClr val="dk1"/>
                </a:solidFill>
                <a:latin typeface="Times New Roman"/>
                <a:ea typeface="Times New Roman"/>
                <a:cs typeface="Times New Roman"/>
                <a:sym typeface="Times New Roman"/>
              </a:rPr>
              <a:t>pollution</a:t>
            </a:r>
            <a:r>
              <a:rPr lang="en-US" sz="1800">
                <a:solidFill>
                  <a:schemeClr val="dk1"/>
                </a:solidFill>
                <a:latin typeface="Times New Roman"/>
                <a:ea typeface="Times New Roman"/>
                <a:cs typeface="Times New Roman"/>
                <a:sym typeface="Times New Roman"/>
              </a:rPr>
              <a:t> and also suggest precautionary actions and methods to reduce air pollution</a:t>
            </a:r>
            <a:endParaRPr sz="1800">
              <a:solidFill>
                <a:schemeClr val="dk1"/>
              </a:solidFill>
              <a:latin typeface="Times New Roman"/>
              <a:ea typeface="Times New Roman"/>
              <a:cs typeface="Times New Roman"/>
              <a:sym typeface="Times New Roman"/>
            </a:endParaRPr>
          </a:p>
          <a:p>
            <a:pPr indent="0" lvl="0" marL="457200" marR="0" rtl="0" algn="just">
              <a:lnSpc>
                <a:spcPct val="115000"/>
              </a:lnSpc>
              <a:spcBef>
                <a:spcPts val="100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l">
              <a:spcBef>
                <a:spcPts val="100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sp>
        <p:nvSpPr>
          <p:cNvPr id="132" name="Google Shape;132;p16"/>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133" name="Google Shape;133;p16"/>
          <p:cNvPicPr preferRelativeResize="0"/>
          <p:nvPr/>
        </p:nvPicPr>
        <p:blipFill>
          <a:blip r:embed="rId3">
            <a:alphaModFix/>
          </a:blip>
          <a:stretch>
            <a:fillRect/>
          </a:stretch>
        </p:blipFill>
        <p:spPr>
          <a:xfrm>
            <a:off x="2764975" y="3944850"/>
            <a:ext cx="6270174" cy="26083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228600" rtl="0" algn="ctr">
              <a:spcBef>
                <a:spcPts val="0"/>
              </a:spcBef>
              <a:spcAft>
                <a:spcPts val="0"/>
              </a:spcAft>
              <a:buSzPts val="1400"/>
              <a:buNone/>
            </a:pPr>
            <a:r>
              <a:rPr b="1" lang="en-US"/>
              <a:t>Motivation</a:t>
            </a:r>
            <a:endParaRPr/>
          </a:p>
        </p:txBody>
      </p:sp>
      <p:sp>
        <p:nvSpPr>
          <p:cNvPr id="139" name="Google Shape;139;p17"/>
          <p:cNvSpPr txBox="1"/>
          <p:nvPr/>
        </p:nvSpPr>
        <p:spPr>
          <a:xfrm>
            <a:off x="511175" y="793175"/>
            <a:ext cx="8256300" cy="11929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17500" lvl="0" marL="457200" rtl="0" algn="just">
              <a:lnSpc>
                <a:spcPct val="115000"/>
              </a:lnSpc>
              <a:spcBef>
                <a:spcPts val="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Air pollution claims 7 million lives a year making it the most dangerous type of pollution</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No present technology that is implemented on a large scale in urban areas</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Lack of effective mobile apps</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Lack of awareness </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Demonstrate </a:t>
            </a:r>
            <a:r>
              <a:rPr lang="en-US" sz="1800">
                <a:solidFill>
                  <a:schemeClr val="dk1"/>
                </a:solidFill>
                <a:latin typeface="Times New Roman"/>
                <a:ea typeface="Times New Roman"/>
                <a:cs typeface="Times New Roman"/>
                <a:sym typeface="Times New Roman"/>
              </a:rPr>
              <a:t>the</a:t>
            </a:r>
            <a:r>
              <a:rPr lang="en-US" sz="1800">
                <a:solidFill>
                  <a:schemeClr val="dk1"/>
                </a:solidFill>
                <a:latin typeface="Times New Roman"/>
                <a:ea typeface="Times New Roman"/>
                <a:cs typeface="Times New Roman"/>
                <a:sym typeface="Times New Roman"/>
              </a:rPr>
              <a:t> possibility of a device to tackle to this problem which  is:</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Cost effective</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Compact</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Easy to use</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Help Bengaluru remain the Garden City of India for many years to come</a:t>
            </a:r>
            <a:endParaRPr sz="1800">
              <a:solidFill>
                <a:schemeClr val="dk1"/>
              </a:solidFill>
              <a:latin typeface="Times New Roman"/>
              <a:ea typeface="Times New Roman"/>
              <a:cs typeface="Times New Roman"/>
              <a:sym typeface="Times New Roman"/>
            </a:endParaRPr>
          </a:p>
        </p:txBody>
      </p:sp>
      <p:sp>
        <p:nvSpPr>
          <p:cNvPr id="140" name="Google Shape;140;p17"/>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41" name="Google Shape;141;p1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42" name="Google Shape;142;p1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Proposed System</a:t>
            </a:r>
            <a:endParaRPr sz="3600">
              <a:solidFill>
                <a:schemeClr val="dk2"/>
              </a:solidFill>
              <a:latin typeface="Libre Franklin"/>
              <a:ea typeface="Libre Franklin"/>
              <a:cs typeface="Libre Franklin"/>
              <a:sym typeface="Libre Franklin"/>
            </a:endParaRPr>
          </a:p>
        </p:txBody>
      </p:sp>
      <p:sp>
        <p:nvSpPr>
          <p:cNvPr id="148" name="Google Shape;148;p18"/>
          <p:cNvSpPr txBox="1"/>
          <p:nvPr>
            <p:ph idx="3" type="body"/>
          </p:nvPr>
        </p:nvSpPr>
        <p:spPr>
          <a:xfrm>
            <a:off x="742950" y="961200"/>
            <a:ext cx="7810500" cy="4935600"/>
          </a:xfrm>
          <a:prstGeom prst="rect">
            <a:avLst/>
          </a:prstGeom>
          <a:noFill/>
          <a:ln>
            <a:noFill/>
          </a:ln>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We propose to build an IoT device using Arduino Uno and several sensors to detect pollutants such as Particulate Matter, Nitrogen Oxides, Sulphur Dioxide, Ozone, Carbon Monoxide, etc. Using hourly values of these </a:t>
            </a:r>
            <a:r>
              <a:rPr lang="en-US" sz="1400">
                <a:latin typeface="Times New Roman"/>
                <a:ea typeface="Times New Roman"/>
                <a:cs typeface="Times New Roman"/>
                <a:sym typeface="Times New Roman"/>
              </a:rPr>
              <a:t>sensors</a:t>
            </a:r>
            <a:r>
              <a:rPr lang="en-US" sz="1400">
                <a:latin typeface="Times New Roman"/>
                <a:ea typeface="Times New Roman"/>
                <a:cs typeface="Times New Roman"/>
                <a:sym typeface="Times New Roman"/>
              </a:rPr>
              <a:t>, we will calculate the sub indices of each pollutant and hence the AQI. AQI will be calculated per day.</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Using the collected AQI data, and existing dataset from 2015 to 2020, and 2021-2022, we aim to build a Machine Learning model to forecast the AQI for the coming few days in Jayanagar-Basavanagudi region. </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Why only this region? Because the AQI at any given time varies all over Bangalore. Hence, if we can model one area </a:t>
            </a:r>
            <a:r>
              <a:rPr lang="en-US" sz="1400">
                <a:latin typeface="Times New Roman"/>
                <a:ea typeface="Times New Roman"/>
                <a:cs typeface="Times New Roman"/>
                <a:sym typeface="Times New Roman"/>
              </a:rPr>
              <a:t>accurately</a:t>
            </a:r>
            <a:r>
              <a:rPr lang="en-US" sz="1400">
                <a:latin typeface="Times New Roman"/>
                <a:ea typeface="Times New Roman"/>
                <a:cs typeface="Times New Roman"/>
                <a:sym typeface="Times New Roman"/>
              </a:rPr>
              <a:t>, repeating the same for all other areas should be easy.</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We aim to build a website showing daily forecasts of AQI, giving tips on reducing the AQI and </a:t>
            </a:r>
            <a:r>
              <a:rPr lang="en-US" sz="1400">
                <a:latin typeface="Times New Roman"/>
                <a:ea typeface="Times New Roman"/>
                <a:cs typeface="Times New Roman"/>
                <a:sym typeface="Times New Roman"/>
              </a:rPr>
              <a:t>precautionary</a:t>
            </a:r>
            <a:r>
              <a:rPr lang="en-US" sz="1400">
                <a:latin typeface="Times New Roman"/>
                <a:ea typeface="Times New Roman"/>
                <a:cs typeface="Times New Roman"/>
                <a:sym typeface="Times New Roman"/>
              </a:rPr>
              <a:t> measures to help people negate the </a:t>
            </a:r>
            <a:r>
              <a:rPr lang="en-US" sz="1400">
                <a:latin typeface="Times New Roman"/>
                <a:ea typeface="Times New Roman"/>
                <a:cs typeface="Times New Roman"/>
                <a:sym typeface="Times New Roman"/>
              </a:rPr>
              <a:t>effects</a:t>
            </a:r>
            <a:r>
              <a:rPr lang="en-US" sz="1400">
                <a:latin typeface="Times New Roman"/>
                <a:ea typeface="Times New Roman"/>
                <a:cs typeface="Times New Roman"/>
                <a:sym typeface="Times New Roman"/>
              </a:rPr>
              <a:t> of pollution, especially for people </a:t>
            </a:r>
            <a:r>
              <a:rPr lang="en-US" sz="1400">
                <a:latin typeface="Times New Roman"/>
                <a:ea typeface="Times New Roman"/>
                <a:cs typeface="Times New Roman"/>
                <a:sym typeface="Times New Roman"/>
              </a:rPr>
              <a:t>suffering</a:t>
            </a:r>
            <a:r>
              <a:rPr lang="en-US" sz="1400">
                <a:latin typeface="Times New Roman"/>
                <a:ea typeface="Times New Roman"/>
                <a:cs typeface="Times New Roman"/>
                <a:sym typeface="Times New Roman"/>
              </a:rPr>
              <a:t> from respiratory and </a:t>
            </a:r>
            <a:r>
              <a:rPr lang="en-US" sz="1400">
                <a:latin typeface="Times New Roman"/>
                <a:ea typeface="Times New Roman"/>
                <a:cs typeface="Times New Roman"/>
                <a:sym typeface="Times New Roman"/>
              </a:rPr>
              <a:t>cardiovascular complications.</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1000"/>
              </a:spcAft>
              <a:buSzPts val="1400"/>
              <a:buFont typeface="Times New Roman"/>
              <a:buChar char="●"/>
            </a:pPr>
            <a:r>
              <a:rPr lang="en-US" sz="1400">
                <a:latin typeface="Times New Roman"/>
                <a:ea typeface="Times New Roman"/>
                <a:cs typeface="Times New Roman"/>
                <a:sym typeface="Times New Roman"/>
              </a:rPr>
              <a:t>We are also planning to implement an automated tweeting system to push tweets on Twitter everyday once the prediction has been made, to ensure easy access of information to all residents.</a:t>
            </a: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p:txBody>
      </p:sp>
      <p:sp>
        <p:nvSpPr>
          <p:cNvPr id="149" name="Google Shape;149;p18"/>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50" name="Google Shape;150;p18"/>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51" name="Google Shape;151;p1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idx="1" type="body"/>
          </p:nvPr>
        </p:nvSpPr>
        <p:spPr>
          <a:xfrm>
            <a:off x="1098696" y="332656"/>
            <a:ext cx="70452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Objectives</a:t>
            </a:r>
            <a:r>
              <a:rPr lang="en-US" sz="3600">
                <a:solidFill>
                  <a:schemeClr val="dk2"/>
                </a:solidFill>
                <a:latin typeface="Libre Franklin"/>
                <a:ea typeface="Libre Franklin"/>
                <a:cs typeface="Libre Franklin"/>
                <a:sym typeface="Libre Franklin"/>
              </a:rPr>
              <a:t> </a:t>
            </a:r>
            <a:endParaRPr sz="3600">
              <a:solidFill>
                <a:schemeClr val="dk2"/>
              </a:solidFill>
              <a:latin typeface="Libre Franklin"/>
              <a:ea typeface="Libre Franklin"/>
              <a:cs typeface="Libre Franklin"/>
              <a:sym typeface="Libre Franklin"/>
            </a:endParaRPr>
          </a:p>
        </p:txBody>
      </p:sp>
      <p:sp>
        <p:nvSpPr>
          <p:cNvPr id="157" name="Google Shape;157;p19"/>
          <p:cNvSpPr txBox="1"/>
          <p:nvPr/>
        </p:nvSpPr>
        <p:spPr>
          <a:xfrm>
            <a:off x="1000042" y="1479311"/>
            <a:ext cx="7045200" cy="4245600"/>
          </a:xfrm>
          <a:prstGeom prst="rect">
            <a:avLst/>
          </a:prstGeom>
          <a:noFill/>
          <a:ln>
            <a:noFill/>
          </a:ln>
        </p:spPr>
        <p:txBody>
          <a:bodyPr anchorCtr="0" anchor="t" bIns="45700" lIns="91425" spcFirstLastPara="1" rIns="91425" wrap="square" tIns="45700">
            <a:spAutoFit/>
          </a:bodyPr>
          <a:lstStyle/>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an IoT system to monitor Air Quality:</a:t>
            </a:r>
            <a:endParaRPr sz="1500">
              <a:solidFill>
                <a:schemeClr val="dk1"/>
              </a:solidFill>
              <a:latin typeface="Times New Roman"/>
              <a:ea typeface="Times New Roman"/>
              <a:cs typeface="Times New Roman"/>
              <a:sym typeface="Times New Roman"/>
            </a:endParaRPr>
          </a:p>
          <a:p>
            <a:pPr indent="-323850" lvl="1" marL="9144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 Monitor Concentrations of  different air pollutants</a:t>
            </a:r>
            <a:endParaRPr sz="1500">
              <a:solidFill>
                <a:schemeClr val="dk1"/>
              </a:solidFill>
              <a:latin typeface="Times New Roman"/>
              <a:ea typeface="Times New Roman"/>
              <a:cs typeface="Times New Roman"/>
              <a:sym typeface="Times New Roman"/>
            </a:endParaRPr>
          </a:p>
          <a:p>
            <a:pPr indent="-323850" lvl="1" marL="9144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 Measure AQI</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 model to predict the Air Quality in the near future, using the output of the IoT system as input.</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 web application to display the real time findings.</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analytics on the website, such as the maximum recommended limit and the current concentration.</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measures to improve Air Quality.</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precautionary measures. </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Bring about air pollution awareness</a:t>
            </a:r>
            <a:endParaRPr sz="1500">
              <a:solidFill>
                <a:schemeClr val="dk1"/>
              </a:solidFill>
              <a:latin typeface="Times New Roman"/>
              <a:ea typeface="Times New Roman"/>
              <a:cs typeface="Times New Roman"/>
              <a:sym typeface="Times New Roman"/>
            </a:endParaRPr>
          </a:p>
          <a:p>
            <a:pPr indent="0" lvl="0" marL="0" marR="0" rtl="0" algn="just">
              <a:lnSpc>
                <a:spcPct val="150000"/>
              </a:lnSpc>
              <a:spcBef>
                <a:spcPts val="1000"/>
              </a:spcBef>
              <a:spcAft>
                <a:spcPts val="60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p:txBody>
      </p:sp>
      <p:sp>
        <p:nvSpPr>
          <p:cNvPr id="158" name="Google Shape;158;p19"/>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59" name="Google Shape;159;p19"/>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60" name="Google Shape;160;p1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0"/>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SYSTEM DESIGN</a:t>
            </a:r>
            <a:endParaRPr/>
          </a:p>
        </p:txBody>
      </p:sp>
      <p:sp>
        <p:nvSpPr>
          <p:cNvPr id="166" name="Google Shape;166;p20"/>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67" name="Google Shape;167;p20"/>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68" name="Google Shape;168;p20"/>
          <p:cNvSpPr txBox="1"/>
          <p:nvPr/>
        </p:nvSpPr>
        <p:spPr>
          <a:xfrm>
            <a:off x="3280650" y="13069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System Architecture</a:t>
            </a:r>
            <a:endParaRPr>
              <a:latin typeface="Libre Baskerville"/>
              <a:ea typeface="Libre Baskerville"/>
              <a:cs typeface="Libre Baskerville"/>
              <a:sym typeface="Libre Baskerville"/>
            </a:endParaRPr>
          </a:p>
        </p:txBody>
      </p:sp>
      <p:pic>
        <p:nvPicPr>
          <p:cNvPr id="169" name="Google Shape;169;p20"/>
          <p:cNvPicPr preferRelativeResize="0"/>
          <p:nvPr/>
        </p:nvPicPr>
        <p:blipFill>
          <a:blip r:embed="rId3">
            <a:alphaModFix/>
          </a:blip>
          <a:stretch>
            <a:fillRect/>
          </a:stretch>
        </p:blipFill>
        <p:spPr>
          <a:xfrm>
            <a:off x="1612800" y="1905000"/>
            <a:ext cx="6538652" cy="3657987"/>
          </a:xfrm>
          <a:prstGeom prst="rect">
            <a:avLst/>
          </a:prstGeom>
          <a:noFill/>
          <a:ln cap="flat" cmpd="sng" w="12700">
            <a:solidFill>
              <a:srgbClr val="000000"/>
            </a:solidFill>
            <a:prstDash val="solid"/>
            <a:miter lim="8000"/>
            <a:headEnd len="sm" w="sm" type="none"/>
            <a:tailEnd len="sm" w="sm" type="none"/>
          </a:ln>
        </p:spPr>
      </p:pic>
      <p:sp>
        <p:nvSpPr>
          <p:cNvPr id="170" name="Google Shape;170;p2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1"/>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76" name="Google Shape;176;p21"/>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77" name="Google Shape;177;p21"/>
          <p:cNvSpPr txBox="1"/>
          <p:nvPr/>
        </p:nvSpPr>
        <p:spPr>
          <a:xfrm>
            <a:off x="3510000" y="2412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Module Design</a:t>
            </a:r>
            <a:endParaRPr>
              <a:latin typeface="Libre Baskerville"/>
              <a:ea typeface="Libre Baskerville"/>
              <a:cs typeface="Libre Baskerville"/>
              <a:sym typeface="Libre Baskerville"/>
            </a:endParaRPr>
          </a:p>
        </p:txBody>
      </p:sp>
      <p:pic>
        <p:nvPicPr>
          <p:cNvPr id="178" name="Google Shape;178;p21"/>
          <p:cNvPicPr preferRelativeResize="0"/>
          <p:nvPr/>
        </p:nvPicPr>
        <p:blipFill>
          <a:blip r:embed="rId3">
            <a:alphaModFix/>
          </a:blip>
          <a:stretch>
            <a:fillRect/>
          </a:stretch>
        </p:blipFill>
        <p:spPr>
          <a:xfrm>
            <a:off x="1395725" y="702925"/>
            <a:ext cx="5534025" cy="2326425"/>
          </a:xfrm>
          <a:prstGeom prst="rect">
            <a:avLst/>
          </a:prstGeom>
          <a:noFill/>
          <a:ln>
            <a:noFill/>
          </a:ln>
        </p:spPr>
      </p:pic>
      <p:pic>
        <p:nvPicPr>
          <p:cNvPr id="179" name="Google Shape;179;p21"/>
          <p:cNvPicPr preferRelativeResize="0"/>
          <p:nvPr/>
        </p:nvPicPr>
        <p:blipFill>
          <a:blip r:embed="rId4">
            <a:alphaModFix/>
          </a:blip>
          <a:stretch>
            <a:fillRect/>
          </a:stretch>
        </p:blipFill>
        <p:spPr>
          <a:xfrm>
            <a:off x="1395725" y="3083075"/>
            <a:ext cx="1667275" cy="2679625"/>
          </a:xfrm>
          <a:prstGeom prst="rect">
            <a:avLst/>
          </a:prstGeom>
          <a:noFill/>
          <a:ln>
            <a:noFill/>
          </a:ln>
        </p:spPr>
      </p:pic>
      <p:pic>
        <p:nvPicPr>
          <p:cNvPr id="180" name="Google Shape;180;p21"/>
          <p:cNvPicPr preferRelativeResize="0"/>
          <p:nvPr/>
        </p:nvPicPr>
        <p:blipFill>
          <a:blip r:embed="rId5">
            <a:alphaModFix/>
          </a:blip>
          <a:stretch>
            <a:fillRect/>
          </a:stretch>
        </p:blipFill>
        <p:spPr>
          <a:xfrm>
            <a:off x="3296575" y="3083075"/>
            <a:ext cx="1667275" cy="2796707"/>
          </a:xfrm>
          <a:prstGeom prst="rect">
            <a:avLst/>
          </a:prstGeom>
          <a:noFill/>
          <a:ln>
            <a:noFill/>
          </a:ln>
        </p:spPr>
      </p:pic>
      <p:pic>
        <p:nvPicPr>
          <p:cNvPr id="181" name="Google Shape;181;p21"/>
          <p:cNvPicPr preferRelativeResize="0"/>
          <p:nvPr/>
        </p:nvPicPr>
        <p:blipFill>
          <a:blip r:embed="rId6">
            <a:alphaModFix/>
          </a:blip>
          <a:stretch>
            <a:fillRect/>
          </a:stretch>
        </p:blipFill>
        <p:spPr>
          <a:xfrm>
            <a:off x="5197425" y="3083075"/>
            <a:ext cx="1724025" cy="2796700"/>
          </a:xfrm>
          <a:prstGeom prst="rect">
            <a:avLst/>
          </a:prstGeom>
          <a:noFill/>
          <a:ln>
            <a:noFill/>
          </a:ln>
        </p:spPr>
      </p:pic>
      <p:sp>
        <p:nvSpPr>
          <p:cNvPr id="182" name="Google Shape;182;p21"/>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DETAILED DESIGN</a:t>
            </a:r>
            <a:endParaRPr/>
          </a:p>
        </p:txBody>
      </p:sp>
      <p:sp>
        <p:nvSpPr>
          <p:cNvPr id="188" name="Google Shape;188;p22"/>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89" name="Google Shape;189;p22"/>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90" name="Google Shape;190;p22"/>
          <p:cNvSpPr txBox="1"/>
          <p:nvPr/>
        </p:nvSpPr>
        <p:spPr>
          <a:xfrm>
            <a:off x="3616363" y="1158925"/>
            <a:ext cx="16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Class Diagram</a:t>
            </a:r>
            <a:endParaRPr>
              <a:latin typeface="Libre Baskerville"/>
              <a:ea typeface="Libre Baskerville"/>
              <a:cs typeface="Libre Baskerville"/>
              <a:sym typeface="Libre Baskerville"/>
            </a:endParaRPr>
          </a:p>
        </p:txBody>
      </p:sp>
      <p:pic>
        <p:nvPicPr>
          <p:cNvPr id="191" name="Google Shape;191;p22"/>
          <p:cNvPicPr preferRelativeResize="0"/>
          <p:nvPr/>
        </p:nvPicPr>
        <p:blipFill>
          <a:blip r:embed="rId3">
            <a:alphaModFix/>
          </a:blip>
          <a:stretch>
            <a:fillRect/>
          </a:stretch>
        </p:blipFill>
        <p:spPr>
          <a:xfrm>
            <a:off x="1191938" y="2059175"/>
            <a:ext cx="6531575" cy="2983175"/>
          </a:xfrm>
          <a:prstGeom prst="rect">
            <a:avLst/>
          </a:prstGeom>
          <a:noFill/>
          <a:ln cap="flat" cmpd="sng" w="12700">
            <a:solidFill>
              <a:srgbClr val="000000"/>
            </a:solidFill>
            <a:prstDash val="solid"/>
            <a:miter lim="8000"/>
            <a:headEnd len="sm" w="sm" type="none"/>
            <a:tailEnd len="sm" w="sm" type="none"/>
          </a:ln>
        </p:spPr>
      </p:pic>
      <p:sp>
        <p:nvSpPr>
          <p:cNvPr id="192" name="Google Shape;192;p22"/>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98" name="Google Shape;198;p23"/>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99" name="Google Shape;199;p23"/>
          <p:cNvSpPr txBox="1"/>
          <p:nvPr/>
        </p:nvSpPr>
        <p:spPr>
          <a:xfrm>
            <a:off x="2159079" y="2550250"/>
            <a:ext cx="2264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Activity Diagram</a:t>
            </a:r>
            <a:endParaRPr>
              <a:latin typeface="Libre Baskerville"/>
              <a:ea typeface="Libre Baskerville"/>
              <a:cs typeface="Libre Baskerville"/>
              <a:sym typeface="Libre Baskerville"/>
            </a:endParaRPr>
          </a:p>
        </p:txBody>
      </p:sp>
      <p:pic>
        <p:nvPicPr>
          <p:cNvPr id="200" name="Google Shape;200;p23"/>
          <p:cNvPicPr preferRelativeResize="0"/>
          <p:nvPr/>
        </p:nvPicPr>
        <p:blipFill>
          <a:blip r:embed="rId3">
            <a:alphaModFix/>
          </a:blip>
          <a:stretch>
            <a:fillRect/>
          </a:stretch>
        </p:blipFill>
        <p:spPr>
          <a:xfrm>
            <a:off x="4879000" y="369500"/>
            <a:ext cx="2706451" cy="5831424"/>
          </a:xfrm>
          <a:prstGeom prst="rect">
            <a:avLst/>
          </a:prstGeom>
          <a:noFill/>
          <a:ln>
            <a:noFill/>
          </a:ln>
        </p:spPr>
      </p:pic>
      <p:sp>
        <p:nvSpPr>
          <p:cNvPr id="201" name="Google Shape;201;p23"/>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07" name="Google Shape;207;p24"/>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08" name="Google Shape;208;p24"/>
          <p:cNvSpPr txBox="1"/>
          <p:nvPr/>
        </p:nvSpPr>
        <p:spPr>
          <a:xfrm>
            <a:off x="3439654" y="458300"/>
            <a:ext cx="2264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Use Case</a:t>
            </a:r>
            <a:r>
              <a:rPr b="1" lang="en-US" sz="1800" u="sng">
                <a:solidFill>
                  <a:schemeClr val="dk1"/>
                </a:solidFill>
                <a:latin typeface="Times New Roman"/>
                <a:ea typeface="Times New Roman"/>
                <a:cs typeface="Times New Roman"/>
                <a:sym typeface="Times New Roman"/>
              </a:rPr>
              <a:t> Diagram</a:t>
            </a:r>
            <a:endParaRPr>
              <a:latin typeface="Libre Baskerville"/>
              <a:ea typeface="Libre Baskerville"/>
              <a:cs typeface="Libre Baskerville"/>
              <a:sym typeface="Libre Baskerville"/>
            </a:endParaRPr>
          </a:p>
        </p:txBody>
      </p:sp>
      <p:pic>
        <p:nvPicPr>
          <p:cNvPr id="209" name="Google Shape;209;p24"/>
          <p:cNvPicPr preferRelativeResize="0"/>
          <p:nvPr/>
        </p:nvPicPr>
        <p:blipFill>
          <a:blip r:embed="rId3">
            <a:alphaModFix/>
          </a:blip>
          <a:stretch>
            <a:fillRect/>
          </a:stretch>
        </p:blipFill>
        <p:spPr>
          <a:xfrm>
            <a:off x="2524567" y="1117738"/>
            <a:ext cx="4415421" cy="4622524"/>
          </a:xfrm>
          <a:prstGeom prst="rect">
            <a:avLst/>
          </a:prstGeom>
          <a:noFill/>
          <a:ln cap="flat" cmpd="sng" w="12700">
            <a:solidFill>
              <a:srgbClr val="000000"/>
            </a:solidFill>
            <a:prstDash val="solid"/>
            <a:miter lim="8000"/>
            <a:headEnd len="sm" w="sm" type="none"/>
            <a:tailEnd len="sm" w="sm" type="none"/>
          </a:ln>
        </p:spPr>
      </p:pic>
      <p:sp>
        <p:nvSpPr>
          <p:cNvPr id="210" name="Google Shape;210;p24"/>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5"/>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216" name="Google Shape;216;p25"/>
          <p:cNvSpPr txBox="1"/>
          <p:nvPr>
            <p:ph idx="3" type="body"/>
          </p:nvPr>
        </p:nvSpPr>
        <p:spPr>
          <a:xfrm>
            <a:off x="742950" y="961200"/>
            <a:ext cx="7810500" cy="5047200"/>
          </a:xfrm>
          <a:prstGeom prst="rect">
            <a:avLst/>
          </a:prstGeom>
          <a:noFill/>
          <a:ln>
            <a:noFill/>
          </a:ln>
        </p:spPr>
        <p:txBody>
          <a:bodyPr anchorCtr="0" anchor="t" bIns="91425" lIns="91425" spcFirstLastPara="1" rIns="91425" wrap="square" tIns="91425">
            <a:noAutofit/>
          </a:bodyPr>
          <a:lstStyle/>
          <a:p>
            <a:pPr indent="0" lvl="0" marL="457200" rtl="0" algn="just">
              <a:lnSpc>
                <a:spcPct val="150000"/>
              </a:lnSpc>
              <a:spcBef>
                <a:spcPts val="0"/>
              </a:spcBef>
              <a:spcAft>
                <a:spcPts val="0"/>
              </a:spcAft>
              <a:buNone/>
            </a:pPr>
            <a:r>
              <a:rPr b="1" lang="en-US" sz="2400">
                <a:latin typeface="Times New Roman"/>
                <a:ea typeface="Times New Roman"/>
                <a:cs typeface="Times New Roman"/>
                <a:sym typeface="Times New Roman"/>
              </a:rPr>
              <a:t>Hardware Used:</a:t>
            </a:r>
            <a:endParaRPr b="1" sz="2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Arduino UNO</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DHT11</a:t>
            </a:r>
            <a:r>
              <a:rPr lang="en-US" sz="1400">
                <a:latin typeface="Times New Roman"/>
                <a:ea typeface="Times New Roman"/>
                <a:cs typeface="Times New Roman"/>
                <a:sym typeface="Times New Roman"/>
              </a:rPr>
              <a:t>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MQ135 Air Quality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MQ131 Ozone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MQ7 CO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GP2Y1010AU0F </a:t>
            </a:r>
            <a:br>
              <a:rPr lang="en-US" sz="1400">
                <a:latin typeface="Times New Roman"/>
                <a:ea typeface="Times New Roman"/>
                <a:cs typeface="Times New Roman"/>
                <a:sym typeface="Times New Roman"/>
              </a:rPr>
            </a:br>
            <a:r>
              <a:rPr lang="en-US" sz="1400">
                <a:latin typeface="Times New Roman"/>
                <a:ea typeface="Times New Roman"/>
                <a:cs typeface="Times New Roman"/>
                <a:sym typeface="Times New Roman"/>
              </a:rPr>
              <a:t>Dust Smoke Particle Sensor</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Node MCU</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1000"/>
              </a:spcAft>
              <a:buNone/>
            </a:pPr>
            <a:r>
              <a:t/>
            </a:r>
            <a:endParaRPr sz="1400">
              <a:latin typeface="Times New Roman"/>
              <a:ea typeface="Times New Roman"/>
              <a:cs typeface="Times New Roman"/>
              <a:sym typeface="Times New Roman"/>
            </a:endParaRPr>
          </a:p>
        </p:txBody>
      </p:sp>
      <p:sp>
        <p:nvSpPr>
          <p:cNvPr id="217" name="Google Shape;217;p25"/>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18" name="Google Shape;218;p25"/>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19" name="Google Shape;219;p25"/>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pic>
        <p:nvPicPr>
          <p:cNvPr id="220" name="Google Shape;220;p25"/>
          <p:cNvPicPr preferRelativeResize="0"/>
          <p:nvPr/>
        </p:nvPicPr>
        <p:blipFill rotWithShape="1">
          <a:blip r:embed="rId3">
            <a:alphaModFix/>
          </a:blip>
          <a:srcRect b="-8719" l="12520" r="-12520" t="0"/>
          <a:stretch/>
        </p:blipFill>
        <p:spPr>
          <a:xfrm>
            <a:off x="3033600" y="2155750"/>
            <a:ext cx="6188725" cy="4511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6"/>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226" name="Google Shape;226;p26"/>
          <p:cNvSpPr txBox="1"/>
          <p:nvPr>
            <p:ph idx="3" type="body"/>
          </p:nvPr>
        </p:nvSpPr>
        <p:spPr>
          <a:xfrm>
            <a:off x="237350" y="736850"/>
            <a:ext cx="8316000" cy="52716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2400">
                <a:latin typeface="Times New Roman"/>
                <a:ea typeface="Times New Roman"/>
                <a:cs typeface="Times New Roman"/>
                <a:sym typeface="Times New Roman"/>
              </a:rPr>
              <a:t>Data Science Models explored:</a:t>
            </a:r>
            <a:endParaRPr b="1" sz="2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rPr lang="en-US" sz="1600">
                <a:latin typeface="Times New Roman"/>
                <a:ea typeface="Times New Roman"/>
                <a:cs typeface="Times New Roman"/>
                <a:sym typeface="Times New Roman"/>
              </a:rPr>
              <a:t>AutoRegressive(AR) models </a:t>
            </a:r>
            <a:r>
              <a:rPr lang="en-US" sz="1600">
                <a:highlight>
                  <a:srgbClr val="FFFFFF"/>
                </a:highlight>
                <a:latin typeface="Times New Roman"/>
                <a:ea typeface="Times New Roman"/>
                <a:cs typeface="Times New Roman"/>
                <a:sym typeface="Times New Roman"/>
              </a:rPr>
              <a:t>are a subset of time series models, which can be used to predict future values based on previous observations. AR models use regression techniques and rely on autocorrelation in order to make accurate predictions.</a:t>
            </a:r>
            <a:endParaRPr sz="1600">
              <a:highlight>
                <a:srgbClr val="FFFFFF"/>
              </a:highlight>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600">
              <a:highlight>
                <a:srgbClr val="FFFFFF"/>
              </a:highlight>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6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t/>
            </a:r>
            <a:endParaRPr sz="1400">
              <a:latin typeface="Times New Roman"/>
              <a:ea typeface="Times New Roman"/>
              <a:cs typeface="Times New Roman"/>
              <a:sym typeface="Times New Roman"/>
            </a:endParaRPr>
          </a:p>
          <a:p>
            <a:pPr indent="0" lvl="0" marL="0" rtl="0" algn="just">
              <a:lnSpc>
                <a:spcPct val="150000"/>
              </a:lnSpc>
              <a:spcBef>
                <a:spcPts val="1000"/>
              </a:spcBef>
              <a:spcAft>
                <a:spcPts val="1000"/>
              </a:spcAft>
              <a:buNone/>
            </a:pPr>
            <a:r>
              <a:t/>
            </a:r>
            <a:endParaRPr sz="1400">
              <a:latin typeface="Times New Roman"/>
              <a:ea typeface="Times New Roman"/>
              <a:cs typeface="Times New Roman"/>
              <a:sym typeface="Times New Roman"/>
            </a:endParaRPr>
          </a:p>
        </p:txBody>
      </p:sp>
      <p:sp>
        <p:nvSpPr>
          <p:cNvPr id="227" name="Google Shape;227;p26"/>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228" name="Google Shape;228;p26"/>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229" name="Google Shape;229;p2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29-04-2023</a:t>
            </a:r>
            <a:endParaRPr/>
          </a:p>
        </p:txBody>
      </p:sp>
      <p:pic>
        <p:nvPicPr>
          <p:cNvPr id="230" name="Google Shape;230;p26"/>
          <p:cNvPicPr preferRelativeResize="0"/>
          <p:nvPr/>
        </p:nvPicPr>
        <p:blipFill>
          <a:blip r:embed="rId3">
            <a:alphaModFix/>
          </a:blip>
          <a:stretch>
            <a:fillRect/>
          </a:stretch>
        </p:blipFill>
        <p:spPr>
          <a:xfrm>
            <a:off x="2189675" y="2634050"/>
            <a:ext cx="4781475" cy="3187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nvSpPr>
        <p:spPr>
          <a:xfrm>
            <a:off x="564062" y="5597960"/>
            <a:ext cx="57463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entury Gothic"/>
                <a:ea typeface="Century Gothic"/>
                <a:cs typeface="Century Gothic"/>
                <a:sym typeface="Century Gothic"/>
              </a:rPr>
              <a:t>12</a:t>
            </a:r>
            <a:endParaRPr i="1" sz="2000">
              <a:solidFill>
                <a:schemeClr val="lt1"/>
              </a:solidFill>
              <a:latin typeface="Century Gothic"/>
              <a:ea typeface="Century Gothic"/>
              <a:cs typeface="Century Gothic"/>
              <a:sym typeface="Century Gothic"/>
            </a:endParaRPr>
          </a:p>
        </p:txBody>
      </p:sp>
      <p:sp>
        <p:nvSpPr>
          <p:cNvPr id="236" name="Google Shape;236;p2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Department of ISE, BMSCE</a:t>
            </a:r>
            <a:endParaRPr/>
          </a:p>
        </p:txBody>
      </p:sp>
      <p:sp>
        <p:nvSpPr>
          <p:cNvPr id="237" name="Google Shape;237;p2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
        <p:nvSpPr>
          <p:cNvPr id="238" name="Google Shape;238;p27"/>
          <p:cNvSpPr txBox="1"/>
          <p:nvPr>
            <p:ph idx="4294967295"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Implementation</a:t>
            </a:r>
            <a:endParaRPr sz="3600">
              <a:solidFill>
                <a:schemeClr val="dk2"/>
              </a:solidFill>
              <a:latin typeface="Libre Franklin"/>
              <a:ea typeface="Libre Franklin"/>
              <a:cs typeface="Libre Franklin"/>
              <a:sym typeface="Libre Franklin"/>
            </a:endParaRPr>
          </a:p>
        </p:txBody>
      </p:sp>
      <p:sp>
        <p:nvSpPr>
          <p:cNvPr id="239" name="Google Shape;239;p27"/>
          <p:cNvSpPr txBox="1"/>
          <p:nvPr/>
        </p:nvSpPr>
        <p:spPr>
          <a:xfrm>
            <a:off x="140750" y="979700"/>
            <a:ext cx="8776200" cy="4702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US" sz="2400">
                <a:solidFill>
                  <a:schemeClr val="dk1"/>
                </a:solidFill>
                <a:latin typeface="Times New Roman"/>
                <a:ea typeface="Times New Roman"/>
                <a:cs typeface="Times New Roman"/>
                <a:sym typeface="Times New Roman"/>
              </a:rPr>
              <a:t>Data Science Models explored:</a:t>
            </a:r>
            <a:endParaRPr b="1" sz="2400">
              <a:solidFill>
                <a:schemeClr val="dk1"/>
              </a:solidFill>
              <a:latin typeface="Times New Roman"/>
              <a:ea typeface="Times New Roman"/>
              <a:cs typeface="Times New Roman"/>
              <a:sym typeface="Times New Roman"/>
            </a:endParaRPr>
          </a:p>
          <a:p>
            <a:pPr indent="0" lvl="0" marL="0" rtl="0" algn="just">
              <a:lnSpc>
                <a:spcPct val="150000"/>
              </a:lnSpc>
              <a:spcBef>
                <a:spcPts val="1000"/>
              </a:spcBef>
              <a:spcAft>
                <a:spcPts val="0"/>
              </a:spcAft>
              <a:buNone/>
            </a:pPr>
            <a:r>
              <a:rPr lang="en-US" sz="1600">
                <a:solidFill>
                  <a:schemeClr val="dk1"/>
                </a:solidFill>
                <a:latin typeface="Times New Roman"/>
                <a:ea typeface="Times New Roman"/>
                <a:cs typeface="Times New Roman"/>
                <a:sym typeface="Times New Roman"/>
              </a:rPr>
              <a:t>ARIMA:</a:t>
            </a:r>
            <a:endParaRPr sz="1600">
              <a:solidFill>
                <a:schemeClr val="dk1"/>
              </a:solidFill>
              <a:latin typeface="Times New Roman"/>
              <a:ea typeface="Times New Roman"/>
              <a:cs typeface="Times New Roman"/>
              <a:sym typeface="Times New Roman"/>
            </a:endParaRPr>
          </a:p>
          <a:p>
            <a:pPr indent="-314325" lvl="0" marL="457200" rtl="0" algn="l">
              <a:lnSpc>
                <a:spcPct val="115000"/>
              </a:lnSpc>
              <a:spcBef>
                <a:spcPts val="1000"/>
              </a:spcBef>
              <a:spcAft>
                <a:spcPts val="0"/>
              </a:spcAft>
              <a:buClr>
                <a:schemeClr val="dk1"/>
              </a:buClr>
              <a:buSzPts val="1350"/>
              <a:buChar char="●"/>
            </a:pPr>
            <a:r>
              <a:rPr b="1" lang="en-US" sz="1350" u="sng">
                <a:solidFill>
                  <a:schemeClr val="dk1"/>
                </a:solidFill>
                <a:latin typeface="Times New Roman"/>
                <a:ea typeface="Times New Roman"/>
                <a:cs typeface="Times New Roman"/>
                <a:sym typeface="Times New Roman"/>
                <a:hlinkClick r:id="rId3">
                  <a:extLst>
                    <a:ext uri="{A12FA001-AC4F-418D-AE19-62706E023703}">
                      <ahyp:hlinkClr val="tx"/>
                    </a:ext>
                  </a:extLst>
                </a:hlinkClick>
              </a:rPr>
              <a:t>Autoregression (AR)</a:t>
            </a:r>
            <a:r>
              <a:rPr lang="en-US" sz="1350">
                <a:solidFill>
                  <a:schemeClr val="dk1"/>
                </a:solidFill>
                <a:latin typeface="Times New Roman"/>
                <a:ea typeface="Times New Roman"/>
                <a:cs typeface="Times New Roman"/>
                <a:sym typeface="Times New Roman"/>
              </a:rPr>
              <a:t>: refers to a model that shows a changing variable that regresses on its own lagged, or prior, values.</a:t>
            </a:r>
            <a:endParaRPr sz="1350">
              <a:solidFill>
                <a:schemeClr val="dk1"/>
              </a:solidFill>
              <a:latin typeface="Times New Roman"/>
              <a:ea typeface="Times New Roman"/>
              <a:cs typeface="Times New Roman"/>
              <a:sym typeface="Times New Roman"/>
            </a:endParaRPr>
          </a:p>
          <a:p>
            <a:pPr indent="-314325" lvl="0" marL="457200" rtl="0" algn="l">
              <a:lnSpc>
                <a:spcPct val="115000"/>
              </a:lnSpc>
              <a:spcBef>
                <a:spcPts val="0"/>
              </a:spcBef>
              <a:spcAft>
                <a:spcPts val="0"/>
              </a:spcAft>
              <a:buClr>
                <a:schemeClr val="dk1"/>
              </a:buClr>
              <a:buSzPts val="1350"/>
              <a:buChar char="●"/>
            </a:pPr>
            <a:r>
              <a:rPr b="1" lang="en-US" sz="1350">
                <a:solidFill>
                  <a:schemeClr val="dk1"/>
                </a:solidFill>
                <a:latin typeface="Times New Roman"/>
                <a:ea typeface="Times New Roman"/>
                <a:cs typeface="Times New Roman"/>
                <a:sym typeface="Times New Roman"/>
              </a:rPr>
              <a:t>Integrated (I)</a:t>
            </a:r>
            <a:r>
              <a:rPr i="1" lang="en-US" sz="1350">
                <a:solidFill>
                  <a:schemeClr val="dk1"/>
                </a:solidFill>
                <a:latin typeface="Times New Roman"/>
                <a:ea typeface="Times New Roman"/>
                <a:cs typeface="Times New Roman"/>
                <a:sym typeface="Times New Roman"/>
              </a:rPr>
              <a:t>: </a:t>
            </a:r>
            <a:r>
              <a:rPr lang="en-US" sz="1350">
                <a:solidFill>
                  <a:schemeClr val="dk1"/>
                </a:solidFill>
                <a:latin typeface="Times New Roman"/>
                <a:ea typeface="Times New Roman"/>
                <a:cs typeface="Times New Roman"/>
                <a:sym typeface="Times New Roman"/>
              </a:rPr>
              <a:t>represents the differencing of raw observations to allow the time series to become stationary (i.e., data values are replaced by the difference between the data values and the previous values).</a:t>
            </a:r>
            <a:endParaRPr sz="1350">
              <a:solidFill>
                <a:schemeClr val="dk1"/>
              </a:solidFill>
              <a:latin typeface="Times New Roman"/>
              <a:ea typeface="Times New Roman"/>
              <a:cs typeface="Times New Roman"/>
              <a:sym typeface="Times New Roman"/>
            </a:endParaRPr>
          </a:p>
          <a:p>
            <a:pPr indent="-314325" lvl="0" marL="457200" rtl="0" algn="l">
              <a:lnSpc>
                <a:spcPct val="115000"/>
              </a:lnSpc>
              <a:spcBef>
                <a:spcPts val="0"/>
              </a:spcBef>
              <a:spcAft>
                <a:spcPts val="0"/>
              </a:spcAft>
              <a:buClr>
                <a:schemeClr val="dk1"/>
              </a:buClr>
              <a:buSzPts val="1350"/>
              <a:buChar char="●"/>
            </a:pPr>
            <a:r>
              <a:rPr b="1" lang="en-US" sz="1350" u="sng">
                <a:solidFill>
                  <a:schemeClr val="dk1"/>
                </a:solidFill>
                <a:latin typeface="Times New Roman"/>
                <a:ea typeface="Times New Roman"/>
                <a:cs typeface="Times New Roman"/>
                <a:sym typeface="Times New Roman"/>
                <a:hlinkClick r:id="rId4">
                  <a:extLst>
                    <a:ext uri="{A12FA001-AC4F-418D-AE19-62706E023703}">
                      <ahyp:hlinkClr val="tx"/>
                    </a:ext>
                  </a:extLst>
                </a:hlinkClick>
              </a:rPr>
              <a:t>Moving average (MA)</a:t>
            </a:r>
            <a:r>
              <a:rPr lang="en-US" sz="1350">
                <a:solidFill>
                  <a:schemeClr val="dk1"/>
                </a:solidFill>
                <a:latin typeface="Times New Roman"/>
                <a:ea typeface="Times New Roman"/>
                <a:cs typeface="Times New Roman"/>
                <a:sym typeface="Times New Roman"/>
              </a:rPr>
              <a:t>: </a:t>
            </a:r>
            <a:r>
              <a:rPr i="1" lang="en-US" sz="1350">
                <a:solidFill>
                  <a:schemeClr val="dk1"/>
                </a:solidFill>
                <a:latin typeface="Times New Roman"/>
                <a:ea typeface="Times New Roman"/>
                <a:cs typeface="Times New Roman"/>
                <a:sym typeface="Times New Roman"/>
              </a:rPr>
              <a:t> </a:t>
            </a:r>
            <a:r>
              <a:rPr lang="en-US" sz="1350">
                <a:solidFill>
                  <a:schemeClr val="dk1"/>
                </a:solidFill>
                <a:latin typeface="Times New Roman"/>
                <a:ea typeface="Times New Roman"/>
                <a:cs typeface="Times New Roman"/>
                <a:sym typeface="Times New Roman"/>
              </a:rPr>
              <a:t>incorporates the dependency between an observation and a residual error from a moving average model applied to lagged observations.</a:t>
            </a:r>
            <a:endParaRPr sz="135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0"/>
              </a:spcAft>
              <a:buNone/>
            </a:pPr>
            <a:r>
              <a:rPr lang="en-US" sz="1600">
                <a:solidFill>
                  <a:schemeClr val="dk1"/>
                </a:solidFill>
                <a:latin typeface="Times New Roman"/>
                <a:ea typeface="Times New Roman"/>
                <a:cs typeface="Times New Roman"/>
                <a:sym typeface="Times New Roman"/>
              </a:rPr>
              <a:t>SARIMA:</a:t>
            </a:r>
            <a:endParaRPr sz="160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0"/>
              </a:spcAft>
              <a:buNone/>
            </a:pPr>
            <a:r>
              <a:rPr lang="en-US" sz="1600">
                <a:solidFill>
                  <a:schemeClr val="dk1"/>
                </a:solidFill>
                <a:latin typeface="Times New Roman"/>
                <a:ea typeface="Times New Roman"/>
                <a:cs typeface="Times New Roman"/>
                <a:sym typeface="Times New Roman"/>
              </a:rPr>
              <a:t>An extension to ARIMA that supports the direct modeling of the seasonal component of the series is called SARIMA.</a:t>
            </a:r>
            <a:endParaRPr sz="1600">
              <a:solidFill>
                <a:schemeClr val="dk1"/>
              </a:solidFill>
              <a:latin typeface="Times New Roman"/>
              <a:ea typeface="Times New Roman"/>
              <a:cs typeface="Times New Roman"/>
              <a:sym typeface="Times New Roman"/>
            </a:endParaRPr>
          </a:p>
          <a:p>
            <a:pPr indent="0" lvl="0" marL="0" rtl="0" algn="just">
              <a:lnSpc>
                <a:spcPct val="150000"/>
              </a:lnSpc>
              <a:spcBef>
                <a:spcPts val="2100"/>
              </a:spcBef>
              <a:spcAft>
                <a:spcPts val="100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8"/>
          <p:cNvSpPr txBox="1"/>
          <p:nvPr/>
        </p:nvSpPr>
        <p:spPr>
          <a:xfrm>
            <a:off x="650081" y="5600700"/>
            <a:ext cx="64293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entury Gothic"/>
                <a:ea typeface="Century Gothic"/>
                <a:cs typeface="Century Gothic"/>
                <a:sym typeface="Century Gothic"/>
              </a:rPr>
              <a:t>13</a:t>
            </a:r>
            <a:endParaRPr b="1" i="1" sz="2000">
              <a:solidFill>
                <a:schemeClr val="lt1"/>
              </a:solidFill>
              <a:latin typeface="Century Gothic"/>
              <a:ea typeface="Century Gothic"/>
              <a:cs typeface="Century Gothic"/>
              <a:sym typeface="Century Gothic"/>
            </a:endParaRPr>
          </a:p>
        </p:txBody>
      </p:sp>
      <p:sp>
        <p:nvSpPr>
          <p:cNvPr id="245" name="Google Shape;245;p28"/>
          <p:cNvSpPr txBox="1"/>
          <p:nvPr/>
        </p:nvSpPr>
        <p:spPr>
          <a:xfrm>
            <a:off x="3200400" y="3200401"/>
            <a:ext cx="27432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pic>
        <p:nvPicPr>
          <p:cNvPr descr="A picture containing text, stationary, writing implement, pen&#10;&#10;Description automatically generated" id="246" name="Google Shape;246;p28"/>
          <p:cNvPicPr preferRelativeResize="0"/>
          <p:nvPr/>
        </p:nvPicPr>
        <p:blipFill rotWithShape="1">
          <a:blip r:embed="rId3">
            <a:alphaModFix/>
          </a:blip>
          <a:srcRect b="0" l="0" r="0" t="0"/>
          <a:stretch/>
        </p:blipFill>
        <p:spPr>
          <a:xfrm>
            <a:off x="1131454" y="1987851"/>
            <a:ext cx="7017705" cy="3247121"/>
          </a:xfrm>
          <a:prstGeom prst="rect">
            <a:avLst/>
          </a:prstGeom>
          <a:noFill/>
          <a:ln>
            <a:noFill/>
          </a:ln>
        </p:spPr>
      </p:pic>
      <p:sp>
        <p:nvSpPr>
          <p:cNvPr id="247" name="Google Shape;247;p2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Department of ISE, BMSCE</a:t>
            </a:r>
            <a:endParaRPr/>
          </a:p>
        </p:txBody>
      </p:sp>
      <p:sp>
        <p:nvSpPr>
          <p:cNvPr id="248" name="Google Shape;248;p2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