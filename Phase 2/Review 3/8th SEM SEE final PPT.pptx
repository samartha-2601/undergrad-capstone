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6858000" cx="9144000"/>
  <p:notesSz cx="6858000" cy="9144000"/>
  <p:embeddedFontLst>
    <p:embeddedFont>
      <p:font typeface="Libre Franklin"/>
      <p:regular r:id="rId45"/>
      <p:bold r:id="rId46"/>
      <p:italic r:id="rId47"/>
      <p:boldItalic r:id="rId48"/>
    </p:embeddedFont>
    <p:embeddedFont>
      <p:font typeface="Libre Baskerville"/>
      <p:regular r:id="rId49"/>
      <p:bold r:id="rId50"/>
      <p:italic r:id="rId51"/>
    </p:embeddedFont>
    <p:embeddedFont>
      <p:font typeface="Century Gothic"/>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C6797AC-9B0B-4661-B362-63F6B0145EAB}">
  <a:tblStyle styleId="{8C6797AC-9B0B-4661-B362-63F6B0145EAB}" styleName="Table_0">
    <a:wholeTbl>
      <a:tcTxStyle b="off" i="off">
        <a:font>
          <a:latin typeface="Perpetua"/>
          <a:ea typeface="Perpetua"/>
          <a:cs typeface="Perpetu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7E8E7"/>
          </a:solidFill>
        </a:fill>
      </a:tcStyle>
    </a:wholeTbl>
    <a:band1H>
      <a:tcTxStyle b="off" i="off"/>
      <a:tcStyle>
        <a:fill>
          <a:solidFill>
            <a:srgbClr val="EFCECA"/>
          </a:solidFill>
        </a:fill>
      </a:tcStyle>
    </a:band1H>
    <a:band2H>
      <a:tcTxStyle b="off" i="off"/>
    </a:band2H>
    <a:band1V>
      <a:tcTxStyle b="off" i="off"/>
      <a:tcStyle>
        <a:fill>
          <a:solidFill>
            <a:srgbClr val="EFCECA"/>
          </a:solidFill>
        </a:fill>
      </a:tcStyle>
    </a:band1V>
    <a:band2V>
      <a:tcTxStyle b="off" i="off"/>
    </a:band2V>
    <a:lastCol>
      <a:tcTxStyle b="on" i="off">
        <a:font>
          <a:latin typeface="Perpetua"/>
          <a:ea typeface="Perpetua"/>
          <a:cs typeface="Perpetua"/>
        </a:font>
        <a:schemeClr val="lt1"/>
      </a:tcTxStyle>
      <a:tcStyle>
        <a:fill>
          <a:solidFill>
            <a:schemeClr val="accent1"/>
          </a:solidFill>
        </a:fill>
      </a:tcStyle>
    </a:lastCol>
    <a:firstCol>
      <a:tcTxStyle b="on" i="off">
        <a:font>
          <a:latin typeface="Perpetua"/>
          <a:ea typeface="Perpetua"/>
          <a:cs typeface="Perpetua"/>
        </a:font>
        <a:schemeClr val="lt1"/>
      </a:tcTxStyle>
      <a:tcStyle>
        <a:fill>
          <a:solidFill>
            <a:schemeClr val="accent1"/>
          </a:solidFill>
        </a:fill>
      </a:tcStyle>
    </a:firstCol>
    <a:lastRow>
      <a:tcTxStyle b="on" i="off">
        <a:font>
          <a:latin typeface="Perpetua"/>
          <a:ea typeface="Perpetua"/>
          <a:cs typeface="Perpetua"/>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Perpetua"/>
          <a:ea typeface="Perpetua"/>
          <a:cs typeface="Perpetua"/>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8F89D18D-C526-4453-AF8D-DFCF61797091}"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LibreFranklin-bold.fntdata"/><Relationship Id="rId45" Type="http://schemas.openxmlformats.org/officeDocument/2006/relationships/font" Target="fonts/LibreFranklin-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LibreFranklin-boldItalic.fntdata"/><Relationship Id="rId47" Type="http://schemas.openxmlformats.org/officeDocument/2006/relationships/font" Target="fonts/LibreFranklin-italic.fntdata"/><Relationship Id="rId49" Type="http://schemas.openxmlformats.org/officeDocument/2006/relationships/font" Target="fonts/LibreBaskerville-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LibreBaskerville-italic.fntdata"/><Relationship Id="rId50" Type="http://schemas.openxmlformats.org/officeDocument/2006/relationships/font" Target="fonts/LibreBaskerville-bold.fntdata"/><Relationship Id="rId53" Type="http://schemas.openxmlformats.org/officeDocument/2006/relationships/font" Target="fonts/CenturyGothic-bold.fntdata"/><Relationship Id="rId52" Type="http://schemas.openxmlformats.org/officeDocument/2006/relationships/font" Target="fonts/CenturyGothic-regular.fntdata"/><Relationship Id="rId11" Type="http://schemas.openxmlformats.org/officeDocument/2006/relationships/slide" Target="slides/slide5.xml"/><Relationship Id="rId55" Type="http://schemas.openxmlformats.org/officeDocument/2006/relationships/font" Target="fonts/CenturyGothic-boldItalic.fntdata"/><Relationship Id="rId10" Type="http://schemas.openxmlformats.org/officeDocument/2006/relationships/slide" Target="slides/slide4.xml"/><Relationship Id="rId54" Type="http://schemas.openxmlformats.org/officeDocument/2006/relationships/font" Target="fonts/CenturyGothic-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28" name="Google Shape;12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38" name="Google Shape;13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47" name="Google Shape;147;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56" name="Google Shape;15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2703b6536b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63" name="Google Shape;163;g22703b6536b_0_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70" name="Google Shape;17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80" name="Google Shape;18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89" name="Google Shape;18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2703b6536b_1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98" name="Google Shape;198;g22703b6536b_1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2703b6536b_1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07" name="Google Shape;207;g22703b6536b_1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2703b6536b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15" name="Google Shape;215;g22703b6536b_1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28" name="Google Shape;22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2703b6536b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38" name="Google Shape;238;g22703b6536b_0_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27068870ad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48" name="Google Shape;248;g227068870ad_0_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27068870ad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57" name="Google Shape;257;g227068870ad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27068870ad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69" name="Google Shape;269;g227068870ad_0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27068870ad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79" name="Google Shape;279;g227068870ad_0_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88" name="Google Shape;28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97" name="Google Shape;29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27068870ad_0_1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07" name="Google Shape;307;g227068870ad_0_1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27068870ad_0_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18" name="Google Shape;318;g227068870ad_0_1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2703b6536b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29" name="Google Shape;329;g22703b6536b_0_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39" name="Google Shape;33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509aec03c7_0_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2509aec03c7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g2509aec03c7_0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27068870ad_0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58" name="Google Shape;358;g227068870ad_0_1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68" name="Google Shape;36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2703b6536b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76" name="Google Shape;376;g22703b6536b_0_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2703b6536b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86" name="Google Shape;386;g22703b6536b_0_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96" name="Google Shape;39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05" name="Google Shape;40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15" name="Google Shape;415;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24" name="Google Shape;42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22703b6536b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33" name="Google Shape;433;g22703b6536b_0_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2703b6536b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42" name="Google Shape;442;g22703b6536b_0_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51" name="Google Shape;45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59" name="Google Shape;45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blip>
          <a:tile algn="tl" flip="none" tx="0" sx="55000" ty="0" sy="55000"/>
        </a:blipFill>
      </p:bgPr>
    </p:bg>
    <p:spTree>
      <p:nvGrpSpPr>
        <p:cNvPr id="17" name="Shape 17"/>
        <p:cNvGrpSpPr/>
        <p:nvPr/>
      </p:nvGrpSpPr>
      <p:grpSpPr>
        <a:xfrm>
          <a:off x="0" y="0"/>
          <a:ext cx="0" cy="0"/>
          <a:chOff x="0" y="0"/>
          <a:chExt cx="0" cy="0"/>
        </a:xfrm>
      </p:grpSpPr>
      <p:sp>
        <p:nvSpPr>
          <p:cNvPr id="18" name="Google Shape;18;p2"/>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9" name="Google Shape;19;p2"/>
          <p:cNvSpPr/>
          <p:nvPr/>
        </p:nvSpPr>
        <p:spPr>
          <a:xfrm>
            <a:off x="65313" y="69755"/>
            <a:ext cx="9013372" cy="669220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0" name="Google Shape;20;p2"/>
          <p:cNvSpPr txBox="1"/>
          <p:nvPr>
            <p:ph idx="1" type="subTitle"/>
          </p:nvPr>
        </p:nvSpPr>
        <p:spPr>
          <a:xfrm>
            <a:off x="1295400" y="3200400"/>
            <a:ext cx="6400800" cy="16002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580"/>
              </a:spcBef>
              <a:spcAft>
                <a:spcPts val="0"/>
              </a:spcAft>
              <a:buSzPts val="2210"/>
              <a:buNone/>
              <a:defRPr sz="2600">
                <a:solidFill>
                  <a:schemeClr val="dk2"/>
                </a:solidFill>
              </a:defRPr>
            </a:lvl1pPr>
            <a:lvl2pPr lvl="1" algn="ctr">
              <a:lnSpc>
                <a:spcPct val="100000"/>
              </a:lnSpc>
              <a:spcBef>
                <a:spcPts val="370"/>
              </a:spcBef>
              <a:spcAft>
                <a:spcPts val="0"/>
              </a:spcAft>
              <a:buSzPts val="1530"/>
              <a:buNone/>
              <a:defRPr/>
            </a:lvl2pPr>
            <a:lvl3pPr lvl="2" algn="ctr">
              <a:lnSpc>
                <a:spcPct val="100000"/>
              </a:lnSpc>
              <a:spcBef>
                <a:spcPts val="370"/>
              </a:spcBef>
              <a:spcAft>
                <a:spcPts val="0"/>
              </a:spcAft>
              <a:buSzPts val="1530"/>
              <a:buNone/>
              <a:defRPr/>
            </a:lvl3pPr>
            <a:lvl4pPr lvl="3" algn="ctr">
              <a:lnSpc>
                <a:spcPct val="100000"/>
              </a:lnSpc>
              <a:spcBef>
                <a:spcPts val="370"/>
              </a:spcBef>
              <a:spcAft>
                <a:spcPts val="0"/>
              </a:spcAft>
              <a:buSzPts val="1440"/>
              <a:buNone/>
              <a:defRPr/>
            </a:lvl4pPr>
            <a:lvl5pPr lvl="4" algn="ctr">
              <a:lnSpc>
                <a:spcPct val="100000"/>
              </a:lnSpc>
              <a:spcBef>
                <a:spcPts val="370"/>
              </a:spcBef>
              <a:spcAft>
                <a:spcPts val="0"/>
              </a:spcAft>
              <a:buSzPts val="1800"/>
              <a:buNone/>
              <a:defRPr/>
            </a:lvl5pPr>
            <a:lvl6pPr lvl="5" algn="ctr">
              <a:lnSpc>
                <a:spcPct val="100000"/>
              </a:lnSpc>
              <a:spcBef>
                <a:spcPts val="370"/>
              </a:spcBef>
              <a:spcAft>
                <a:spcPts val="0"/>
              </a:spcAft>
              <a:buSzPts val="1800"/>
              <a:buNone/>
              <a:defRPr/>
            </a:lvl6pPr>
            <a:lvl7pPr lvl="6" algn="ctr">
              <a:lnSpc>
                <a:spcPct val="100000"/>
              </a:lnSpc>
              <a:spcBef>
                <a:spcPts val="370"/>
              </a:spcBef>
              <a:spcAft>
                <a:spcPts val="0"/>
              </a:spcAft>
              <a:buSzPts val="1800"/>
              <a:buNone/>
              <a:defRPr/>
            </a:lvl7pPr>
            <a:lvl8pPr lvl="7" algn="ctr">
              <a:lnSpc>
                <a:spcPct val="100000"/>
              </a:lnSpc>
              <a:spcBef>
                <a:spcPts val="370"/>
              </a:spcBef>
              <a:spcAft>
                <a:spcPts val="0"/>
              </a:spcAft>
              <a:buSzPts val="1800"/>
              <a:buNone/>
              <a:defRPr/>
            </a:lvl8pPr>
            <a:lvl9pPr lvl="8" algn="ctr">
              <a:lnSpc>
                <a:spcPct val="100000"/>
              </a:lnSpc>
              <a:spcBef>
                <a:spcPts val="370"/>
              </a:spcBef>
              <a:spcAft>
                <a:spcPts val="0"/>
              </a:spcAft>
              <a:buSzPts val="1800"/>
              <a:buNone/>
              <a:defRPr/>
            </a:lvl9pPr>
          </a:lstStyle>
          <a:p/>
        </p:txBody>
      </p:sp>
      <p:sp>
        <p:nvSpPr>
          <p:cNvPr id="21" name="Google Shape;21;p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24" name="Google Shape;24;p2"/>
          <p:cNvSpPr/>
          <p:nvPr/>
        </p:nvSpPr>
        <p:spPr>
          <a:xfrm>
            <a:off x="62931" y="1449303"/>
            <a:ext cx="9021537" cy="152734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5" name="Google Shape;25;p2"/>
          <p:cNvSpPr/>
          <p:nvPr/>
        </p:nvSpPr>
        <p:spPr>
          <a:xfrm>
            <a:off x="62931" y="1396720"/>
            <a:ext cx="9021537" cy="120580"/>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6" name="Google Shape;26;p2"/>
          <p:cNvSpPr/>
          <p:nvPr/>
        </p:nvSpPr>
        <p:spPr>
          <a:xfrm>
            <a:off x="62931" y="2976649"/>
            <a:ext cx="9021537" cy="11053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7" name="Google Shape;27;p2"/>
          <p:cNvSpPr txBox="1"/>
          <p:nvPr>
            <p:ph type="ctrTitle"/>
          </p:nvPr>
        </p:nvSpPr>
        <p:spPr>
          <a:xfrm>
            <a:off x="457200" y="1505930"/>
            <a:ext cx="8229600" cy="1470025"/>
          </a:xfrm>
          <a:prstGeom prst="rect">
            <a:avLst/>
          </a:prstGeom>
          <a:noFill/>
          <a:ln>
            <a:noFill/>
          </a:ln>
        </p:spPr>
        <p:txBody>
          <a:bodyPr anchorCtr="0" anchor="ctr" bIns="91425" lIns="91425" spcFirstLastPara="1" rIns="91425" wrap="square" tIns="45700">
            <a:normAutofit/>
          </a:bodyPr>
          <a:lstStyle>
            <a:lvl1pPr lvl="0" algn="ctr">
              <a:lnSpc>
                <a:spcPct val="100000"/>
              </a:lnSpc>
              <a:spcBef>
                <a:spcPts val="0"/>
              </a:spcBef>
              <a:spcAft>
                <a:spcPts val="0"/>
              </a:spcAft>
              <a:buClr>
                <a:srgbClr val="FFFFFF"/>
              </a:buClr>
              <a:buSzPts val="4000"/>
              <a:buFont typeface="Libre Franklin"/>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33" name="Google Shape;33;p3"/>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34" name="Shape 34"/>
        <p:cNvGrpSpPr/>
        <p:nvPr/>
      </p:nvGrpSpPr>
      <p:grpSpPr>
        <a:xfrm>
          <a:off x="0" y="0"/>
          <a:ext cx="0" cy="0"/>
          <a:chOff x="0" y="0"/>
          <a:chExt cx="0" cy="0"/>
        </a:xfrm>
      </p:grpSpPr>
      <p:sp>
        <p:nvSpPr>
          <p:cNvPr id="35" name="Google Shape;35;p4"/>
          <p:cNvSpPr/>
          <p:nvPr>
            <p:ph idx="2" type="pic"/>
          </p:nvPr>
        </p:nvSpPr>
        <p:spPr>
          <a:xfrm>
            <a:off x="3429000" y="1295400"/>
            <a:ext cx="2362200" cy="4267200"/>
          </a:xfrm>
          <a:prstGeom prst="rect">
            <a:avLst/>
          </a:prstGeom>
          <a:noFill/>
          <a:ln>
            <a:noFill/>
          </a:ln>
        </p:spPr>
      </p:sp>
      <p:sp>
        <p:nvSpPr>
          <p:cNvPr id="36" name="Google Shape;36;p4"/>
          <p:cNvSpPr txBox="1"/>
          <p:nvPr>
            <p:ph idx="1" type="body"/>
          </p:nvPr>
        </p:nvSpPr>
        <p:spPr>
          <a:xfrm>
            <a:off x="381000" y="76200"/>
            <a:ext cx="4191000" cy="1016000"/>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Clr>
                <a:srgbClr val="000000"/>
              </a:buClr>
              <a:buSzPts val="1400"/>
              <a:buFont typeface="Arial"/>
              <a:buNone/>
              <a:defRPr/>
            </a:lvl1pPr>
            <a:lvl2pPr indent="-342900" lvl="1" marL="914400" algn="l">
              <a:lnSpc>
                <a:spcPct val="100000"/>
              </a:lnSpc>
              <a:spcBef>
                <a:spcPts val="0"/>
              </a:spcBef>
              <a:spcAft>
                <a:spcPts val="0"/>
              </a:spcAft>
              <a:buClr>
                <a:srgbClr val="000000"/>
              </a:buClr>
              <a:buSzPts val="1800"/>
              <a:buChar char="–"/>
              <a:defRPr/>
            </a:lvl2pPr>
            <a:lvl3pPr indent="-342900" lvl="2" marL="1371600" algn="l">
              <a:lnSpc>
                <a:spcPct val="100000"/>
              </a:lnSpc>
              <a:spcBef>
                <a:spcPts val="0"/>
              </a:spcBef>
              <a:spcAft>
                <a:spcPts val="0"/>
              </a:spcAft>
              <a:buClr>
                <a:srgbClr val="000000"/>
              </a:buClr>
              <a:buSzPts val="1800"/>
              <a:buChar char="•"/>
              <a:defRPr/>
            </a:lvl3pPr>
            <a:lvl4pPr indent="-342900" lvl="3" marL="1828800" algn="l">
              <a:lnSpc>
                <a:spcPct val="100000"/>
              </a:lnSpc>
              <a:spcBef>
                <a:spcPts val="0"/>
              </a:spcBef>
              <a:spcAft>
                <a:spcPts val="0"/>
              </a:spcAft>
              <a:buClr>
                <a:srgbClr val="000000"/>
              </a:buClr>
              <a:buSzPts val="1800"/>
              <a:buChar char="–"/>
              <a:defRPr/>
            </a:lvl4pPr>
            <a:lvl5pPr indent="-342900" lvl="4" marL="2286000" algn="l">
              <a:lnSpc>
                <a:spcPct val="100000"/>
              </a:lnSpc>
              <a:spcBef>
                <a:spcPts val="0"/>
              </a:spcBef>
              <a:spcAft>
                <a:spcPts val="0"/>
              </a:spcAft>
              <a:buClr>
                <a:srgbClr val="000000"/>
              </a:buClr>
              <a:buSzPts val="1800"/>
              <a:buFont typeface="Libre Baskerville"/>
              <a:buChar char="»"/>
              <a:defRPr/>
            </a:lvl5pPr>
            <a:lvl6pPr indent="-228600" lvl="5" marL="2743200" algn="l">
              <a:lnSpc>
                <a:spcPct val="100000"/>
              </a:lnSpc>
              <a:spcBef>
                <a:spcPts val="0"/>
              </a:spcBef>
              <a:spcAft>
                <a:spcPts val="0"/>
              </a:spcAft>
              <a:buClr>
                <a:srgbClr val="000000"/>
              </a:buClr>
              <a:buSzPts val="1800"/>
              <a:buFont typeface="Libre Baskerville"/>
              <a:buNone/>
              <a:defRPr/>
            </a:lvl6pPr>
            <a:lvl7pPr indent="-228600" lvl="6" marL="3200400" algn="l">
              <a:lnSpc>
                <a:spcPct val="100000"/>
              </a:lnSpc>
              <a:spcBef>
                <a:spcPts val="0"/>
              </a:spcBef>
              <a:spcAft>
                <a:spcPts val="0"/>
              </a:spcAft>
              <a:buClr>
                <a:srgbClr val="000000"/>
              </a:buClr>
              <a:buSzPts val="1800"/>
              <a:buFont typeface="Libre Baskerville"/>
              <a:buNone/>
              <a:defRPr/>
            </a:lvl7pPr>
            <a:lvl8pPr indent="-228600" lvl="7" marL="3657600" algn="l">
              <a:lnSpc>
                <a:spcPct val="100000"/>
              </a:lnSpc>
              <a:spcBef>
                <a:spcPts val="0"/>
              </a:spcBef>
              <a:spcAft>
                <a:spcPts val="0"/>
              </a:spcAft>
              <a:buClr>
                <a:srgbClr val="000000"/>
              </a:buClr>
              <a:buSzPts val="1800"/>
              <a:buFont typeface="Libre Baskerville"/>
              <a:buNone/>
              <a:defRPr/>
            </a:lvl8pPr>
            <a:lvl9pPr indent="-228600" lvl="8" marL="4114800" algn="l">
              <a:lnSpc>
                <a:spcPct val="100000"/>
              </a:lnSpc>
              <a:spcBef>
                <a:spcPts val="0"/>
              </a:spcBef>
              <a:spcAft>
                <a:spcPts val="0"/>
              </a:spcAft>
              <a:buClr>
                <a:srgbClr val="000000"/>
              </a:buClr>
              <a:buSzPts val="1800"/>
              <a:buFont typeface="Libre Baskerville"/>
              <a:buNone/>
              <a:defRPr/>
            </a:lvl9pPr>
          </a:lstStyle>
          <a:p/>
        </p:txBody>
      </p:sp>
      <p:sp>
        <p:nvSpPr>
          <p:cNvPr id="37" name="Google Shape;37;p4"/>
          <p:cNvSpPr txBox="1"/>
          <p:nvPr>
            <p:ph idx="3" type="body"/>
          </p:nvPr>
        </p:nvSpPr>
        <p:spPr>
          <a:xfrm>
            <a:off x="4800600" y="76200"/>
            <a:ext cx="3276600" cy="1016000"/>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Clr>
                <a:srgbClr val="000000"/>
              </a:buClr>
              <a:buSzPts val="1400"/>
              <a:buFont typeface="Arial"/>
              <a:buNone/>
              <a:defRPr/>
            </a:lvl1pPr>
            <a:lvl2pPr indent="-342900" lvl="1" marL="914400" algn="l">
              <a:lnSpc>
                <a:spcPct val="100000"/>
              </a:lnSpc>
              <a:spcBef>
                <a:spcPts val="0"/>
              </a:spcBef>
              <a:spcAft>
                <a:spcPts val="0"/>
              </a:spcAft>
              <a:buClr>
                <a:srgbClr val="000000"/>
              </a:buClr>
              <a:buSzPts val="1800"/>
              <a:buChar char="–"/>
              <a:defRPr/>
            </a:lvl2pPr>
            <a:lvl3pPr indent="-342900" lvl="2" marL="1371600" algn="l">
              <a:lnSpc>
                <a:spcPct val="100000"/>
              </a:lnSpc>
              <a:spcBef>
                <a:spcPts val="0"/>
              </a:spcBef>
              <a:spcAft>
                <a:spcPts val="0"/>
              </a:spcAft>
              <a:buClr>
                <a:srgbClr val="000000"/>
              </a:buClr>
              <a:buSzPts val="1800"/>
              <a:buChar char="•"/>
              <a:defRPr/>
            </a:lvl3pPr>
            <a:lvl4pPr indent="-342900" lvl="3" marL="1828800" algn="l">
              <a:lnSpc>
                <a:spcPct val="100000"/>
              </a:lnSpc>
              <a:spcBef>
                <a:spcPts val="0"/>
              </a:spcBef>
              <a:spcAft>
                <a:spcPts val="0"/>
              </a:spcAft>
              <a:buClr>
                <a:srgbClr val="000000"/>
              </a:buClr>
              <a:buSzPts val="1800"/>
              <a:buChar char="–"/>
              <a:defRPr/>
            </a:lvl4pPr>
            <a:lvl5pPr indent="-342900" lvl="4" marL="2286000" algn="l">
              <a:lnSpc>
                <a:spcPct val="100000"/>
              </a:lnSpc>
              <a:spcBef>
                <a:spcPts val="0"/>
              </a:spcBef>
              <a:spcAft>
                <a:spcPts val="0"/>
              </a:spcAft>
              <a:buClr>
                <a:srgbClr val="000000"/>
              </a:buClr>
              <a:buSzPts val="1800"/>
              <a:buFont typeface="Libre Baskerville"/>
              <a:buChar char="»"/>
              <a:defRPr/>
            </a:lvl5pPr>
            <a:lvl6pPr indent="-228600" lvl="5" marL="2743200" algn="l">
              <a:lnSpc>
                <a:spcPct val="100000"/>
              </a:lnSpc>
              <a:spcBef>
                <a:spcPts val="0"/>
              </a:spcBef>
              <a:spcAft>
                <a:spcPts val="0"/>
              </a:spcAft>
              <a:buClr>
                <a:srgbClr val="000000"/>
              </a:buClr>
              <a:buSzPts val="1800"/>
              <a:buFont typeface="Libre Baskerville"/>
              <a:buNone/>
              <a:defRPr/>
            </a:lvl6pPr>
            <a:lvl7pPr indent="-228600" lvl="6" marL="3200400" algn="l">
              <a:lnSpc>
                <a:spcPct val="100000"/>
              </a:lnSpc>
              <a:spcBef>
                <a:spcPts val="0"/>
              </a:spcBef>
              <a:spcAft>
                <a:spcPts val="0"/>
              </a:spcAft>
              <a:buClr>
                <a:srgbClr val="000000"/>
              </a:buClr>
              <a:buSzPts val="1800"/>
              <a:buFont typeface="Libre Baskerville"/>
              <a:buNone/>
              <a:defRPr/>
            </a:lvl7pPr>
            <a:lvl8pPr indent="-228600" lvl="7" marL="3657600" algn="l">
              <a:lnSpc>
                <a:spcPct val="100000"/>
              </a:lnSpc>
              <a:spcBef>
                <a:spcPts val="0"/>
              </a:spcBef>
              <a:spcAft>
                <a:spcPts val="0"/>
              </a:spcAft>
              <a:buClr>
                <a:srgbClr val="000000"/>
              </a:buClr>
              <a:buSzPts val="1800"/>
              <a:buFont typeface="Libre Baskerville"/>
              <a:buNone/>
              <a:defRPr/>
            </a:lvl8pPr>
            <a:lvl9pPr indent="-228600" lvl="8" marL="4114800" algn="l">
              <a:lnSpc>
                <a:spcPct val="100000"/>
              </a:lnSpc>
              <a:spcBef>
                <a:spcPts val="0"/>
              </a:spcBef>
              <a:spcAft>
                <a:spcPts val="0"/>
              </a:spcAft>
              <a:buClr>
                <a:srgbClr val="000000"/>
              </a:buClr>
              <a:buSzPts val="1800"/>
              <a:buFont typeface="Libre Baskerville"/>
              <a:buNone/>
              <a:defRPr/>
            </a:lvl9pPr>
          </a:lstStyle>
          <a:p/>
        </p:txBody>
      </p:sp>
      <p:sp>
        <p:nvSpPr>
          <p:cNvPr id="38" name="Google Shape;38;p4"/>
          <p:cNvSpPr txBox="1"/>
          <p:nvPr>
            <p:ph idx="10" type="dt"/>
          </p:nvPr>
        </p:nvSpPr>
        <p:spPr>
          <a:xfrm>
            <a:off x="7772401" y="6136218"/>
            <a:ext cx="766763" cy="3683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dk2"/>
              </a:buClr>
              <a:buSzPts val="1400"/>
              <a:buFont typeface="Libre Baskerville"/>
              <a:buNone/>
              <a:defRPr/>
            </a:lvl1pPr>
            <a:lvl2pPr lvl="1" algn="l">
              <a:lnSpc>
                <a:spcPct val="100000"/>
              </a:lnSpc>
              <a:spcBef>
                <a:spcPts val="0"/>
              </a:spcBef>
              <a:spcAft>
                <a:spcPts val="0"/>
              </a:spcAft>
              <a:buClr>
                <a:schemeClr val="dk1"/>
              </a:buClr>
              <a:buSzPts val="1400"/>
              <a:buFont typeface="Libre Baskerville"/>
              <a:buNone/>
              <a:defRPr/>
            </a:lvl2pPr>
            <a:lvl3pPr lvl="2" algn="l">
              <a:lnSpc>
                <a:spcPct val="100000"/>
              </a:lnSpc>
              <a:spcBef>
                <a:spcPts val="0"/>
              </a:spcBef>
              <a:spcAft>
                <a:spcPts val="0"/>
              </a:spcAft>
              <a:buClr>
                <a:schemeClr val="dk1"/>
              </a:buClr>
              <a:buSzPts val="1400"/>
              <a:buFont typeface="Libre Baskerville"/>
              <a:buNone/>
              <a:defRPr/>
            </a:lvl3pPr>
            <a:lvl4pPr lvl="3" algn="l">
              <a:lnSpc>
                <a:spcPct val="100000"/>
              </a:lnSpc>
              <a:spcBef>
                <a:spcPts val="0"/>
              </a:spcBef>
              <a:spcAft>
                <a:spcPts val="0"/>
              </a:spcAft>
              <a:buClr>
                <a:schemeClr val="dk1"/>
              </a:buClr>
              <a:buSzPts val="1400"/>
              <a:buFont typeface="Libre Baskerville"/>
              <a:buNone/>
              <a:defRPr/>
            </a:lvl4pPr>
            <a:lvl5pPr lvl="4" algn="l">
              <a:lnSpc>
                <a:spcPct val="100000"/>
              </a:lnSpc>
              <a:spcBef>
                <a:spcPts val="0"/>
              </a:spcBef>
              <a:spcAft>
                <a:spcPts val="0"/>
              </a:spcAft>
              <a:buClr>
                <a:schemeClr val="dk1"/>
              </a:buClr>
              <a:buSzPts val="1400"/>
              <a:buFont typeface="Libre Baskerville"/>
              <a:buNone/>
              <a:defRPr/>
            </a:lvl5pPr>
            <a:lvl6pPr lvl="5" algn="l">
              <a:lnSpc>
                <a:spcPct val="100000"/>
              </a:lnSpc>
              <a:spcBef>
                <a:spcPts val="0"/>
              </a:spcBef>
              <a:spcAft>
                <a:spcPts val="0"/>
              </a:spcAft>
              <a:buClr>
                <a:schemeClr val="dk1"/>
              </a:buClr>
              <a:buSzPts val="1400"/>
              <a:buFont typeface="Libre Baskerville"/>
              <a:buNone/>
              <a:defRPr/>
            </a:lvl6pPr>
            <a:lvl7pPr lvl="6" algn="l">
              <a:lnSpc>
                <a:spcPct val="100000"/>
              </a:lnSpc>
              <a:spcBef>
                <a:spcPts val="0"/>
              </a:spcBef>
              <a:spcAft>
                <a:spcPts val="0"/>
              </a:spcAft>
              <a:buClr>
                <a:schemeClr val="dk1"/>
              </a:buClr>
              <a:buSzPts val="1400"/>
              <a:buFont typeface="Libre Baskerville"/>
              <a:buNone/>
              <a:defRPr/>
            </a:lvl7pPr>
            <a:lvl8pPr lvl="7" algn="l">
              <a:lnSpc>
                <a:spcPct val="100000"/>
              </a:lnSpc>
              <a:spcBef>
                <a:spcPts val="0"/>
              </a:spcBef>
              <a:spcAft>
                <a:spcPts val="0"/>
              </a:spcAft>
              <a:buClr>
                <a:schemeClr val="dk1"/>
              </a:buClr>
              <a:buSzPts val="1400"/>
              <a:buFont typeface="Libre Baskerville"/>
              <a:buNone/>
              <a:defRPr/>
            </a:lvl8pPr>
            <a:lvl9pPr lvl="8" algn="l">
              <a:lnSpc>
                <a:spcPct val="100000"/>
              </a:lnSpc>
              <a:spcBef>
                <a:spcPts val="0"/>
              </a:spcBef>
              <a:spcAft>
                <a:spcPts val="0"/>
              </a:spcAft>
              <a:buClr>
                <a:schemeClr val="dk1"/>
              </a:buClr>
              <a:buSzPts val="1400"/>
              <a:buFont typeface="Libre Baskerville"/>
              <a:buNone/>
              <a:defRPr/>
            </a:lvl9pPr>
          </a:lstStyle>
          <a:p/>
        </p:txBody>
      </p:sp>
      <p:sp>
        <p:nvSpPr>
          <p:cNvPr id="39" name="Google Shape;39;p4"/>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2"/>
              </a:buClr>
              <a:buSzPts val="1400"/>
              <a:buFont typeface="Libre Baskerville"/>
              <a:buNone/>
              <a:defRPr/>
            </a:lvl1pPr>
            <a:lvl2pPr lvl="1" algn="l">
              <a:lnSpc>
                <a:spcPct val="100000"/>
              </a:lnSpc>
              <a:spcBef>
                <a:spcPts val="0"/>
              </a:spcBef>
              <a:spcAft>
                <a:spcPts val="0"/>
              </a:spcAft>
              <a:buClr>
                <a:schemeClr val="dk1"/>
              </a:buClr>
              <a:buSzPts val="1400"/>
              <a:buFont typeface="Libre Baskerville"/>
              <a:buNone/>
              <a:defRPr/>
            </a:lvl2pPr>
            <a:lvl3pPr lvl="2" algn="l">
              <a:lnSpc>
                <a:spcPct val="100000"/>
              </a:lnSpc>
              <a:spcBef>
                <a:spcPts val="0"/>
              </a:spcBef>
              <a:spcAft>
                <a:spcPts val="0"/>
              </a:spcAft>
              <a:buClr>
                <a:schemeClr val="dk1"/>
              </a:buClr>
              <a:buSzPts val="1400"/>
              <a:buFont typeface="Libre Baskerville"/>
              <a:buNone/>
              <a:defRPr/>
            </a:lvl3pPr>
            <a:lvl4pPr lvl="3" algn="l">
              <a:lnSpc>
                <a:spcPct val="100000"/>
              </a:lnSpc>
              <a:spcBef>
                <a:spcPts val="0"/>
              </a:spcBef>
              <a:spcAft>
                <a:spcPts val="0"/>
              </a:spcAft>
              <a:buClr>
                <a:schemeClr val="dk1"/>
              </a:buClr>
              <a:buSzPts val="1400"/>
              <a:buFont typeface="Libre Baskerville"/>
              <a:buNone/>
              <a:defRPr/>
            </a:lvl4pPr>
            <a:lvl5pPr lvl="4" algn="l">
              <a:lnSpc>
                <a:spcPct val="100000"/>
              </a:lnSpc>
              <a:spcBef>
                <a:spcPts val="0"/>
              </a:spcBef>
              <a:spcAft>
                <a:spcPts val="0"/>
              </a:spcAft>
              <a:buClr>
                <a:schemeClr val="dk1"/>
              </a:buClr>
              <a:buSzPts val="1400"/>
              <a:buFont typeface="Libre Baskerville"/>
              <a:buNone/>
              <a:defRPr/>
            </a:lvl5pPr>
            <a:lvl6pPr lvl="5" algn="l">
              <a:lnSpc>
                <a:spcPct val="100000"/>
              </a:lnSpc>
              <a:spcBef>
                <a:spcPts val="0"/>
              </a:spcBef>
              <a:spcAft>
                <a:spcPts val="0"/>
              </a:spcAft>
              <a:buClr>
                <a:schemeClr val="dk1"/>
              </a:buClr>
              <a:buSzPts val="1400"/>
              <a:buFont typeface="Libre Baskerville"/>
              <a:buNone/>
              <a:defRPr/>
            </a:lvl6pPr>
            <a:lvl7pPr lvl="6" algn="l">
              <a:lnSpc>
                <a:spcPct val="100000"/>
              </a:lnSpc>
              <a:spcBef>
                <a:spcPts val="0"/>
              </a:spcBef>
              <a:spcAft>
                <a:spcPts val="0"/>
              </a:spcAft>
              <a:buClr>
                <a:schemeClr val="dk1"/>
              </a:buClr>
              <a:buSzPts val="1400"/>
              <a:buFont typeface="Libre Baskerville"/>
              <a:buNone/>
              <a:defRPr/>
            </a:lvl7pPr>
            <a:lvl8pPr lvl="7" algn="l">
              <a:lnSpc>
                <a:spcPct val="100000"/>
              </a:lnSpc>
              <a:spcBef>
                <a:spcPts val="0"/>
              </a:spcBef>
              <a:spcAft>
                <a:spcPts val="0"/>
              </a:spcAft>
              <a:buClr>
                <a:schemeClr val="dk1"/>
              </a:buClr>
              <a:buSzPts val="1400"/>
              <a:buFont typeface="Libre Baskerville"/>
              <a:buNone/>
              <a:defRPr/>
            </a:lvl8pPr>
            <a:lvl9pPr lvl="8" algn="l">
              <a:lnSpc>
                <a:spcPct val="100000"/>
              </a:lnSpc>
              <a:spcBef>
                <a:spcPts val="0"/>
              </a:spcBef>
              <a:spcAft>
                <a:spcPts val="0"/>
              </a:spcAft>
              <a:buClr>
                <a:schemeClr val="dk1"/>
              </a:buClr>
              <a:buSzPts val="1400"/>
              <a:buFont typeface="Libre Baskerville"/>
              <a:buNone/>
              <a:defRPr/>
            </a:lvl9pPr>
          </a:lstStyle>
          <a:p/>
        </p:txBody>
      </p:sp>
      <p:sp>
        <p:nvSpPr>
          <p:cNvPr id="40" name="Google Shape;40;p4"/>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r>
              <a:rPr lang="en-US"/>
              <a:t>1</a:t>
            </a:r>
            <a:endParaRPr b="0" i="0" sz="1400">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
        <p:nvSpPr>
          <p:cNvPr id="42" name="Google Shape;42;p5"/>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tile algn="tl" flip="none" tx="0" sx="55000" ty="0" sy="55000"/>
        </a:blipFill>
      </p:bgPr>
    </p:bg>
    <p:spTree>
      <p:nvGrpSpPr>
        <p:cNvPr id="45" name="Shape 45"/>
        <p:cNvGrpSpPr/>
        <p:nvPr/>
      </p:nvGrpSpPr>
      <p:grpSpPr>
        <a:xfrm>
          <a:off x="0" y="0"/>
          <a:ext cx="0" cy="0"/>
          <a:chOff x="0" y="0"/>
          <a:chExt cx="0" cy="0"/>
        </a:xfrm>
      </p:grpSpPr>
      <p:sp>
        <p:nvSpPr>
          <p:cNvPr id="46" name="Google Shape;46;p6"/>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47" name="Google Shape;47;p6"/>
          <p:cNvSpPr/>
          <p:nvPr/>
        </p:nvSpPr>
        <p:spPr>
          <a:xfrm>
            <a:off x="65313" y="69755"/>
            <a:ext cx="9013372" cy="669220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48" name="Google Shape;48;p6"/>
          <p:cNvSpPr txBox="1"/>
          <p:nvPr>
            <p:ph type="title"/>
          </p:nvPr>
        </p:nvSpPr>
        <p:spPr>
          <a:xfrm>
            <a:off x="722313" y="952500"/>
            <a:ext cx="7772400" cy="1362075"/>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4000"/>
              <a:buFont typeface="Libre Franklin"/>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
          <p:cNvSpPr txBox="1"/>
          <p:nvPr>
            <p:ph idx="1" type="body"/>
          </p:nvPr>
        </p:nvSpPr>
        <p:spPr>
          <a:xfrm>
            <a:off x="722313" y="2547938"/>
            <a:ext cx="7772400" cy="13382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80"/>
              </a:spcBef>
              <a:spcAft>
                <a:spcPts val="0"/>
              </a:spcAft>
              <a:buSzPts val="2040"/>
              <a:buNone/>
              <a:defRPr sz="2400">
                <a:solidFill>
                  <a:srgbClr val="888888"/>
                </a:solidFill>
              </a:defRPr>
            </a:lvl1pPr>
            <a:lvl2pPr indent="-228600" lvl="1" marL="914400" algn="l">
              <a:lnSpc>
                <a:spcPct val="100000"/>
              </a:lnSpc>
              <a:spcBef>
                <a:spcPts val="370"/>
              </a:spcBef>
              <a:spcAft>
                <a:spcPts val="0"/>
              </a:spcAft>
              <a:buSzPts val="1530"/>
              <a:buNone/>
              <a:defRPr sz="1800">
                <a:solidFill>
                  <a:srgbClr val="888888"/>
                </a:solidFill>
              </a:defRPr>
            </a:lvl2pPr>
            <a:lvl3pPr indent="-228600" lvl="2" marL="1371600" algn="l">
              <a:lnSpc>
                <a:spcPct val="100000"/>
              </a:lnSpc>
              <a:spcBef>
                <a:spcPts val="370"/>
              </a:spcBef>
              <a:spcAft>
                <a:spcPts val="0"/>
              </a:spcAft>
              <a:buSzPts val="1360"/>
              <a:buNone/>
              <a:defRPr sz="1600">
                <a:solidFill>
                  <a:srgbClr val="888888"/>
                </a:solidFill>
              </a:defRPr>
            </a:lvl3pPr>
            <a:lvl4pPr indent="-228600" lvl="3" marL="1828800" algn="l">
              <a:lnSpc>
                <a:spcPct val="100000"/>
              </a:lnSpc>
              <a:spcBef>
                <a:spcPts val="370"/>
              </a:spcBef>
              <a:spcAft>
                <a:spcPts val="0"/>
              </a:spcAft>
              <a:buSzPts val="1120"/>
              <a:buNone/>
              <a:defRPr sz="1400">
                <a:solidFill>
                  <a:srgbClr val="888888"/>
                </a:solidFill>
              </a:defRPr>
            </a:lvl4pPr>
            <a:lvl5pPr indent="-228600" lvl="4" marL="2286000" algn="l">
              <a:lnSpc>
                <a:spcPct val="100000"/>
              </a:lnSpc>
              <a:spcBef>
                <a:spcPts val="370"/>
              </a:spcBef>
              <a:spcAft>
                <a:spcPts val="0"/>
              </a:spcAft>
              <a:buSzPts val="1400"/>
              <a:buFont typeface="Libre Baskerville"/>
              <a:buNone/>
              <a:defRPr sz="1400">
                <a:solidFill>
                  <a:srgbClr val="888888"/>
                </a:solidFill>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50" name="Google Shape;50;p6"/>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
          <p:cNvSpPr txBox="1"/>
          <p:nvPr>
            <p:ph idx="11" type="ftr"/>
          </p:nvPr>
        </p:nvSpPr>
        <p:spPr>
          <a:xfrm>
            <a:off x="800100" y="6172200"/>
            <a:ext cx="40005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
          <p:cNvSpPr/>
          <p:nvPr/>
        </p:nvSpPr>
        <p:spPr>
          <a:xfrm flipH="1" rot="10800000">
            <a:off x="69412" y="2376830"/>
            <a:ext cx="9013515"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53" name="Google Shape;53;p6"/>
          <p:cNvSpPr/>
          <p:nvPr/>
        </p:nvSpPr>
        <p:spPr>
          <a:xfrm>
            <a:off x="69146" y="2341475"/>
            <a:ext cx="9013781" cy="45719"/>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54" name="Google Shape;54;p6"/>
          <p:cNvSpPr/>
          <p:nvPr/>
        </p:nvSpPr>
        <p:spPr>
          <a:xfrm>
            <a:off x="68306" y="2468880"/>
            <a:ext cx="9014621" cy="4572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55" name="Google Shape;55;p6"/>
          <p:cNvSpPr/>
          <p:nvPr>
            <p:ph idx="12" type="sldNum"/>
          </p:nvPr>
        </p:nvSpPr>
        <p:spPr>
          <a:xfrm>
            <a:off x="146304" y="6208776"/>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7"/>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7"/>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7"/>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7"/>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61" name="Google Shape;61;p7"/>
          <p:cNvSpPr txBox="1"/>
          <p:nvPr>
            <p:ph idx="1" type="body"/>
          </p:nvPr>
        </p:nvSpPr>
        <p:spPr>
          <a:xfrm>
            <a:off x="914400" y="1447800"/>
            <a:ext cx="3749040" cy="45720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62" name="Google Shape;62;p7"/>
          <p:cNvSpPr txBox="1"/>
          <p:nvPr>
            <p:ph idx="2" type="body"/>
          </p:nvPr>
        </p:nvSpPr>
        <p:spPr>
          <a:xfrm>
            <a:off x="4933950" y="1447800"/>
            <a:ext cx="3749040" cy="45720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8"/>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4000"/>
              <a:buFont typeface="Libre Franklin"/>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8"/>
          <p:cNvSpPr txBox="1"/>
          <p:nvPr>
            <p:ph idx="1" type="body"/>
          </p:nvPr>
        </p:nvSpPr>
        <p:spPr>
          <a:xfrm>
            <a:off x="9144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lnSpc>
                <a:spcPct val="100000"/>
              </a:lnSpc>
              <a:spcBef>
                <a:spcPts val="370"/>
              </a:spcBef>
              <a:spcAft>
                <a:spcPts val="0"/>
              </a:spcAft>
              <a:buSzPts val="1700"/>
              <a:buNone/>
              <a:defRPr b="1" sz="2000"/>
            </a:lvl2pPr>
            <a:lvl3pPr indent="-228600" lvl="2" marL="1371600" algn="l">
              <a:lnSpc>
                <a:spcPct val="100000"/>
              </a:lnSpc>
              <a:spcBef>
                <a:spcPts val="370"/>
              </a:spcBef>
              <a:spcAft>
                <a:spcPts val="0"/>
              </a:spcAft>
              <a:buSzPts val="1530"/>
              <a:buNone/>
              <a:defRPr b="1" sz="1800"/>
            </a:lvl3pPr>
            <a:lvl4pPr indent="-228600" lvl="3" marL="1828800" algn="l">
              <a:lnSpc>
                <a:spcPct val="100000"/>
              </a:lnSpc>
              <a:spcBef>
                <a:spcPts val="370"/>
              </a:spcBef>
              <a:spcAft>
                <a:spcPts val="0"/>
              </a:spcAft>
              <a:buSzPts val="1280"/>
              <a:buNone/>
              <a:defRPr b="1" sz="1600"/>
            </a:lvl4pPr>
            <a:lvl5pPr indent="-228600" lvl="4" marL="2286000" algn="l">
              <a:lnSpc>
                <a:spcPct val="100000"/>
              </a:lnSpc>
              <a:spcBef>
                <a:spcPts val="370"/>
              </a:spcBef>
              <a:spcAft>
                <a:spcPts val="0"/>
              </a:spcAft>
              <a:buSzPts val="1600"/>
              <a:buFont typeface="Libre Baskerville"/>
              <a:buNone/>
              <a:defRPr b="1" sz="16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66" name="Google Shape;66;p8"/>
          <p:cNvSpPr txBox="1"/>
          <p:nvPr>
            <p:ph idx="2" type="body"/>
          </p:nvPr>
        </p:nvSpPr>
        <p:spPr>
          <a:xfrm>
            <a:off x="49530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lnSpc>
                <a:spcPct val="100000"/>
              </a:lnSpc>
              <a:spcBef>
                <a:spcPts val="370"/>
              </a:spcBef>
              <a:spcAft>
                <a:spcPts val="0"/>
              </a:spcAft>
              <a:buSzPts val="1700"/>
              <a:buNone/>
              <a:defRPr b="1" sz="2000"/>
            </a:lvl2pPr>
            <a:lvl3pPr indent="-228600" lvl="2" marL="1371600" algn="l">
              <a:lnSpc>
                <a:spcPct val="100000"/>
              </a:lnSpc>
              <a:spcBef>
                <a:spcPts val="370"/>
              </a:spcBef>
              <a:spcAft>
                <a:spcPts val="0"/>
              </a:spcAft>
              <a:buSzPts val="1530"/>
              <a:buNone/>
              <a:defRPr b="1" sz="1800"/>
            </a:lvl3pPr>
            <a:lvl4pPr indent="-228600" lvl="3" marL="1828800" algn="l">
              <a:lnSpc>
                <a:spcPct val="100000"/>
              </a:lnSpc>
              <a:spcBef>
                <a:spcPts val="370"/>
              </a:spcBef>
              <a:spcAft>
                <a:spcPts val="0"/>
              </a:spcAft>
              <a:buSzPts val="1280"/>
              <a:buNone/>
              <a:defRPr b="1" sz="1600"/>
            </a:lvl4pPr>
            <a:lvl5pPr indent="-228600" lvl="4" marL="2286000" algn="l">
              <a:lnSpc>
                <a:spcPct val="100000"/>
              </a:lnSpc>
              <a:spcBef>
                <a:spcPts val="370"/>
              </a:spcBef>
              <a:spcAft>
                <a:spcPts val="0"/>
              </a:spcAft>
              <a:buSzPts val="1600"/>
              <a:buFont typeface="Libre Baskerville"/>
              <a:buNone/>
              <a:defRPr b="1" sz="16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67" name="Google Shape;67;p8"/>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8"/>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8"/>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70" name="Google Shape;70;p8"/>
          <p:cNvSpPr txBox="1"/>
          <p:nvPr>
            <p:ph idx="3" type="body"/>
          </p:nvPr>
        </p:nvSpPr>
        <p:spPr>
          <a:xfrm>
            <a:off x="914400" y="2247900"/>
            <a:ext cx="3733800" cy="38862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71" name="Google Shape;71;p8"/>
          <p:cNvSpPr txBox="1"/>
          <p:nvPr>
            <p:ph idx="4" type="body"/>
          </p:nvPr>
        </p:nvSpPr>
        <p:spPr>
          <a:xfrm>
            <a:off x="4953000" y="2247900"/>
            <a:ext cx="3733800" cy="38862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9"/>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9"/>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9"/>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9"/>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7" name="Shape 77"/>
        <p:cNvGrpSpPr/>
        <p:nvPr/>
      </p:nvGrpSpPr>
      <p:grpSpPr>
        <a:xfrm>
          <a:off x="0" y="0"/>
          <a:ext cx="0" cy="0"/>
          <a:chOff x="0" y="0"/>
          <a:chExt cx="0" cy="0"/>
        </a:xfrm>
      </p:grpSpPr>
      <p:sp>
        <p:nvSpPr>
          <p:cNvPr id="78" name="Google Shape;78;p10"/>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79" name="Google Shape;79;p10"/>
          <p:cNvSpPr/>
          <p:nvPr/>
        </p:nvSpPr>
        <p:spPr>
          <a:xfrm>
            <a:off x="64008" y="69755"/>
            <a:ext cx="9013372" cy="6693408"/>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80" name="Google Shape;80;p10"/>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4000"/>
              <a:buFont typeface="Libre Franklin"/>
              <a:buNone/>
              <a:defRPr b="0"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0"/>
          <p:cNvSpPr txBox="1"/>
          <p:nvPr>
            <p:ph idx="1" type="body"/>
          </p:nvPr>
        </p:nvSpPr>
        <p:spPr>
          <a:xfrm>
            <a:off x="914400" y="1600200"/>
            <a:ext cx="1905000" cy="4495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80"/>
              </a:spcBef>
              <a:spcAft>
                <a:spcPts val="0"/>
              </a:spcAft>
              <a:buSzPts val="1530"/>
              <a:buNone/>
              <a:defRPr sz="1800"/>
            </a:lvl1pPr>
            <a:lvl2pPr indent="-228600" lvl="1" marL="914400" algn="l">
              <a:lnSpc>
                <a:spcPct val="100000"/>
              </a:lnSpc>
              <a:spcBef>
                <a:spcPts val="370"/>
              </a:spcBef>
              <a:spcAft>
                <a:spcPts val="0"/>
              </a:spcAft>
              <a:buSzPts val="1020"/>
              <a:buNone/>
              <a:defRPr sz="1200"/>
            </a:lvl2pPr>
            <a:lvl3pPr indent="-228600" lvl="2" marL="1371600" algn="l">
              <a:lnSpc>
                <a:spcPct val="100000"/>
              </a:lnSpc>
              <a:spcBef>
                <a:spcPts val="370"/>
              </a:spcBef>
              <a:spcAft>
                <a:spcPts val="0"/>
              </a:spcAft>
              <a:buSzPts val="850"/>
              <a:buNone/>
              <a:defRPr sz="1000"/>
            </a:lvl3pPr>
            <a:lvl4pPr indent="-228600" lvl="3" marL="1828800" algn="l">
              <a:lnSpc>
                <a:spcPct val="100000"/>
              </a:lnSpc>
              <a:spcBef>
                <a:spcPts val="370"/>
              </a:spcBef>
              <a:spcAft>
                <a:spcPts val="0"/>
              </a:spcAft>
              <a:buSzPts val="720"/>
              <a:buNone/>
              <a:defRPr sz="900"/>
            </a:lvl4pPr>
            <a:lvl5pPr indent="-228600" lvl="4" marL="2286000" algn="l">
              <a:lnSpc>
                <a:spcPct val="100000"/>
              </a:lnSpc>
              <a:spcBef>
                <a:spcPts val="370"/>
              </a:spcBef>
              <a:spcAft>
                <a:spcPts val="0"/>
              </a:spcAft>
              <a:buSzPts val="900"/>
              <a:buFont typeface="Libre Baskerville"/>
              <a:buNone/>
              <a:defRPr sz="9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82" name="Google Shape;82;p10"/>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0"/>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0"/>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85" name="Google Shape;85;p10"/>
          <p:cNvSpPr txBox="1"/>
          <p:nvPr>
            <p:ph idx="2" type="body"/>
          </p:nvPr>
        </p:nvSpPr>
        <p:spPr>
          <a:xfrm>
            <a:off x="2971800" y="1600200"/>
            <a:ext cx="5715000" cy="44958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6" name="Shape 86"/>
        <p:cNvGrpSpPr/>
        <p:nvPr/>
      </p:nvGrpSpPr>
      <p:grpSpPr>
        <a:xfrm>
          <a:off x="0" y="0"/>
          <a:ext cx="0" cy="0"/>
          <a:chOff x="0" y="0"/>
          <a:chExt cx="0" cy="0"/>
        </a:xfrm>
      </p:grpSpPr>
      <p:sp>
        <p:nvSpPr>
          <p:cNvPr id="87" name="Google Shape;87;p11"/>
          <p:cNvSpPr txBox="1"/>
          <p:nvPr>
            <p:ph type="title"/>
          </p:nvPr>
        </p:nvSpPr>
        <p:spPr>
          <a:xfrm>
            <a:off x="914400" y="4900550"/>
            <a:ext cx="7315200" cy="522288"/>
          </a:xfrm>
          <a:prstGeom prst="rect">
            <a:avLst/>
          </a:prstGeom>
          <a:noFill/>
          <a:ln>
            <a:noFill/>
          </a:ln>
        </p:spPr>
        <p:txBody>
          <a:bodyPr anchorCtr="0" anchor="ctr" bIns="91425" lIns="91425" spcFirstLastPara="1" rIns="91425" wrap="square" tIns="45700">
            <a:noAutofit/>
          </a:bodyPr>
          <a:lstStyle>
            <a:lvl1pPr lvl="0" algn="l">
              <a:lnSpc>
                <a:spcPct val="100000"/>
              </a:lnSpc>
              <a:spcBef>
                <a:spcPts val="0"/>
              </a:spcBef>
              <a:spcAft>
                <a:spcPts val="0"/>
              </a:spcAft>
              <a:buClr>
                <a:schemeClr val="dk2"/>
              </a:buClr>
              <a:buSzPts val="2800"/>
              <a:buFont typeface="Libre Franklin"/>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1"/>
          <p:cNvSpPr txBox="1"/>
          <p:nvPr>
            <p:ph idx="1" type="body"/>
          </p:nvPr>
        </p:nvSpPr>
        <p:spPr>
          <a:xfrm>
            <a:off x="914400" y="5445825"/>
            <a:ext cx="7315200" cy="685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80"/>
              </a:spcBef>
              <a:spcAft>
                <a:spcPts val="0"/>
              </a:spcAft>
              <a:buSzPts val="1360"/>
              <a:buFont typeface="Libre Baskerville"/>
              <a:buNone/>
              <a:defRPr sz="1600"/>
            </a:lvl1pPr>
            <a:lvl2pPr indent="-293369" lvl="1" marL="914400" algn="l">
              <a:lnSpc>
                <a:spcPct val="100000"/>
              </a:lnSpc>
              <a:spcBef>
                <a:spcPts val="370"/>
              </a:spcBef>
              <a:spcAft>
                <a:spcPts val="0"/>
              </a:spcAft>
              <a:buSzPts val="1020"/>
              <a:buChar char="⚫"/>
              <a:defRPr sz="1200"/>
            </a:lvl2pPr>
            <a:lvl3pPr indent="-282575" lvl="2" marL="1371600" algn="l">
              <a:lnSpc>
                <a:spcPct val="100000"/>
              </a:lnSpc>
              <a:spcBef>
                <a:spcPts val="370"/>
              </a:spcBef>
              <a:spcAft>
                <a:spcPts val="0"/>
              </a:spcAft>
              <a:buSzPts val="850"/>
              <a:buChar char="⚫"/>
              <a:defRPr sz="1000"/>
            </a:lvl3pPr>
            <a:lvl4pPr indent="-274319" lvl="3" marL="1828800" algn="l">
              <a:lnSpc>
                <a:spcPct val="100000"/>
              </a:lnSpc>
              <a:spcBef>
                <a:spcPts val="370"/>
              </a:spcBef>
              <a:spcAft>
                <a:spcPts val="0"/>
              </a:spcAft>
              <a:buSzPts val="720"/>
              <a:buChar char="⚫"/>
              <a:defRPr sz="900"/>
            </a:lvl4pPr>
            <a:lvl5pPr indent="-285750" lvl="4" marL="2286000" algn="l">
              <a:lnSpc>
                <a:spcPct val="100000"/>
              </a:lnSpc>
              <a:spcBef>
                <a:spcPts val="370"/>
              </a:spcBef>
              <a:spcAft>
                <a:spcPts val="0"/>
              </a:spcAft>
              <a:buSzPts val="900"/>
              <a:buFont typeface="Libre Baskerville"/>
              <a:buChar char="o"/>
              <a:defRPr sz="9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89" name="Google Shape;89;p1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1"/>
          <p:cNvSpPr txBox="1"/>
          <p:nvPr>
            <p:ph idx="11" type="ftr"/>
          </p:nvPr>
        </p:nvSpPr>
        <p:spPr>
          <a:xfrm>
            <a:off x="914400" y="6172200"/>
            <a:ext cx="38862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1"/>
          <p:cNvSpPr/>
          <p:nvPr>
            <p:ph idx="12" type="sldNum"/>
          </p:nvPr>
        </p:nvSpPr>
        <p:spPr>
          <a:xfrm>
            <a:off x="146304" y="6208776"/>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92" name="Google Shape;92;p11"/>
          <p:cNvSpPr/>
          <p:nvPr/>
        </p:nvSpPr>
        <p:spPr>
          <a:xfrm flipH="1" rot="10800000">
            <a:off x="68307" y="4683555"/>
            <a:ext cx="9006840"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93" name="Google Shape;93;p11"/>
          <p:cNvSpPr/>
          <p:nvPr/>
        </p:nvSpPr>
        <p:spPr>
          <a:xfrm>
            <a:off x="68508" y="4650474"/>
            <a:ext cx="9006639" cy="45719"/>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94" name="Google Shape;94;p11"/>
          <p:cNvSpPr/>
          <p:nvPr/>
        </p:nvSpPr>
        <p:spPr>
          <a:xfrm>
            <a:off x="68510" y="4773224"/>
            <a:ext cx="9006637" cy="48807"/>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95" name="Google Shape;95;p11"/>
          <p:cNvSpPr/>
          <p:nvPr>
            <p:ph idx="2" type="pic"/>
          </p:nvPr>
        </p:nvSpPr>
        <p:spPr>
          <a:xfrm>
            <a:off x="68308" y="66675"/>
            <a:ext cx="9001873" cy="4581525"/>
          </a:xfrm>
          <a:prstGeom prst="round2SameRect">
            <a:avLst>
              <a:gd fmla="val 7101" name="adj1"/>
              <a:gd fmla="val 0" name="adj2"/>
            </a:avLst>
          </a:prstGeom>
          <a:solidFill>
            <a:schemeClr val="lt2"/>
          </a:solidFill>
          <a:ln cap="flat" cmpd="sng" w="9525">
            <a:solidFill>
              <a:schemeClr val="dk1"/>
            </a:solidFill>
            <a:prstDash val="solid"/>
            <a:round/>
            <a:headEnd len="sm" w="sm" type="none"/>
            <a:tailEnd len="sm" w="sm" type="none"/>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6" name="Shape 96"/>
        <p:cNvGrpSpPr/>
        <p:nvPr/>
      </p:nvGrpSpPr>
      <p:grpSpPr>
        <a:xfrm>
          <a:off x="0" y="0"/>
          <a:ext cx="0" cy="0"/>
          <a:chOff x="0" y="0"/>
          <a:chExt cx="0" cy="0"/>
        </a:xfrm>
      </p:grpSpPr>
      <p:sp>
        <p:nvSpPr>
          <p:cNvPr id="97" name="Google Shape;97;p12"/>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2"/>
          <p:cNvSpPr txBox="1"/>
          <p:nvPr>
            <p:ph idx="1" type="body"/>
          </p:nvPr>
        </p:nvSpPr>
        <p:spPr>
          <a:xfrm rot="5400000">
            <a:off x="2514600" y="-152400"/>
            <a:ext cx="4572000" cy="77724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99" name="Google Shape;99;p1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2" name="Shape 102"/>
        <p:cNvGrpSpPr/>
        <p:nvPr/>
      </p:nvGrpSpPr>
      <p:grpSpPr>
        <a:xfrm>
          <a:off x="0" y="0"/>
          <a:ext cx="0" cy="0"/>
          <a:chOff x="0" y="0"/>
          <a:chExt cx="0" cy="0"/>
        </a:xfrm>
      </p:grpSpPr>
      <p:sp>
        <p:nvSpPr>
          <p:cNvPr id="103" name="Google Shape;103;p13"/>
          <p:cNvSpPr txBox="1"/>
          <p:nvPr>
            <p:ph type="title"/>
          </p:nvPr>
        </p:nvSpPr>
        <p:spPr>
          <a:xfrm rot="5400000">
            <a:off x="4709478" y="2194564"/>
            <a:ext cx="5851525" cy="201168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3"/>
          <p:cNvSpPr txBox="1"/>
          <p:nvPr>
            <p:ph idx="1" type="body"/>
          </p:nvPr>
        </p:nvSpPr>
        <p:spPr>
          <a:xfrm rot="5400000">
            <a:off x="769938" y="419103"/>
            <a:ext cx="5851525" cy="55626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39"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105" name="Google Shape;105;p1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1" name="Google Shape;11;p1"/>
          <p:cNvSpPr/>
          <p:nvPr/>
        </p:nvSpPr>
        <p:spPr>
          <a:xfrm>
            <a:off x="64008" y="69755"/>
            <a:ext cx="9013372" cy="6693408"/>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2" name="Google Shape;12;p1"/>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marR="0" rtl="0" algn="l">
              <a:lnSpc>
                <a:spcPct val="100000"/>
              </a:lnSpc>
              <a:spcBef>
                <a:spcPts val="0"/>
              </a:spcBef>
              <a:spcAft>
                <a:spcPts val="0"/>
              </a:spcAft>
              <a:buClr>
                <a:schemeClr val="dk2"/>
              </a:buClr>
              <a:buSzPts val="4000"/>
              <a:buFont typeface="Libre Franklin"/>
              <a:buNone/>
              <a:defRPr b="0" i="0" sz="4000" u="none" cap="none" strike="noStrike">
                <a:solidFill>
                  <a:schemeClr val="dk2"/>
                </a:solidFill>
                <a:latin typeface="Libre Franklin"/>
                <a:ea typeface="Libre Franklin"/>
                <a:cs typeface="Libre Franklin"/>
                <a:sym typeface="Libre Frankli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1"/>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rmAutofit/>
          </a:bodyPr>
          <a:lstStyle>
            <a:lvl1pPr indent="-368935" lvl="0" marL="457200" marR="0" rtl="0" algn="l">
              <a:lnSpc>
                <a:spcPct val="100000"/>
              </a:lnSpc>
              <a:spcBef>
                <a:spcPts val="580"/>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lnSpc>
                <a:spcPct val="100000"/>
              </a:lnSpc>
              <a:spcBef>
                <a:spcPts val="370"/>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lnSpc>
                <a:spcPct val="100000"/>
              </a:lnSpc>
              <a:spcBef>
                <a:spcPts val="370"/>
              </a:spcBef>
              <a:spcAft>
                <a:spcPts val="0"/>
              </a:spcAft>
              <a:buClr>
                <a:srgbClr val="E6AFA9"/>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lnSpc>
                <a:spcPct val="100000"/>
              </a:lnSpc>
              <a:spcBef>
                <a:spcPts val="370"/>
              </a:spcBef>
              <a:spcAft>
                <a:spcPts val="0"/>
              </a:spcAft>
              <a:buClr>
                <a:schemeClr val="accent3"/>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lnSpc>
                <a:spcPct val="100000"/>
              </a:lnSpc>
              <a:spcBef>
                <a:spcPts val="370"/>
              </a:spcBef>
              <a:spcAft>
                <a:spcPts val="0"/>
              </a:spcAft>
              <a:buClr>
                <a:schemeClr val="accent3"/>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lnSpc>
                <a:spcPct val="100000"/>
              </a:lnSpc>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lnSpc>
                <a:spcPct val="100000"/>
              </a:lnSpc>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lnSpc>
                <a:spcPct val="100000"/>
              </a:lnSpc>
              <a:spcBef>
                <a:spcPts val="370"/>
              </a:spcBef>
              <a:spcAft>
                <a:spcPts val="0"/>
              </a:spcAft>
              <a:buClr>
                <a:srgbClr val="E6AF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lnSpc>
                <a:spcPct val="100000"/>
              </a:lnSpc>
              <a:spcBef>
                <a:spcPts val="370"/>
              </a:spcBef>
              <a:spcAft>
                <a:spcPts val="0"/>
              </a:spcAft>
              <a:buClr>
                <a:srgbClr val="CAAB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14" name="Google Shape;14;p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15" name="Google Shape;15;p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16" name="Google Shape;16;p1"/>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png"/><Relationship Id="rId6"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bmsaqiproject.netlify.app/"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10.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16.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4"/>
          <p:cNvSpPr txBox="1"/>
          <p:nvPr>
            <p:ph type="ctrTitle"/>
          </p:nvPr>
        </p:nvSpPr>
        <p:spPr>
          <a:xfrm>
            <a:off x="457200" y="1742955"/>
            <a:ext cx="8229600" cy="1470000"/>
          </a:xfrm>
          <a:prstGeom prst="rect">
            <a:avLst/>
          </a:prstGeom>
          <a:noFill/>
          <a:ln>
            <a:noFill/>
          </a:ln>
        </p:spPr>
        <p:txBody>
          <a:bodyPr anchorCtr="0" anchor="ctr" bIns="91425" lIns="91425" spcFirstLastPara="1" rIns="91425" wrap="square" tIns="45700">
            <a:normAutofit fontScale="90000"/>
          </a:bodyPr>
          <a:lstStyle/>
          <a:p>
            <a:pPr indent="0" lvl="0" marL="0" rtl="0" algn="ctr">
              <a:lnSpc>
                <a:spcPct val="80000"/>
              </a:lnSpc>
              <a:spcBef>
                <a:spcPts val="0"/>
              </a:spcBef>
              <a:spcAft>
                <a:spcPts val="0"/>
              </a:spcAft>
              <a:buClr>
                <a:schemeClr val="lt1"/>
              </a:buClr>
              <a:buSzPct val="100000"/>
              <a:buFont typeface="Libre Franklin"/>
              <a:buNone/>
            </a:pPr>
            <a:r>
              <a:rPr b="1" lang="en-US">
                <a:solidFill>
                  <a:schemeClr val="lt1"/>
                </a:solidFill>
              </a:rPr>
              <a:t>Air pollution monitoring, forecasting and controlling system</a:t>
            </a:r>
            <a:endParaRPr b="1">
              <a:solidFill>
                <a:schemeClr val="lt1"/>
              </a:solidFill>
            </a:endParaRPr>
          </a:p>
          <a:p>
            <a:pPr indent="0" lvl="0" marL="0" rtl="0" algn="ctr">
              <a:lnSpc>
                <a:spcPct val="100000"/>
              </a:lnSpc>
              <a:spcBef>
                <a:spcPts val="0"/>
              </a:spcBef>
              <a:spcAft>
                <a:spcPts val="0"/>
              </a:spcAft>
              <a:buClr>
                <a:srgbClr val="FFFFFF"/>
              </a:buClr>
              <a:buSzPct val="100000"/>
              <a:buFont typeface="Libre Franklin"/>
              <a:buNone/>
            </a:pPr>
            <a:r>
              <a:t/>
            </a:r>
            <a:endParaRPr/>
          </a:p>
        </p:txBody>
      </p:sp>
      <p:sp>
        <p:nvSpPr>
          <p:cNvPr id="113" name="Google Shape;113;p14"/>
          <p:cNvSpPr txBox="1"/>
          <p:nvPr/>
        </p:nvSpPr>
        <p:spPr>
          <a:xfrm>
            <a:off x="5652120" y="3212976"/>
            <a:ext cx="3024336" cy="194421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1530"/>
              <a:buFont typeface="Noto Sans Symbols"/>
              <a:buNone/>
            </a:pPr>
            <a:r>
              <a:rPr b="1" lang="en-US" sz="1800">
                <a:solidFill>
                  <a:schemeClr val="dk1"/>
                </a:solidFill>
              </a:rPr>
              <a:t>Under the Guidance of</a:t>
            </a:r>
            <a:endParaRPr>
              <a:solidFill>
                <a:schemeClr val="dk1"/>
              </a:solidFill>
            </a:endParaRPr>
          </a:p>
          <a:p>
            <a:pPr indent="0" lvl="0" marL="0" rtl="0" algn="l">
              <a:spcBef>
                <a:spcPts val="580"/>
              </a:spcBef>
              <a:spcAft>
                <a:spcPts val="0"/>
              </a:spcAft>
              <a:buClr>
                <a:schemeClr val="accent1"/>
              </a:buClr>
              <a:buSzPts val="1530"/>
              <a:buFont typeface="Noto Sans Symbols"/>
              <a:buNone/>
            </a:pPr>
            <a:r>
              <a:t/>
            </a:r>
            <a:endParaRPr b="1" sz="1800">
              <a:solidFill>
                <a:schemeClr val="dk1"/>
              </a:solidFill>
            </a:endParaRPr>
          </a:p>
          <a:p>
            <a:pPr indent="0" lvl="0" marL="0" rtl="0" algn="ctr">
              <a:spcBef>
                <a:spcPts val="580"/>
              </a:spcBef>
              <a:spcAft>
                <a:spcPts val="0"/>
              </a:spcAft>
              <a:buClr>
                <a:schemeClr val="accent1"/>
              </a:buClr>
              <a:buSzPts val="1530"/>
              <a:buFont typeface="Noto Sans Symbols"/>
              <a:buNone/>
            </a:pPr>
            <a:r>
              <a:rPr b="1" lang="en-US" sz="1800">
                <a:solidFill>
                  <a:schemeClr val="dk1"/>
                </a:solidFill>
              </a:rPr>
              <a:t>Prof. Pallavi B</a:t>
            </a:r>
            <a:endParaRPr>
              <a:solidFill>
                <a:schemeClr val="dk1"/>
              </a:solidFill>
            </a:endParaRPr>
          </a:p>
          <a:p>
            <a:pPr indent="0" lvl="0" marL="0" rtl="0" algn="ctr">
              <a:spcBef>
                <a:spcPts val="580"/>
              </a:spcBef>
              <a:spcAft>
                <a:spcPts val="0"/>
              </a:spcAft>
              <a:buClr>
                <a:schemeClr val="accent1"/>
              </a:buClr>
              <a:buSzPts val="1530"/>
              <a:buFont typeface="Noto Sans Symbols"/>
              <a:buNone/>
            </a:pPr>
            <a:r>
              <a:rPr lang="en-US" sz="1800">
                <a:solidFill>
                  <a:schemeClr val="dk1"/>
                </a:solidFill>
              </a:rPr>
              <a:t>Assistant Professor</a:t>
            </a:r>
            <a:endParaRPr>
              <a:solidFill>
                <a:schemeClr val="dk1"/>
              </a:solidFill>
            </a:endParaRPr>
          </a:p>
          <a:p>
            <a:pPr indent="0" lvl="0" marL="0" rtl="0" algn="ctr">
              <a:spcBef>
                <a:spcPts val="580"/>
              </a:spcBef>
              <a:spcAft>
                <a:spcPts val="0"/>
              </a:spcAft>
              <a:buClr>
                <a:schemeClr val="accent1"/>
              </a:buClr>
              <a:buSzPts val="1530"/>
              <a:buFont typeface="Noto Sans Symbols"/>
              <a:buNone/>
            </a:pPr>
            <a:r>
              <a:rPr lang="en-US" sz="1800">
                <a:solidFill>
                  <a:schemeClr val="dk1"/>
                </a:solidFill>
              </a:rPr>
              <a:t>Department of ISE</a:t>
            </a:r>
            <a:endParaRPr b="1" sz="1800">
              <a:solidFill>
                <a:schemeClr val="dk1"/>
              </a:solidFill>
            </a:endParaRPr>
          </a:p>
        </p:txBody>
      </p:sp>
      <p:sp>
        <p:nvSpPr>
          <p:cNvPr id="114" name="Google Shape;114;p14"/>
          <p:cNvSpPr txBox="1"/>
          <p:nvPr/>
        </p:nvSpPr>
        <p:spPr>
          <a:xfrm>
            <a:off x="1403648" y="188640"/>
            <a:ext cx="7488900" cy="1224000"/>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ctr">
              <a:lnSpc>
                <a:spcPct val="100000"/>
              </a:lnSpc>
              <a:spcBef>
                <a:spcPts val="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BMS College of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58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Department of Information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58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CAPSTONE PROJECT PHASE -2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58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Review - III</a:t>
            </a:r>
            <a:endParaRPr b="1" i="0" sz="2600" u="none" cap="none" strike="noStrike">
              <a:solidFill>
                <a:schemeClr val="dk2"/>
              </a:solidFill>
              <a:latin typeface="Libre Baskerville"/>
              <a:ea typeface="Libre Baskerville"/>
              <a:cs typeface="Libre Baskerville"/>
              <a:sym typeface="Libre Baskerville"/>
            </a:endParaRPr>
          </a:p>
        </p:txBody>
      </p:sp>
      <p:pic>
        <p:nvPicPr>
          <p:cNvPr descr="Related image" id="115" name="Google Shape;115;p14"/>
          <p:cNvPicPr preferRelativeResize="0"/>
          <p:nvPr/>
        </p:nvPicPr>
        <p:blipFill rotWithShape="1">
          <a:blip r:embed="rId3">
            <a:alphaModFix/>
          </a:blip>
          <a:srcRect b="0" l="0" r="0" t="0"/>
          <a:stretch/>
        </p:blipFill>
        <p:spPr>
          <a:xfrm>
            <a:off x="456134" y="195450"/>
            <a:ext cx="1019522" cy="992334"/>
          </a:xfrm>
          <a:prstGeom prst="rect">
            <a:avLst/>
          </a:prstGeom>
          <a:noFill/>
          <a:ln>
            <a:noFill/>
          </a:ln>
        </p:spPr>
      </p:pic>
      <p:sp>
        <p:nvSpPr>
          <p:cNvPr id="116" name="Google Shape;116;p14"/>
          <p:cNvSpPr/>
          <p:nvPr/>
        </p:nvSpPr>
        <p:spPr>
          <a:xfrm>
            <a:off x="179500" y="3074525"/>
            <a:ext cx="4325100" cy="2442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Arial"/>
              <a:buNone/>
            </a:pPr>
            <a:r>
              <a:rPr b="1" lang="en-US" sz="1800" u="sng">
                <a:solidFill>
                  <a:schemeClr val="dk1"/>
                </a:solidFill>
              </a:rPr>
              <a:t>Batch No:-</a:t>
            </a:r>
            <a:r>
              <a:rPr lang="en-US" sz="1800">
                <a:solidFill>
                  <a:schemeClr val="dk1"/>
                </a:solidFill>
              </a:rPr>
              <a:t> 25</a:t>
            </a:r>
            <a:endParaRPr sz="1800">
              <a:solidFill>
                <a:schemeClr val="dk1"/>
              </a:solidFill>
              <a:latin typeface="Libre Baskerville"/>
              <a:ea typeface="Libre Baskerville"/>
              <a:cs typeface="Libre Baskerville"/>
              <a:sym typeface="Libre Baskerville"/>
            </a:endParaRPr>
          </a:p>
          <a:p>
            <a:pPr indent="0" lvl="0" marL="0" rtl="0" algn="l">
              <a:spcBef>
                <a:spcPts val="0"/>
              </a:spcBef>
              <a:spcAft>
                <a:spcPts val="0"/>
              </a:spcAft>
              <a:buClr>
                <a:schemeClr val="dk1"/>
              </a:buClr>
              <a:buSzPts val="1800"/>
              <a:buFont typeface="Arial"/>
              <a:buNone/>
            </a:pPr>
            <a:r>
              <a:rPr b="1" lang="en-US" sz="1800" u="sng">
                <a:solidFill>
                  <a:schemeClr val="dk1"/>
                </a:solidFill>
              </a:rPr>
              <a:t>Project Team  Members: </a:t>
            </a:r>
            <a:endParaRPr sz="1800">
              <a:solidFill>
                <a:schemeClr val="dk1"/>
              </a:solidFill>
              <a:latin typeface="Libre Baskerville"/>
              <a:ea typeface="Libre Baskerville"/>
              <a:cs typeface="Libre Baskerville"/>
              <a:sym typeface="Libre Baskerville"/>
            </a:endParaRPr>
          </a:p>
          <a:p>
            <a:pPr indent="0" lvl="0" marL="0" rtl="0" algn="l">
              <a:lnSpc>
                <a:spcPct val="150000"/>
              </a:lnSpc>
              <a:spcBef>
                <a:spcPts val="0"/>
              </a:spcBef>
              <a:spcAft>
                <a:spcPts val="0"/>
              </a:spcAft>
              <a:buClr>
                <a:schemeClr val="dk1"/>
              </a:buClr>
              <a:buSzPts val="1800"/>
              <a:buFont typeface="Libre Baskerville"/>
              <a:buNone/>
            </a:pPr>
            <a:r>
              <a:t/>
            </a:r>
            <a:endParaRPr sz="1800">
              <a:solidFill>
                <a:schemeClr val="dk1"/>
              </a:solidFill>
            </a:endParaRPr>
          </a:p>
          <a:p>
            <a:pPr indent="0" lvl="0" marL="0" rtl="0" algn="l">
              <a:lnSpc>
                <a:spcPct val="150000"/>
              </a:lnSpc>
              <a:spcBef>
                <a:spcPts val="0"/>
              </a:spcBef>
              <a:spcAft>
                <a:spcPts val="0"/>
              </a:spcAft>
              <a:buClr>
                <a:srgbClr val="3F3F3F"/>
              </a:buClr>
              <a:buSzPts val="1800"/>
              <a:buFont typeface="Calibri"/>
              <a:buNone/>
            </a:pPr>
            <a:r>
              <a:rPr b="1" lang="en-US" sz="2000">
                <a:solidFill>
                  <a:schemeClr val="dk1"/>
                </a:solidFill>
                <a:latin typeface="Calibri"/>
                <a:ea typeface="Calibri"/>
                <a:cs typeface="Calibri"/>
                <a:sym typeface="Calibri"/>
              </a:rPr>
              <a:t>Prateek M Gummaraju (1BM19IS117)</a:t>
            </a:r>
            <a:endParaRPr sz="1600">
              <a:solidFill>
                <a:schemeClr val="dk1"/>
              </a:solidFill>
            </a:endParaRPr>
          </a:p>
          <a:p>
            <a:pPr indent="0" lvl="0" marL="0" rtl="0" algn="l">
              <a:lnSpc>
                <a:spcPct val="150000"/>
              </a:lnSpc>
              <a:spcBef>
                <a:spcPts val="0"/>
              </a:spcBef>
              <a:spcAft>
                <a:spcPts val="0"/>
              </a:spcAft>
              <a:buClr>
                <a:srgbClr val="3F3F3F"/>
              </a:buClr>
              <a:buSzPts val="1800"/>
              <a:buFont typeface="Calibri"/>
              <a:buNone/>
            </a:pPr>
            <a:r>
              <a:rPr b="1" lang="en-US" sz="2000">
                <a:solidFill>
                  <a:schemeClr val="dk1"/>
                </a:solidFill>
                <a:latin typeface="Calibri"/>
                <a:ea typeface="Calibri"/>
                <a:cs typeface="Calibri"/>
                <a:sym typeface="Calibri"/>
              </a:rPr>
              <a:t>Ruchi Agarwal (1BM19IS133)</a:t>
            </a:r>
            <a:endParaRPr sz="1600">
              <a:solidFill>
                <a:schemeClr val="dk1"/>
              </a:solidFill>
            </a:endParaRPr>
          </a:p>
          <a:p>
            <a:pPr indent="0" lvl="0" marL="0" rtl="0" algn="l">
              <a:lnSpc>
                <a:spcPct val="150000"/>
              </a:lnSpc>
              <a:spcBef>
                <a:spcPts val="0"/>
              </a:spcBef>
              <a:spcAft>
                <a:spcPts val="0"/>
              </a:spcAft>
              <a:buClr>
                <a:schemeClr val="dk1"/>
              </a:buClr>
              <a:buFont typeface="Arial"/>
              <a:buNone/>
            </a:pPr>
            <a:r>
              <a:rPr b="1" lang="en-US" sz="2000">
                <a:solidFill>
                  <a:schemeClr val="dk1"/>
                </a:solidFill>
                <a:latin typeface="Calibri"/>
                <a:ea typeface="Calibri"/>
                <a:cs typeface="Calibri"/>
                <a:sym typeface="Calibri"/>
              </a:rPr>
              <a:t>Samartha S (1BM19IS219)</a:t>
            </a:r>
            <a:endParaRPr b="1" sz="1800" u="sng"/>
          </a:p>
          <a:p>
            <a:pPr indent="0" lvl="0" marL="0" marR="0" rtl="0" algn="l">
              <a:lnSpc>
                <a:spcPct val="100000"/>
              </a:lnSpc>
              <a:spcBef>
                <a:spcPts val="0"/>
              </a:spcBef>
              <a:spcAft>
                <a:spcPts val="0"/>
              </a:spcAft>
              <a:buClr>
                <a:schemeClr val="dk1"/>
              </a:buClr>
              <a:buSzPts val="1800"/>
              <a:buFont typeface="Libre Baskerville"/>
              <a:buNone/>
            </a:pPr>
            <a:r>
              <a:t/>
            </a:r>
            <a:endParaRPr b="0" i="0" sz="1800" u="none" cap="none" strike="noStrike">
              <a:solidFill>
                <a:srgbClr val="404040"/>
              </a:solidFill>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5"/>
          <p:cNvSpPr txBox="1"/>
          <p:nvPr>
            <p:ph type="title"/>
          </p:nvPr>
        </p:nvSpPr>
        <p:spPr>
          <a:xfrm>
            <a:off x="611560" y="116632"/>
            <a:ext cx="7772400" cy="720080"/>
          </a:xfrm>
          <a:prstGeom prst="rect">
            <a:avLst/>
          </a:prstGeom>
          <a:noFill/>
          <a:ln>
            <a:noFill/>
          </a:ln>
        </p:spPr>
        <p:txBody>
          <a:bodyPr anchorCtr="0" anchor="b" bIns="91425" lIns="91425" spcFirstLastPara="1" rIns="91425" wrap="square" tIns="45700">
            <a:normAutofit fontScale="90000"/>
          </a:bodyPr>
          <a:lstStyle/>
          <a:p>
            <a:pPr indent="0" lvl="0" marL="0" rtl="0" algn="ctr">
              <a:lnSpc>
                <a:spcPct val="100000"/>
              </a:lnSpc>
              <a:spcBef>
                <a:spcPts val="0"/>
              </a:spcBef>
              <a:spcAft>
                <a:spcPts val="0"/>
              </a:spcAft>
              <a:buClr>
                <a:schemeClr val="dk2"/>
              </a:buClr>
              <a:buSzPct val="100000"/>
              <a:buFont typeface="Libre Franklin"/>
              <a:buNone/>
            </a:pPr>
            <a:r>
              <a:rPr lang="en-US"/>
              <a:t>Agenda</a:t>
            </a:r>
            <a:endParaRPr/>
          </a:p>
        </p:txBody>
      </p:sp>
      <p:sp>
        <p:nvSpPr>
          <p:cNvPr id="122" name="Google Shape;122;p15"/>
          <p:cNvSpPr txBox="1"/>
          <p:nvPr>
            <p:ph idx="1" type="body"/>
          </p:nvPr>
        </p:nvSpPr>
        <p:spPr>
          <a:xfrm>
            <a:off x="251520" y="980728"/>
            <a:ext cx="3672408" cy="5039072"/>
          </a:xfrm>
          <a:prstGeom prst="rect">
            <a:avLst/>
          </a:prstGeom>
          <a:noFill/>
          <a:ln>
            <a:noFill/>
          </a:ln>
        </p:spPr>
        <p:txBody>
          <a:bodyPr anchorCtr="0" anchor="t" bIns="45700" lIns="91425" spcFirstLastPara="1" rIns="91425" wrap="square" tIns="45700">
            <a:normAutofit fontScale="40000" lnSpcReduction="20000"/>
          </a:bodyPr>
          <a:lstStyle/>
          <a:p>
            <a:pPr indent="-218186" lvl="0" marL="274320" rtl="0" algn="l">
              <a:lnSpc>
                <a:spcPct val="100000"/>
              </a:lnSpc>
              <a:spcBef>
                <a:spcPts val="0"/>
              </a:spcBef>
              <a:spcAft>
                <a:spcPts val="0"/>
              </a:spcAft>
              <a:buSzPct val="85000"/>
              <a:buNone/>
            </a:pPr>
            <a:r>
              <a:t/>
            </a:r>
            <a:endParaRPr/>
          </a:p>
          <a:p>
            <a:pPr indent="-457189" lvl="0" marL="457189" rtl="0" algn="l">
              <a:lnSpc>
                <a:spcPct val="150000"/>
              </a:lnSpc>
              <a:spcBef>
                <a:spcPts val="580"/>
              </a:spcBef>
              <a:spcAft>
                <a:spcPts val="0"/>
              </a:spcAft>
              <a:buSzPct val="85000"/>
              <a:buFont typeface="Noto Sans Symbols"/>
              <a:buChar char="⮚"/>
            </a:pPr>
            <a:r>
              <a:rPr lang="en-US" sz="4000">
                <a:latin typeface="Times New Roman"/>
                <a:ea typeface="Times New Roman"/>
                <a:cs typeface="Times New Roman"/>
                <a:sym typeface="Times New Roman"/>
              </a:rPr>
              <a:t>Introduction</a:t>
            </a:r>
            <a:endParaRPr/>
          </a:p>
          <a:p>
            <a:pPr indent="-457189" lvl="0" marL="457189" rtl="0" algn="l">
              <a:lnSpc>
                <a:spcPct val="150000"/>
              </a:lnSpc>
              <a:spcBef>
                <a:spcPts val="580"/>
              </a:spcBef>
              <a:spcAft>
                <a:spcPts val="0"/>
              </a:spcAft>
              <a:buSzPct val="85000"/>
              <a:buFont typeface="Noto Sans Symbols"/>
              <a:buChar char="⮚"/>
            </a:pPr>
            <a:r>
              <a:rPr lang="en-US" sz="4000">
                <a:latin typeface="Times New Roman"/>
                <a:ea typeface="Times New Roman"/>
                <a:cs typeface="Times New Roman"/>
                <a:sym typeface="Times New Roman"/>
              </a:rPr>
              <a:t>Motivation</a:t>
            </a:r>
            <a:endParaRPr/>
          </a:p>
          <a:p>
            <a:pPr indent="-457189" lvl="0" marL="457189" rtl="0" algn="l">
              <a:lnSpc>
                <a:spcPct val="150000"/>
              </a:lnSpc>
              <a:spcBef>
                <a:spcPts val="580"/>
              </a:spcBef>
              <a:spcAft>
                <a:spcPts val="0"/>
              </a:spcAft>
              <a:buSzPct val="85000"/>
              <a:buFont typeface="Noto Sans Symbols"/>
              <a:buChar char="⮚"/>
            </a:pPr>
            <a:r>
              <a:rPr lang="en-US" sz="4000">
                <a:latin typeface="Times New Roman"/>
                <a:ea typeface="Times New Roman"/>
                <a:cs typeface="Times New Roman"/>
                <a:sym typeface="Times New Roman"/>
              </a:rPr>
              <a:t>Objective</a:t>
            </a:r>
            <a:endParaRPr sz="4000">
              <a:latin typeface="Times New Roman"/>
              <a:ea typeface="Times New Roman"/>
              <a:cs typeface="Times New Roman"/>
              <a:sym typeface="Times New Roman"/>
            </a:endParaRPr>
          </a:p>
          <a:p>
            <a:pPr indent="-457189" lvl="0" marL="457189" rtl="0" algn="l">
              <a:lnSpc>
                <a:spcPct val="150000"/>
              </a:lnSpc>
              <a:spcBef>
                <a:spcPts val="580"/>
              </a:spcBef>
              <a:spcAft>
                <a:spcPts val="0"/>
              </a:spcAft>
              <a:buSzPct val="85000"/>
              <a:buFont typeface="Noto Sans Symbols"/>
              <a:buChar char="⮚"/>
            </a:pPr>
            <a:r>
              <a:rPr lang="en-US" sz="4000">
                <a:latin typeface="Times New Roman"/>
                <a:ea typeface="Times New Roman"/>
                <a:cs typeface="Times New Roman"/>
                <a:sym typeface="Times New Roman"/>
              </a:rPr>
              <a:t>Literature Survey</a:t>
            </a:r>
            <a:endParaRPr/>
          </a:p>
          <a:p>
            <a:pPr indent="-457189" lvl="0" marL="457189" rtl="0" algn="l">
              <a:lnSpc>
                <a:spcPct val="150000"/>
              </a:lnSpc>
              <a:spcBef>
                <a:spcPts val="580"/>
              </a:spcBef>
              <a:spcAft>
                <a:spcPts val="0"/>
              </a:spcAft>
              <a:buSzPct val="85000"/>
              <a:buFont typeface="Noto Sans Symbols"/>
              <a:buChar char="⮚"/>
            </a:pPr>
            <a:r>
              <a:rPr lang="en-US" sz="4000">
                <a:latin typeface="Times New Roman"/>
                <a:ea typeface="Times New Roman"/>
                <a:cs typeface="Times New Roman"/>
                <a:sym typeface="Times New Roman"/>
              </a:rPr>
              <a:t>Existing System</a:t>
            </a:r>
            <a:endParaRPr sz="4000">
              <a:latin typeface="Times New Roman"/>
              <a:ea typeface="Times New Roman"/>
              <a:cs typeface="Times New Roman"/>
              <a:sym typeface="Times New Roman"/>
            </a:endParaRPr>
          </a:p>
          <a:p>
            <a:pPr indent="-457189" lvl="0" marL="457189" rtl="0" algn="l">
              <a:lnSpc>
                <a:spcPct val="150000"/>
              </a:lnSpc>
              <a:spcBef>
                <a:spcPts val="580"/>
              </a:spcBef>
              <a:spcAft>
                <a:spcPts val="0"/>
              </a:spcAft>
              <a:buSzPct val="85000"/>
              <a:buFont typeface="Noto Sans Symbols"/>
              <a:buChar char="⮚"/>
            </a:pPr>
            <a:r>
              <a:rPr lang="en-US" sz="4000">
                <a:latin typeface="Times New Roman"/>
                <a:ea typeface="Times New Roman"/>
                <a:cs typeface="Times New Roman"/>
                <a:sym typeface="Times New Roman"/>
              </a:rPr>
              <a:t>Proposed System</a:t>
            </a:r>
            <a:endParaRPr/>
          </a:p>
          <a:p>
            <a:pPr indent="-457189" lvl="0" marL="457189" rtl="0" algn="l">
              <a:lnSpc>
                <a:spcPct val="150000"/>
              </a:lnSpc>
              <a:spcBef>
                <a:spcPts val="580"/>
              </a:spcBef>
              <a:spcAft>
                <a:spcPts val="0"/>
              </a:spcAft>
              <a:buSzPct val="85000"/>
              <a:buFont typeface="Noto Sans Symbols"/>
              <a:buChar char="⮚"/>
            </a:pPr>
            <a:r>
              <a:rPr lang="en-US" sz="4000">
                <a:latin typeface="Times New Roman"/>
                <a:ea typeface="Times New Roman"/>
                <a:cs typeface="Times New Roman"/>
                <a:sym typeface="Times New Roman"/>
              </a:rPr>
              <a:t>Problem Statement</a:t>
            </a:r>
            <a:endParaRPr/>
          </a:p>
          <a:p>
            <a:pPr indent="-457189" lvl="0" marL="457189" rtl="0" algn="l">
              <a:lnSpc>
                <a:spcPct val="150000"/>
              </a:lnSpc>
              <a:spcBef>
                <a:spcPts val="580"/>
              </a:spcBef>
              <a:spcAft>
                <a:spcPts val="0"/>
              </a:spcAft>
              <a:buSzPct val="85000"/>
              <a:buFont typeface="Noto Sans Symbols"/>
              <a:buChar char="⮚"/>
            </a:pPr>
            <a:r>
              <a:rPr lang="en-US" sz="4000">
                <a:latin typeface="Times New Roman"/>
                <a:ea typeface="Times New Roman"/>
                <a:cs typeface="Times New Roman"/>
                <a:sym typeface="Times New Roman"/>
              </a:rPr>
              <a:t>SRS</a:t>
            </a:r>
            <a:endParaRPr sz="4000">
              <a:latin typeface="Times New Roman"/>
              <a:ea typeface="Times New Roman"/>
              <a:cs typeface="Times New Roman"/>
              <a:sym typeface="Times New Roman"/>
            </a:endParaRPr>
          </a:p>
          <a:p>
            <a:pPr indent="-457189" lvl="0" marL="457189" rtl="0" algn="l">
              <a:lnSpc>
                <a:spcPct val="150000"/>
              </a:lnSpc>
              <a:spcBef>
                <a:spcPts val="580"/>
              </a:spcBef>
              <a:spcAft>
                <a:spcPts val="0"/>
              </a:spcAft>
              <a:buSzPct val="85000"/>
              <a:buFont typeface="Noto Sans Symbols"/>
              <a:buChar char="⮚"/>
            </a:pPr>
            <a:r>
              <a:rPr lang="en-US" sz="4000">
                <a:latin typeface="Times New Roman"/>
                <a:ea typeface="Times New Roman"/>
                <a:cs typeface="Times New Roman"/>
                <a:sym typeface="Times New Roman"/>
              </a:rPr>
              <a:t>System Design and Detailed design(DFD, Class diagram etc..)</a:t>
            </a:r>
            <a:endParaRPr sz="4000">
              <a:latin typeface="Times New Roman"/>
              <a:ea typeface="Times New Roman"/>
              <a:cs typeface="Times New Roman"/>
              <a:sym typeface="Times New Roman"/>
            </a:endParaRPr>
          </a:p>
          <a:p>
            <a:pPr indent="-457189" lvl="0" marL="457189" rtl="0" algn="l">
              <a:lnSpc>
                <a:spcPct val="150000"/>
              </a:lnSpc>
              <a:spcBef>
                <a:spcPts val="580"/>
              </a:spcBef>
              <a:spcAft>
                <a:spcPts val="0"/>
              </a:spcAft>
              <a:buSzPct val="85000"/>
              <a:buFont typeface="Noto Sans Symbols"/>
              <a:buChar char="⮚"/>
            </a:pPr>
            <a:r>
              <a:rPr lang="en-US" sz="4000">
                <a:latin typeface="Times New Roman"/>
                <a:ea typeface="Times New Roman"/>
                <a:cs typeface="Times New Roman"/>
                <a:sym typeface="Times New Roman"/>
              </a:rPr>
              <a:t>Methodology</a:t>
            </a:r>
            <a:endParaRPr/>
          </a:p>
          <a:p>
            <a:pPr indent="-457189" lvl="0" marL="457189" rtl="0" algn="l">
              <a:lnSpc>
                <a:spcPct val="150000"/>
              </a:lnSpc>
              <a:spcBef>
                <a:spcPts val="580"/>
              </a:spcBef>
              <a:spcAft>
                <a:spcPts val="0"/>
              </a:spcAft>
              <a:buSzPct val="85000"/>
              <a:buFont typeface="Noto Sans Symbols"/>
              <a:buChar char="⮚"/>
            </a:pPr>
            <a:r>
              <a:rPr lang="en-US" sz="4000">
                <a:latin typeface="Times New Roman"/>
                <a:ea typeface="Times New Roman"/>
                <a:cs typeface="Times New Roman"/>
                <a:sym typeface="Times New Roman"/>
              </a:rPr>
              <a:t>Technology Stack</a:t>
            </a:r>
            <a:endParaRPr sz="4000">
              <a:latin typeface="Times New Roman"/>
              <a:ea typeface="Times New Roman"/>
              <a:cs typeface="Times New Roman"/>
              <a:sym typeface="Times New Roman"/>
            </a:endParaRPr>
          </a:p>
        </p:txBody>
      </p:sp>
      <p:sp>
        <p:nvSpPr>
          <p:cNvPr id="123" name="Google Shape;123;p15"/>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
        <p:nvSpPr>
          <p:cNvPr id="124" name="Google Shape;124;p15"/>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Department of ISE, BMSCE</a:t>
            </a:r>
            <a:endParaRPr/>
          </a:p>
        </p:txBody>
      </p:sp>
      <p:sp>
        <p:nvSpPr>
          <p:cNvPr id="125" name="Google Shape;125;p15"/>
          <p:cNvSpPr txBox="1"/>
          <p:nvPr/>
        </p:nvSpPr>
        <p:spPr>
          <a:xfrm>
            <a:off x="4572008" y="1214553"/>
            <a:ext cx="3672300" cy="5039100"/>
          </a:xfrm>
          <a:prstGeom prst="rect">
            <a:avLst/>
          </a:prstGeom>
          <a:noFill/>
          <a:ln>
            <a:noFill/>
          </a:ln>
        </p:spPr>
        <p:txBody>
          <a:bodyPr anchorCtr="0" anchor="t" bIns="45700" lIns="91425" spcFirstLastPara="1" rIns="91425" wrap="square" tIns="45700">
            <a:normAutofit/>
          </a:bodyPr>
          <a:lstStyle/>
          <a:p>
            <a:pPr indent="-457189" lvl="0" marL="457189" marR="0" rtl="0" algn="l">
              <a:lnSpc>
                <a:spcPct val="150000"/>
              </a:lnSpc>
              <a:spcBef>
                <a:spcPts val="580"/>
              </a:spcBef>
              <a:spcAft>
                <a:spcPts val="0"/>
              </a:spcAft>
              <a:buClr>
                <a:schemeClr val="accent1"/>
              </a:buClr>
              <a:buSzPts val="1615"/>
              <a:buFont typeface="Noto Sans Symbols"/>
              <a:buChar char="⮚"/>
            </a:pPr>
            <a:r>
              <a:rPr b="0" i="0" lang="en-US" sz="1900" u="none" cap="none" strike="noStrike">
                <a:solidFill>
                  <a:schemeClr val="dk1"/>
                </a:solidFill>
                <a:latin typeface="Times New Roman"/>
                <a:ea typeface="Times New Roman"/>
                <a:cs typeface="Times New Roman"/>
                <a:sym typeface="Times New Roman"/>
              </a:rPr>
              <a:t>Implementation</a:t>
            </a:r>
            <a:endParaRPr b="0" i="0" sz="1400" u="none" cap="none" strike="noStrike">
              <a:solidFill>
                <a:srgbClr val="000000"/>
              </a:solidFill>
              <a:latin typeface="Arial"/>
              <a:ea typeface="Arial"/>
              <a:cs typeface="Arial"/>
              <a:sym typeface="Arial"/>
            </a:endParaRPr>
          </a:p>
          <a:p>
            <a:pPr indent="-457189" lvl="0" marL="457189" marR="0" rtl="0" algn="l">
              <a:lnSpc>
                <a:spcPct val="150000"/>
              </a:lnSpc>
              <a:spcBef>
                <a:spcPts val="580"/>
              </a:spcBef>
              <a:spcAft>
                <a:spcPts val="0"/>
              </a:spcAft>
              <a:buClr>
                <a:schemeClr val="accent1"/>
              </a:buClr>
              <a:buSzPts val="1615"/>
              <a:buFont typeface="Noto Sans Symbols"/>
              <a:buChar char="⮚"/>
            </a:pPr>
            <a:r>
              <a:rPr b="0" i="0" lang="en-US" sz="1900" u="none" cap="none" strike="noStrike">
                <a:solidFill>
                  <a:schemeClr val="dk1"/>
                </a:solidFill>
                <a:latin typeface="Times New Roman"/>
                <a:ea typeface="Times New Roman"/>
                <a:cs typeface="Times New Roman"/>
                <a:sym typeface="Times New Roman"/>
              </a:rPr>
              <a:t>Testing</a:t>
            </a:r>
            <a:endParaRPr b="0" i="0" sz="1400" u="none" cap="none" strike="noStrike">
              <a:solidFill>
                <a:srgbClr val="000000"/>
              </a:solidFill>
              <a:latin typeface="Arial"/>
              <a:ea typeface="Arial"/>
              <a:cs typeface="Arial"/>
              <a:sym typeface="Arial"/>
            </a:endParaRPr>
          </a:p>
          <a:p>
            <a:pPr indent="-457189" lvl="0" marL="457189" marR="0" rtl="0" algn="l">
              <a:lnSpc>
                <a:spcPct val="150000"/>
              </a:lnSpc>
              <a:spcBef>
                <a:spcPts val="580"/>
              </a:spcBef>
              <a:spcAft>
                <a:spcPts val="0"/>
              </a:spcAft>
              <a:buClr>
                <a:schemeClr val="accent1"/>
              </a:buClr>
              <a:buSzPts val="1615"/>
              <a:buFont typeface="Noto Sans Symbols"/>
              <a:buChar char="⮚"/>
            </a:pPr>
            <a:r>
              <a:rPr b="0" i="0" lang="en-US" sz="1900" u="none" cap="none" strike="noStrike">
                <a:solidFill>
                  <a:schemeClr val="dk1"/>
                </a:solidFill>
                <a:latin typeface="Times New Roman"/>
                <a:ea typeface="Times New Roman"/>
                <a:cs typeface="Times New Roman"/>
                <a:sym typeface="Times New Roman"/>
              </a:rPr>
              <a:t>Results </a:t>
            </a:r>
            <a:endParaRPr b="0" i="0" sz="1400" u="none" cap="none" strike="noStrike">
              <a:solidFill>
                <a:srgbClr val="000000"/>
              </a:solidFill>
              <a:latin typeface="Arial"/>
              <a:ea typeface="Arial"/>
              <a:cs typeface="Arial"/>
              <a:sym typeface="Arial"/>
            </a:endParaRPr>
          </a:p>
          <a:p>
            <a:pPr indent="-457189" lvl="0" marL="457189" marR="0" rtl="0" algn="l">
              <a:lnSpc>
                <a:spcPct val="150000"/>
              </a:lnSpc>
              <a:spcBef>
                <a:spcPts val="580"/>
              </a:spcBef>
              <a:spcAft>
                <a:spcPts val="0"/>
              </a:spcAft>
              <a:buClr>
                <a:schemeClr val="accent1"/>
              </a:buClr>
              <a:buSzPts val="1615"/>
              <a:buFont typeface="Noto Sans Symbols"/>
              <a:buChar char="⮚"/>
            </a:pPr>
            <a:r>
              <a:rPr b="0" i="0" lang="en-US" sz="1900" u="none" cap="none" strike="noStrike">
                <a:solidFill>
                  <a:schemeClr val="dk1"/>
                </a:solidFill>
                <a:latin typeface="Times New Roman"/>
                <a:ea typeface="Times New Roman"/>
                <a:cs typeface="Times New Roman"/>
                <a:sym typeface="Times New Roman"/>
              </a:rPr>
              <a:t>Conclusion</a:t>
            </a:r>
            <a:endParaRPr b="0" i="0" sz="1400" u="none" cap="none" strike="noStrike">
              <a:solidFill>
                <a:srgbClr val="000000"/>
              </a:solidFill>
              <a:latin typeface="Arial"/>
              <a:ea typeface="Arial"/>
              <a:cs typeface="Arial"/>
              <a:sym typeface="Arial"/>
            </a:endParaRPr>
          </a:p>
          <a:p>
            <a:pPr indent="-457189" lvl="0" marL="457189" marR="0" rtl="0" algn="l">
              <a:lnSpc>
                <a:spcPct val="150000"/>
              </a:lnSpc>
              <a:spcBef>
                <a:spcPts val="580"/>
              </a:spcBef>
              <a:spcAft>
                <a:spcPts val="0"/>
              </a:spcAft>
              <a:buClr>
                <a:schemeClr val="accent1"/>
              </a:buClr>
              <a:buSzPts val="1615"/>
              <a:buFont typeface="Noto Sans Symbols"/>
              <a:buChar char="⮚"/>
            </a:pPr>
            <a:r>
              <a:rPr b="0" i="0" lang="en-US" sz="1900" u="none" cap="none" strike="noStrike">
                <a:solidFill>
                  <a:schemeClr val="dk1"/>
                </a:solidFill>
                <a:latin typeface="Times New Roman"/>
                <a:ea typeface="Times New Roman"/>
                <a:cs typeface="Times New Roman"/>
                <a:sym typeface="Times New Roman"/>
              </a:rPr>
              <a:t>Future Enhancement</a:t>
            </a:r>
            <a:endParaRPr b="0" i="0" sz="1400" u="none" cap="none" strike="noStrike">
              <a:solidFill>
                <a:srgbClr val="000000"/>
              </a:solidFill>
              <a:latin typeface="Arial"/>
              <a:ea typeface="Arial"/>
              <a:cs typeface="Arial"/>
              <a:sym typeface="Arial"/>
            </a:endParaRPr>
          </a:p>
          <a:p>
            <a:pPr indent="-457189" lvl="0" marL="457189" marR="0" rtl="0" algn="l">
              <a:lnSpc>
                <a:spcPct val="150000"/>
              </a:lnSpc>
              <a:spcBef>
                <a:spcPts val="580"/>
              </a:spcBef>
              <a:spcAft>
                <a:spcPts val="0"/>
              </a:spcAft>
              <a:buClr>
                <a:schemeClr val="accent1"/>
              </a:buClr>
              <a:buSzPts val="1615"/>
              <a:buFont typeface="Noto Sans Symbols"/>
              <a:buChar char="⮚"/>
            </a:pPr>
            <a:r>
              <a:rPr b="0" i="0" lang="en-US" sz="1900" u="none" cap="none" strike="noStrike">
                <a:solidFill>
                  <a:schemeClr val="dk1"/>
                </a:solidFill>
                <a:latin typeface="Times New Roman"/>
                <a:ea typeface="Times New Roman"/>
                <a:cs typeface="Times New Roman"/>
                <a:sym typeface="Times New Roman"/>
              </a:rPr>
              <a:t>Project Outcome</a:t>
            </a:r>
            <a:endParaRPr b="0" i="0" sz="1900" u="none" cap="none" strike="noStrike">
              <a:solidFill>
                <a:schemeClr val="dk1"/>
              </a:solidFill>
              <a:latin typeface="Times New Roman"/>
              <a:ea typeface="Times New Roman"/>
              <a:cs typeface="Times New Roman"/>
              <a:sym typeface="Times New Roman"/>
            </a:endParaRPr>
          </a:p>
          <a:p>
            <a:pPr indent="-457189" lvl="0" marL="457189" marR="0" rtl="0" algn="l">
              <a:lnSpc>
                <a:spcPct val="150000"/>
              </a:lnSpc>
              <a:spcBef>
                <a:spcPts val="580"/>
              </a:spcBef>
              <a:spcAft>
                <a:spcPts val="0"/>
              </a:spcAft>
              <a:buClr>
                <a:schemeClr val="accent1"/>
              </a:buClr>
              <a:buSzPts val="1615"/>
              <a:buFont typeface="Noto Sans Symbols"/>
              <a:buChar char="⮚"/>
            </a:pPr>
            <a:r>
              <a:rPr b="0" i="0" lang="en-US" sz="1900" u="none" cap="none" strike="noStrike">
                <a:solidFill>
                  <a:schemeClr val="dk1"/>
                </a:solidFill>
                <a:latin typeface="Times New Roman"/>
                <a:ea typeface="Times New Roman"/>
                <a:cs typeface="Times New Roman"/>
                <a:sym typeface="Times New Roman"/>
              </a:rPr>
              <a:t>References</a:t>
            </a:r>
            <a:endParaRPr b="0" i="0" sz="19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6"/>
          <p:cNvSpPr txBox="1"/>
          <p:nvPr>
            <p:ph idx="1" type="body"/>
          </p:nvPr>
        </p:nvSpPr>
        <p:spPr>
          <a:xfrm>
            <a:off x="1096964" y="404664"/>
            <a:ext cx="6908947" cy="609157"/>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Introduction</a:t>
            </a:r>
            <a:endParaRPr sz="3600">
              <a:solidFill>
                <a:schemeClr val="dk2"/>
              </a:solidFill>
              <a:latin typeface="Libre Franklin"/>
              <a:ea typeface="Libre Franklin"/>
              <a:cs typeface="Libre Franklin"/>
              <a:sym typeface="Libre Franklin"/>
            </a:endParaRPr>
          </a:p>
        </p:txBody>
      </p:sp>
      <p:sp>
        <p:nvSpPr>
          <p:cNvPr id="131" name="Google Shape;131;p16"/>
          <p:cNvSpPr txBox="1"/>
          <p:nvPr/>
        </p:nvSpPr>
        <p:spPr>
          <a:xfrm>
            <a:off x="813026" y="1165664"/>
            <a:ext cx="7263000" cy="2294400"/>
          </a:xfrm>
          <a:prstGeom prst="rect">
            <a:avLst/>
          </a:prstGeom>
          <a:noFill/>
          <a:ln>
            <a:noFill/>
          </a:ln>
        </p:spPr>
        <p:txBody>
          <a:bodyPr anchorCtr="0" anchor="t" bIns="45700" lIns="91425" spcFirstLastPara="1" rIns="91425" wrap="square" tIns="45700">
            <a:spAutoFit/>
          </a:bodyPr>
          <a:lstStyle/>
          <a:p>
            <a:pPr indent="-304800" lvl="0" marL="457200" rtl="0" algn="just">
              <a:lnSpc>
                <a:spcPct val="115000"/>
              </a:lnSpc>
              <a:spcBef>
                <a:spcPts val="0"/>
              </a:spcBef>
              <a:spcAft>
                <a:spcPts val="0"/>
              </a:spcAft>
              <a:buClr>
                <a:schemeClr val="dk1"/>
              </a:buClr>
              <a:buSzPts val="1200"/>
              <a:buFont typeface="Times New Roman"/>
              <a:buChar char="●"/>
            </a:pPr>
            <a:r>
              <a:rPr lang="en-US" sz="1600">
                <a:solidFill>
                  <a:schemeClr val="dk1"/>
                </a:solidFill>
                <a:latin typeface="Times New Roman"/>
                <a:ea typeface="Times New Roman"/>
                <a:cs typeface="Times New Roman"/>
                <a:sym typeface="Times New Roman"/>
              </a:rPr>
              <a:t>Air pollution is defined as the presence of compounds in the atmosphere that are harmful to human beings and other living organisms</a:t>
            </a:r>
            <a:endParaRPr sz="1600">
              <a:solidFill>
                <a:schemeClr val="dk1"/>
              </a:solidFill>
              <a:latin typeface="Times New Roman"/>
              <a:ea typeface="Times New Roman"/>
              <a:cs typeface="Times New Roman"/>
              <a:sym typeface="Times New Roman"/>
            </a:endParaRPr>
          </a:p>
          <a:p>
            <a:pPr indent="-304800" lvl="0" marL="457200" rtl="0" algn="just">
              <a:lnSpc>
                <a:spcPct val="115000"/>
              </a:lnSpc>
              <a:spcBef>
                <a:spcPts val="1000"/>
              </a:spcBef>
              <a:spcAft>
                <a:spcPts val="0"/>
              </a:spcAft>
              <a:buClr>
                <a:schemeClr val="dk1"/>
              </a:buClr>
              <a:buSzPts val="1200"/>
              <a:buFont typeface="Times New Roman"/>
              <a:buChar char="●"/>
            </a:pPr>
            <a:r>
              <a:rPr lang="en-US" sz="1600">
                <a:solidFill>
                  <a:schemeClr val="dk1"/>
                </a:solidFill>
                <a:latin typeface="Times New Roman"/>
                <a:ea typeface="Times New Roman"/>
                <a:cs typeface="Times New Roman"/>
                <a:sym typeface="Times New Roman"/>
              </a:rPr>
              <a:t>Has severe effects on human health - Respiratory issues, lungs and heart problems</a:t>
            </a:r>
            <a:endParaRPr sz="1600">
              <a:solidFill>
                <a:schemeClr val="dk1"/>
              </a:solidFill>
              <a:latin typeface="Times New Roman"/>
              <a:ea typeface="Times New Roman"/>
              <a:cs typeface="Times New Roman"/>
              <a:sym typeface="Times New Roman"/>
            </a:endParaRPr>
          </a:p>
          <a:p>
            <a:pPr indent="-304800" lvl="0" marL="457200" rtl="0" algn="just">
              <a:lnSpc>
                <a:spcPct val="115000"/>
              </a:lnSpc>
              <a:spcBef>
                <a:spcPts val="1000"/>
              </a:spcBef>
              <a:spcAft>
                <a:spcPts val="1000"/>
              </a:spcAft>
              <a:buClr>
                <a:schemeClr val="dk1"/>
              </a:buClr>
              <a:buSzPts val="1200"/>
              <a:buFont typeface="Times New Roman"/>
              <a:buChar char="●"/>
            </a:pPr>
            <a:r>
              <a:rPr lang="en-US" sz="1600">
                <a:solidFill>
                  <a:schemeClr val="dk1"/>
                </a:solidFill>
                <a:latin typeface="Times New Roman"/>
                <a:ea typeface="Times New Roman"/>
                <a:cs typeface="Times New Roman"/>
                <a:sym typeface="Times New Roman"/>
              </a:rPr>
              <a:t>Offering a holistic approach to tackle the issue of air pollution by building a device that can monitor air pollution, predict future levels of pollution and also suggest precautionary actions and methods to reduce air pollution</a:t>
            </a:r>
            <a:endParaRPr sz="1200"/>
          </a:p>
        </p:txBody>
      </p:sp>
      <p:sp>
        <p:nvSpPr>
          <p:cNvPr id="132" name="Google Shape;132;p16"/>
          <p:cNvSpPr txBox="1"/>
          <p:nvPr>
            <p:ph idx="10" type="dt"/>
          </p:nvPr>
        </p:nvSpPr>
        <p:spPr>
          <a:xfrm>
            <a:off x="7029453" y="6136225"/>
            <a:ext cx="1509600" cy="3684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chemeClr val="dk2"/>
              </a:buClr>
              <a:buSzPts val="1400"/>
              <a:buFont typeface="Libre Baskerville"/>
              <a:buNone/>
            </a:pPr>
            <a:r>
              <a:rPr lang="en-US"/>
              <a:t>09-06-2023</a:t>
            </a:r>
            <a:endParaRPr/>
          </a:p>
        </p:txBody>
      </p:sp>
      <p:sp>
        <p:nvSpPr>
          <p:cNvPr id="133" name="Google Shape;133;p16"/>
          <p:cNvSpPr txBox="1"/>
          <p:nvPr>
            <p:ph idx="11" type="ftr"/>
          </p:nvPr>
        </p:nvSpPr>
        <p:spPr>
          <a:xfrm>
            <a:off x="369800" y="605366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134" name="Google Shape;134;p16"/>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pic>
        <p:nvPicPr>
          <p:cNvPr id="135" name="Google Shape;135;p16"/>
          <p:cNvPicPr preferRelativeResize="0"/>
          <p:nvPr/>
        </p:nvPicPr>
        <p:blipFill>
          <a:blip r:embed="rId3">
            <a:alphaModFix/>
          </a:blip>
          <a:stretch>
            <a:fillRect/>
          </a:stretch>
        </p:blipFill>
        <p:spPr>
          <a:xfrm>
            <a:off x="3178300" y="3758150"/>
            <a:ext cx="5716600" cy="2378066"/>
          </a:xfrm>
          <a:prstGeom prst="rect">
            <a:avLst/>
          </a:prstGeom>
          <a:noFill/>
          <a:ln cap="flat" cmpd="sng" w="9525">
            <a:solidFill>
              <a:srgbClr val="696464"/>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7"/>
          <p:cNvSpPr txBox="1"/>
          <p:nvPr>
            <p:ph idx="1" type="body"/>
          </p:nvPr>
        </p:nvSpPr>
        <p:spPr>
          <a:xfrm>
            <a:off x="1117527" y="180264"/>
            <a:ext cx="6909000" cy="609300"/>
          </a:xfrm>
          <a:prstGeom prst="rect">
            <a:avLst/>
          </a:prstGeom>
          <a:noFill/>
          <a:ln>
            <a:noFill/>
          </a:ln>
        </p:spPr>
        <p:txBody>
          <a:bodyPr anchorCtr="0" anchor="t" bIns="91425" lIns="91425" spcFirstLastPara="1" rIns="91425" wrap="square" tIns="91425">
            <a:noAutofit/>
          </a:bodyPr>
          <a:lstStyle/>
          <a:p>
            <a:pPr indent="0" lvl="0" marL="228600" rtl="0" algn="ctr">
              <a:lnSpc>
                <a:spcPct val="100000"/>
              </a:lnSpc>
              <a:spcBef>
                <a:spcPts val="0"/>
              </a:spcBef>
              <a:spcAft>
                <a:spcPts val="0"/>
              </a:spcAft>
              <a:buSzPts val="1400"/>
              <a:buNone/>
            </a:pPr>
            <a:r>
              <a:rPr lang="en-US" sz="3600">
                <a:solidFill>
                  <a:schemeClr val="dk2"/>
                </a:solidFill>
                <a:latin typeface="Libre Franklin"/>
                <a:ea typeface="Libre Franklin"/>
                <a:cs typeface="Libre Franklin"/>
                <a:sym typeface="Libre Franklin"/>
              </a:rPr>
              <a:t>Motivation</a:t>
            </a:r>
            <a:endParaRPr/>
          </a:p>
        </p:txBody>
      </p:sp>
      <p:sp>
        <p:nvSpPr>
          <p:cNvPr id="141" name="Google Shape;141;p17"/>
          <p:cNvSpPr txBox="1"/>
          <p:nvPr/>
        </p:nvSpPr>
        <p:spPr>
          <a:xfrm>
            <a:off x="763526" y="1182892"/>
            <a:ext cx="7263000" cy="3913800"/>
          </a:xfrm>
          <a:prstGeom prst="rect">
            <a:avLst/>
          </a:prstGeom>
          <a:noFill/>
          <a:ln>
            <a:noFill/>
          </a:ln>
        </p:spPr>
        <p:txBody>
          <a:bodyPr anchorCtr="0" anchor="t" bIns="45700" lIns="91425" spcFirstLastPara="1" rIns="91425" wrap="square" tIns="45700">
            <a:spAutoFit/>
          </a:bodyPr>
          <a:lstStyle/>
          <a:p>
            <a:pPr indent="-330200" lvl="0" marL="457200" rtl="0" algn="just">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Air pollution claims 7 million lives a year making it the most dangerous type of pollution</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No present technology that is implemented on a large scale in urban areas</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Lack of effective mobile apps</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Lack of awareness </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Demonstrate the possibility of a device to tackle to this problem which  is:</a:t>
            </a:r>
            <a:endParaRPr sz="1600">
              <a:solidFill>
                <a:schemeClr val="dk1"/>
              </a:solidFill>
              <a:latin typeface="Times New Roman"/>
              <a:ea typeface="Times New Roman"/>
              <a:cs typeface="Times New Roman"/>
              <a:sym typeface="Times New Roman"/>
            </a:endParaRPr>
          </a:p>
          <a:p>
            <a:pPr indent="-330200" lvl="1" marL="914400" rtl="0" algn="just">
              <a:lnSpc>
                <a:spcPct val="115000"/>
              </a:lnSpc>
              <a:spcBef>
                <a:spcPts val="10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Cost effective</a:t>
            </a:r>
            <a:endParaRPr sz="1600">
              <a:solidFill>
                <a:schemeClr val="dk1"/>
              </a:solidFill>
              <a:latin typeface="Times New Roman"/>
              <a:ea typeface="Times New Roman"/>
              <a:cs typeface="Times New Roman"/>
              <a:sym typeface="Times New Roman"/>
            </a:endParaRPr>
          </a:p>
          <a:p>
            <a:pPr indent="-330200" lvl="1" marL="914400" rtl="0" algn="just">
              <a:lnSpc>
                <a:spcPct val="115000"/>
              </a:lnSpc>
              <a:spcBef>
                <a:spcPts val="10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Compact</a:t>
            </a:r>
            <a:endParaRPr sz="1600">
              <a:solidFill>
                <a:schemeClr val="dk1"/>
              </a:solidFill>
              <a:latin typeface="Times New Roman"/>
              <a:ea typeface="Times New Roman"/>
              <a:cs typeface="Times New Roman"/>
              <a:sym typeface="Times New Roman"/>
            </a:endParaRPr>
          </a:p>
          <a:p>
            <a:pPr indent="-330200" lvl="1" marL="914400" rtl="0" algn="just">
              <a:lnSpc>
                <a:spcPct val="115000"/>
              </a:lnSpc>
              <a:spcBef>
                <a:spcPts val="10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Easy to use</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Help Bengaluru remain the Garden City of India for many years to come</a:t>
            </a:r>
            <a:endParaRPr sz="1600"/>
          </a:p>
        </p:txBody>
      </p:sp>
      <p:sp>
        <p:nvSpPr>
          <p:cNvPr id="142" name="Google Shape;142;p17"/>
          <p:cNvSpPr txBox="1"/>
          <p:nvPr>
            <p:ph idx="10" type="dt"/>
          </p:nvPr>
        </p:nvSpPr>
        <p:spPr>
          <a:xfrm>
            <a:off x="7130302" y="6136225"/>
            <a:ext cx="1408800" cy="3684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chemeClr val="dk2"/>
              </a:buClr>
              <a:buSzPts val="1400"/>
              <a:buFont typeface="Libre Baskerville"/>
              <a:buNone/>
            </a:pPr>
            <a:r>
              <a:rPr lang="en-US"/>
              <a:t>09-06-2023</a:t>
            </a:r>
            <a:endParaRPr/>
          </a:p>
        </p:txBody>
      </p:sp>
      <p:sp>
        <p:nvSpPr>
          <p:cNvPr id="143" name="Google Shape;143;p17"/>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144" name="Google Shape;144;p17"/>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8"/>
          <p:cNvSpPr txBox="1"/>
          <p:nvPr>
            <p:ph idx="1" type="body"/>
          </p:nvPr>
        </p:nvSpPr>
        <p:spPr>
          <a:xfrm>
            <a:off x="1098696" y="332656"/>
            <a:ext cx="7045224" cy="762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Objectives </a:t>
            </a:r>
            <a:endParaRPr sz="3600">
              <a:solidFill>
                <a:schemeClr val="dk2"/>
              </a:solidFill>
              <a:latin typeface="Libre Franklin"/>
              <a:ea typeface="Libre Franklin"/>
              <a:cs typeface="Libre Franklin"/>
              <a:sym typeface="Libre Franklin"/>
            </a:endParaRPr>
          </a:p>
        </p:txBody>
      </p:sp>
      <p:sp>
        <p:nvSpPr>
          <p:cNvPr id="150" name="Google Shape;150;p18"/>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151" name="Google Shape;151;p18"/>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52" name="Google Shape;152;p18"/>
          <p:cNvSpPr txBox="1"/>
          <p:nvPr/>
        </p:nvSpPr>
        <p:spPr>
          <a:xfrm>
            <a:off x="391950" y="1515525"/>
            <a:ext cx="8360100" cy="3386400"/>
          </a:xfrm>
          <a:prstGeom prst="rect">
            <a:avLst/>
          </a:prstGeom>
          <a:noFill/>
          <a:ln>
            <a:noFill/>
          </a:ln>
        </p:spPr>
        <p:txBody>
          <a:bodyPr anchorCtr="0" anchor="t" bIns="91425" lIns="91425" spcFirstLastPara="1" rIns="91425" wrap="square" tIns="91425">
            <a:spAutoFit/>
          </a:bodyPr>
          <a:lstStyle/>
          <a:p>
            <a:pPr indent="-330200" lvl="0" marL="457200" rtl="0" algn="just">
              <a:lnSpc>
                <a:spcPct val="150000"/>
              </a:lnSpc>
              <a:spcBef>
                <a:spcPts val="0"/>
              </a:spcBef>
              <a:spcAft>
                <a:spcPts val="0"/>
              </a:spcAft>
              <a:buClr>
                <a:srgbClr val="000000"/>
              </a:buClr>
              <a:buSzPts val="1600"/>
              <a:buFont typeface="Calibri"/>
              <a:buChar char="●"/>
            </a:pPr>
            <a:r>
              <a:rPr lang="en-US" sz="1600">
                <a:solidFill>
                  <a:schemeClr val="dk1"/>
                </a:solidFill>
                <a:latin typeface="Times New Roman"/>
                <a:ea typeface="Times New Roman"/>
                <a:cs typeface="Times New Roman"/>
                <a:sym typeface="Times New Roman"/>
              </a:rPr>
              <a:t>Build an IoT system to monitor Air Quality:</a:t>
            </a:r>
            <a:endParaRPr sz="1600">
              <a:solidFill>
                <a:schemeClr val="dk1"/>
              </a:solidFill>
              <a:latin typeface="Times New Roman"/>
              <a:ea typeface="Times New Roman"/>
              <a:cs typeface="Times New Roman"/>
              <a:sym typeface="Times New Roman"/>
            </a:endParaRPr>
          </a:p>
          <a:p>
            <a:pPr indent="-330200" lvl="1" marL="914400" rtl="0" algn="just">
              <a:lnSpc>
                <a:spcPct val="150000"/>
              </a:lnSpc>
              <a:spcBef>
                <a:spcPts val="0"/>
              </a:spcBef>
              <a:spcAft>
                <a:spcPts val="0"/>
              </a:spcAft>
              <a:buClr>
                <a:srgbClr val="000000"/>
              </a:buClr>
              <a:buSzPts val="1600"/>
              <a:buFont typeface="Calibri"/>
              <a:buChar char="○"/>
            </a:pPr>
            <a:r>
              <a:rPr lang="en-US" sz="1600">
                <a:solidFill>
                  <a:schemeClr val="dk1"/>
                </a:solidFill>
                <a:latin typeface="Times New Roman"/>
                <a:ea typeface="Times New Roman"/>
                <a:cs typeface="Times New Roman"/>
                <a:sym typeface="Times New Roman"/>
              </a:rPr>
              <a:t>a) Monitor Concentrations of  different air pollutants</a:t>
            </a:r>
            <a:endParaRPr sz="1600">
              <a:solidFill>
                <a:schemeClr val="dk1"/>
              </a:solidFill>
              <a:latin typeface="Times New Roman"/>
              <a:ea typeface="Times New Roman"/>
              <a:cs typeface="Times New Roman"/>
              <a:sym typeface="Times New Roman"/>
            </a:endParaRPr>
          </a:p>
          <a:p>
            <a:pPr indent="-330200" lvl="1" marL="914400" rtl="0" algn="just">
              <a:lnSpc>
                <a:spcPct val="150000"/>
              </a:lnSpc>
              <a:spcBef>
                <a:spcPts val="0"/>
              </a:spcBef>
              <a:spcAft>
                <a:spcPts val="0"/>
              </a:spcAft>
              <a:buClr>
                <a:srgbClr val="000000"/>
              </a:buClr>
              <a:buSzPts val="1600"/>
              <a:buFont typeface="Calibri"/>
              <a:buChar char="○"/>
            </a:pPr>
            <a:r>
              <a:rPr lang="en-US" sz="1600">
                <a:solidFill>
                  <a:schemeClr val="dk1"/>
                </a:solidFill>
                <a:latin typeface="Times New Roman"/>
                <a:ea typeface="Times New Roman"/>
                <a:cs typeface="Times New Roman"/>
                <a:sym typeface="Times New Roman"/>
              </a:rPr>
              <a:t>b) Measure AQI</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rgbClr val="000000"/>
              </a:buClr>
              <a:buSzPts val="1600"/>
              <a:buFont typeface="Calibri"/>
              <a:buChar char="●"/>
            </a:pPr>
            <a:r>
              <a:rPr lang="en-US" sz="1600">
                <a:solidFill>
                  <a:schemeClr val="dk1"/>
                </a:solidFill>
                <a:latin typeface="Times New Roman"/>
                <a:ea typeface="Times New Roman"/>
                <a:cs typeface="Times New Roman"/>
                <a:sym typeface="Times New Roman"/>
              </a:rPr>
              <a:t>Build a model to predict the Air Quality in the near future, using the output of the IoT system as input.</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rgbClr val="000000"/>
              </a:buClr>
              <a:buSzPts val="1600"/>
              <a:buFont typeface="Calibri"/>
              <a:buChar char="●"/>
            </a:pPr>
            <a:r>
              <a:rPr lang="en-US" sz="1600">
                <a:solidFill>
                  <a:schemeClr val="dk1"/>
                </a:solidFill>
                <a:latin typeface="Times New Roman"/>
                <a:ea typeface="Times New Roman"/>
                <a:cs typeface="Times New Roman"/>
                <a:sym typeface="Times New Roman"/>
              </a:rPr>
              <a:t>Build a web application to display the real time findings.</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rgbClr val="000000"/>
              </a:buClr>
              <a:buSzPts val="1600"/>
              <a:buFont typeface="Calibri"/>
              <a:buChar char="●"/>
            </a:pPr>
            <a:r>
              <a:rPr lang="en-US" sz="1600">
                <a:solidFill>
                  <a:schemeClr val="dk1"/>
                </a:solidFill>
                <a:latin typeface="Times New Roman"/>
                <a:ea typeface="Times New Roman"/>
                <a:cs typeface="Times New Roman"/>
                <a:sym typeface="Times New Roman"/>
              </a:rPr>
              <a:t>Provide analytics on the website, such as current AQI and the forecasted AQI levels</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rgbClr val="000000"/>
              </a:buClr>
              <a:buSzPts val="1600"/>
              <a:buFont typeface="Calibri"/>
              <a:buChar char="●"/>
            </a:pPr>
            <a:r>
              <a:rPr lang="en-US" sz="1600">
                <a:solidFill>
                  <a:schemeClr val="dk1"/>
                </a:solidFill>
                <a:latin typeface="Times New Roman"/>
                <a:ea typeface="Times New Roman"/>
                <a:cs typeface="Times New Roman"/>
                <a:sym typeface="Times New Roman"/>
              </a:rPr>
              <a:t>Provide measures to improve Air Quality.</a:t>
            </a:r>
            <a:endParaRPr sz="1600">
              <a:solidFill>
                <a:schemeClr val="dk1"/>
              </a:solidFill>
              <a:latin typeface="Times New Roman"/>
              <a:ea typeface="Times New Roman"/>
              <a:cs typeface="Times New Roman"/>
              <a:sym typeface="Times New Roman"/>
            </a:endParaRPr>
          </a:p>
          <a:p>
            <a:pPr indent="-330200" lvl="0" marL="457200" rtl="0" algn="just">
              <a:lnSpc>
                <a:spcPct val="150000"/>
              </a:lnSpc>
              <a:spcBef>
                <a:spcPts val="0"/>
              </a:spcBef>
              <a:spcAft>
                <a:spcPts val="0"/>
              </a:spcAft>
              <a:buClr>
                <a:srgbClr val="000000"/>
              </a:buClr>
              <a:buSzPts val="1600"/>
              <a:buFont typeface="Calibri"/>
              <a:buChar char="●"/>
            </a:pPr>
            <a:r>
              <a:rPr lang="en-US" sz="1600">
                <a:solidFill>
                  <a:schemeClr val="dk1"/>
                </a:solidFill>
                <a:latin typeface="Times New Roman"/>
                <a:ea typeface="Times New Roman"/>
                <a:cs typeface="Times New Roman"/>
                <a:sym typeface="Times New Roman"/>
              </a:rPr>
              <a:t>Provide precautionary measures</a:t>
            </a:r>
            <a:r>
              <a:rPr lang="en-US" sz="1600">
                <a:solidFill>
                  <a:srgbClr val="000000"/>
                </a:solidFill>
                <a:latin typeface="Calibri"/>
                <a:ea typeface="Calibri"/>
                <a:cs typeface="Calibri"/>
                <a:sym typeface="Calibri"/>
              </a:rPr>
              <a:t>.</a:t>
            </a:r>
            <a:endParaRPr sz="1600">
              <a:latin typeface="Calibri"/>
              <a:ea typeface="Calibri"/>
              <a:cs typeface="Calibri"/>
              <a:sym typeface="Calibri"/>
            </a:endParaRPr>
          </a:p>
        </p:txBody>
      </p:sp>
      <p:sp>
        <p:nvSpPr>
          <p:cNvPr id="153" name="Google Shape;153;p18"/>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9"/>
          <p:cNvSpPr txBox="1"/>
          <p:nvPr>
            <p:ph idx="1" type="body"/>
          </p:nvPr>
        </p:nvSpPr>
        <p:spPr>
          <a:xfrm>
            <a:off x="1173642" y="-30536"/>
            <a:ext cx="76647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Literature Survey </a:t>
            </a:r>
            <a:endParaRPr sz="3600">
              <a:solidFill>
                <a:schemeClr val="dk2"/>
              </a:solidFill>
              <a:latin typeface="Libre Franklin"/>
              <a:ea typeface="Libre Franklin"/>
              <a:cs typeface="Libre Franklin"/>
              <a:sym typeface="Libre Franklin"/>
            </a:endParaRPr>
          </a:p>
        </p:txBody>
      </p:sp>
      <p:graphicFrame>
        <p:nvGraphicFramePr>
          <p:cNvPr id="159" name="Google Shape;159;p19"/>
          <p:cNvGraphicFramePr/>
          <p:nvPr/>
        </p:nvGraphicFramePr>
        <p:xfrm>
          <a:off x="647574" y="516926"/>
          <a:ext cx="3000000" cy="3000000"/>
        </p:xfrm>
        <a:graphic>
          <a:graphicData uri="http://schemas.openxmlformats.org/drawingml/2006/table">
            <a:tbl>
              <a:tblPr bandRow="1" firstCol="1" firstRow="1">
                <a:noFill/>
                <a:tableStyleId>{8C6797AC-9B0B-4661-B362-63F6B0145EAB}</a:tableStyleId>
              </a:tblPr>
              <a:tblGrid>
                <a:gridCol w="707400"/>
                <a:gridCol w="1958875"/>
                <a:gridCol w="1706425"/>
                <a:gridCol w="1706425"/>
                <a:gridCol w="1769750"/>
              </a:tblGrid>
              <a:tr h="1014800">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t>SL.NO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t>Title of the Paper with Year</a:t>
                      </a:r>
                      <a:endParaRPr sz="1100" u="none" cap="none" strike="noStrike">
                        <a:latin typeface="Calibri"/>
                        <a:ea typeface="Calibri"/>
                        <a:cs typeface="Calibri"/>
                        <a:sym typeface="Calibri"/>
                      </a:endParaRPr>
                    </a:p>
                  </a:txBody>
                  <a:tcPr marT="0" marB="0" marR="68575" marL="68575">
                    <a:lnB cap="flat" cmpd="sng" w="12700">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t>Problem Addressed </a:t>
                      </a:r>
                      <a:endParaRPr sz="1100" u="none" cap="none" strike="noStrike">
                        <a:latin typeface="Calibri"/>
                        <a:ea typeface="Calibri"/>
                        <a:cs typeface="Calibri"/>
                        <a:sym typeface="Calibri"/>
                      </a:endParaRPr>
                    </a:p>
                  </a:txBody>
                  <a:tcPr marT="0" marB="0" marR="68575" marL="68575">
                    <a:lnB cap="flat" cmpd="sng" w="12700">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t>Authors Approach / Method </a:t>
                      </a:r>
                      <a:endParaRPr sz="1100" u="none" cap="none" strike="noStrike">
                        <a:latin typeface="Calibri"/>
                        <a:ea typeface="Calibri"/>
                        <a:cs typeface="Calibri"/>
                        <a:sym typeface="Calibri"/>
                      </a:endParaRPr>
                    </a:p>
                  </a:txBody>
                  <a:tcPr marT="0" marB="0" marR="68575" marL="68575">
                    <a:lnB cap="flat" cmpd="sng" w="12700">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t>Results </a:t>
                      </a:r>
                      <a:endParaRPr sz="1100" u="none" cap="none" strike="noStrike">
                        <a:latin typeface="Calibri"/>
                        <a:ea typeface="Calibri"/>
                        <a:cs typeface="Calibri"/>
                        <a:sym typeface="Calibri"/>
                      </a:endParaRPr>
                    </a:p>
                  </a:txBody>
                  <a:tcPr marT="0" marB="0" marR="68575" marL="68575">
                    <a:lnB cap="flat" cmpd="sng" w="12700">
                      <a:solidFill>
                        <a:srgbClr val="FFFFFF"/>
                      </a:solidFill>
                      <a:prstDash val="solid"/>
                      <a:round/>
                      <a:headEnd len="sm" w="sm" type="none"/>
                      <a:tailEnd len="sm" w="sm" type="none"/>
                    </a:lnB>
                  </a:tcPr>
                </a:tc>
              </a:tr>
              <a:tr h="846025">
                <a:tc>
                  <a:txBody>
                    <a:bodyPr/>
                    <a:lstStyle/>
                    <a:p>
                      <a:pPr indent="0" lvl="0" marL="0" rtl="0" algn="l">
                        <a:spcBef>
                          <a:spcPts val="0"/>
                        </a:spcBef>
                        <a:spcAft>
                          <a:spcPts val="0"/>
                        </a:spcAft>
                        <a:buNone/>
                      </a:pPr>
                      <a:r>
                        <a:rPr lang="en-US"/>
                        <a:t>1</a:t>
                      </a:r>
                      <a:endParaRPr/>
                    </a:p>
                  </a:txBody>
                  <a:tcPr marT="0" marB="0" marR="68575" marL="68575">
                    <a:lnR cap="flat" cmpd="sng" w="12700">
                      <a:solidFill>
                        <a:srgbClr val="FFFFFF"/>
                      </a:solidFill>
                      <a:prstDash val="solid"/>
                      <a:round/>
                      <a:headEnd len="sm" w="sm" type="none"/>
                      <a:tailEnd len="sm" w="sm" type="none"/>
                    </a:lnR>
                  </a:tcPr>
                </a:tc>
                <a:tc>
                  <a:txBody>
                    <a:bodyPr/>
                    <a:lstStyle/>
                    <a:p>
                      <a:pPr indent="0" lvl="0" marL="0" rtl="0" algn="l">
                        <a:lnSpc>
                          <a:spcPct val="115000"/>
                        </a:lnSpc>
                        <a:spcBef>
                          <a:spcPts val="580"/>
                        </a:spcBef>
                        <a:spcAft>
                          <a:spcPts val="0"/>
                        </a:spcAft>
                        <a:buClr>
                          <a:srgbClr val="000000"/>
                        </a:buClr>
                        <a:buSzPts val="1100"/>
                        <a:buFont typeface="Arial"/>
                        <a:buNone/>
                      </a:pPr>
                      <a:r>
                        <a:rPr lang="en-US" sz="1200">
                          <a:latin typeface="Times New Roman"/>
                          <a:ea typeface="Times New Roman"/>
                          <a:cs typeface="Times New Roman"/>
                          <a:sym typeface="Times New Roman"/>
                        </a:rPr>
                        <a:t>“Air pollution monitoring and prediction using IoT”</a:t>
                      </a:r>
                      <a:endParaRPr sz="1100" u="none" cap="none" strike="noStrike">
                        <a:latin typeface="Calibri"/>
                        <a:ea typeface="Calibri"/>
                        <a:cs typeface="Calibri"/>
                        <a:sym typeface="Calibri"/>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Clr>
                          <a:srgbClr val="000000"/>
                        </a:buClr>
                        <a:buSzPts val="1100"/>
                        <a:buFont typeface="Arial"/>
                        <a:buNone/>
                      </a:pPr>
                      <a:r>
                        <a:rPr lang="en-US" sz="1200">
                          <a:latin typeface="Times New Roman"/>
                          <a:ea typeface="Times New Roman"/>
                          <a:cs typeface="Times New Roman"/>
                          <a:sym typeface="Times New Roman"/>
                        </a:rPr>
                        <a:t>Air Pollution monitoring and predictions using IoT and sensors</a:t>
                      </a:r>
                      <a:endParaRPr sz="1100" u="none" cap="none" strike="noStrike">
                        <a:latin typeface="Calibri"/>
                        <a:ea typeface="Calibri"/>
                        <a:cs typeface="Calibri"/>
                        <a:sym typeface="Calibri"/>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Clr>
                          <a:srgbClr val="000000"/>
                        </a:buClr>
                        <a:buSzPts val="1100"/>
                        <a:buFont typeface="Arial"/>
                        <a:buNone/>
                      </a:pPr>
                      <a:r>
                        <a:rPr lang="en-US" sz="1200">
                          <a:latin typeface="Times New Roman"/>
                          <a:ea typeface="Times New Roman"/>
                          <a:cs typeface="Times New Roman"/>
                          <a:sym typeface="Times New Roman"/>
                        </a:rPr>
                        <a:t>The system employs IoT in conjunction with the machine learning method known as Recurrent Neural Network, specifically Long Short Term Memory (LSTM), to focus on monitoring air contaminants .</a:t>
                      </a:r>
                      <a:endParaRPr sz="1100" u="none" cap="none" strike="noStrike">
                        <a:latin typeface="Calibri"/>
                        <a:ea typeface="Calibri"/>
                        <a:cs typeface="Calibri"/>
                        <a:sym typeface="Calibri"/>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l">
                        <a:lnSpc>
                          <a:spcPct val="115000"/>
                        </a:lnSpc>
                        <a:spcBef>
                          <a:spcPts val="580"/>
                        </a:spcBef>
                        <a:spcAft>
                          <a:spcPts val="0"/>
                        </a:spcAft>
                        <a:buClr>
                          <a:srgbClr val="000000"/>
                        </a:buClr>
                        <a:buSzPts val="1100"/>
                        <a:buFont typeface="Arial"/>
                        <a:buNone/>
                      </a:pPr>
                      <a:r>
                        <a:rPr lang="en-US" sz="1200">
                          <a:latin typeface="Times New Roman"/>
                          <a:ea typeface="Times New Roman"/>
                          <a:cs typeface="Times New Roman"/>
                          <a:sym typeface="Times New Roman"/>
                        </a:rPr>
                        <a:t>For predicting the LSTM is implemented. It has a quick convergence and reduces the training cycles with a good accuracy.</a:t>
                      </a:r>
                      <a:endParaRPr sz="1100" u="none" cap="none" strike="noStrike">
                        <a:latin typeface="Calibri"/>
                        <a:ea typeface="Calibri"/>
                        <a:cs typeface="Calibri"/>
                        <a:sym typeface="Calibri"/>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698050">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t>2</a:t>
                      </a:r>
                      <a:endParaRPr sz="1100" u="none" cap="none" strike="noStrike">
                        <a:latin typeface="Calibri"/>
                        <a:ea typeface="Calibri"/>
                        <a:cs typeface="Calibri"/>
                        <a:sym typeface="Calibri"/>
                      </a:endParaRPr>
                    </a:p>
                  </a:txBody>
                  <a:tcPr marT="0" marB="0" marR="68575" marL="68575">
                    <a:lnR cap="flat" cmpd="sng" w="12700">
                      <a:solidFill>
                        <a:srgbClr val="FFFFFF"/>
                      </a:solidFill>
                      <a:prstDash val="solid"/>
                      <a:round/>
                      <a:headEnd len="sm" w="sm" type="none"/>
                      <a:tailEnd len="sm" w="sm" type="none"/>
                    </a:lnR>
                  </a:tcPr>
                </a:tc>
                <a:tc>
                  <a:txBody>
                    <a:bodyPr/>
                    <a:lstStyle/>
                    <a:p>
                      <a:pPr indent="0" lvl="0" marL="0" rtl="0" algn="l">
                        <a:lnSpc>
                          <a:spcPct val="115000"/>
                        </a:lnSpc>
                        <a:spcBef>
                          <a:spcPts val="580"/>
                        </a:spcBef>
                        <a:spcAft>
                          <a:spcPts val="0"/>
                        </a:spcAft>
                        <a:buClr>
                          <a:srgbClr val="000000"/>
                        </a:buClr>
                        <a:buSzPts val="1100"/>
                        <a:buFont typeface="Arial"/>
                        <a:buNone/>
                      </a:pPr>
                      <a:r>
                        <a:rPr lang="en-US" sz="1200">
                          <a:latin typeface="Times New Roman"/>
                          <a:ea typeface="Times New Roman"/>
                          <a:cs typeface="Times New Roman"/>
                          <a:sym typeface="Times New Roman"/>
                        </a:rPr>
                        <a:t>“Air Pollution Monitoring and Prediction Using IoT and Machine Learning”</a:t>
                      </a:r>
                      <a:endParaRPr sz="1100" u="none" cap="none" strike="noStrike">
                        <a:latin typeface="Calibri"/>
                        <a:ea typeface="Calibri"/>
                        <a:cs typeface="Calibri"/>
                        <a:sym typeface="Calibri"/>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Clr>
                          <a:srgbClr val="000000"/>
                        </a:buClr>
                        <a:buSzPts val="1100"/>
                        <a:buFont typeface="Arial"/>
                        <a:buNone/>
                      </a:pPr>
                      <a:r>
                        <a:rPr lang="en-US" sz="1200">
                          <a:latin typeface="Times New Roman"/>
                          <a:ea typeface="Times New Roman"/>
                          <a:cs typeface="Times New Roman"/>
                          <a:sym typeface="Times New Roman"/>
                        </a:rPr>
                        <a:t>Air pollution monitoring and forecasting using IoT and ML</a:t>
                      </a:r>
                      <a:endParaRPr sz="1100" u="none" cap="none" strike="noStrike">
                        <a:latin typeface="Calibri"/>
                        <a:ea typeface="Calibri"/>
                        <a:cs typeface="Calibri"/>
                        <a:sym typeface="Calibri"/>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Clr>
                          <a:srgbClr val="000000"/>
                        </a:buClr>
                        <a:buSzPts val="1100"/>
                        <a:buFont typeface="Arial"/>
                        <a:buNone/>
                      </a:pPr>
                      <a:r>
                        <a:rPr lang="en-US" sz="1200">
                          <a:latin typeface="Times New Roman"/>
                          <a:ea typeface="Times New Roman"/>
                          <a:cs typeface="Times New Roman"/>
                          <a:sym typeface="Times New Roman"/>
                        </a:rPr>
                        <a:t>They put out a system that employs a number of sensors to measure the concentration of pollutants, and they created a number of ML models to project future pollution levels.</a:t>
                      </a:r>
                      <a:endParaRPr sz="1100" u="none" cap="none" strike="noStrike">
                        <a:latin typeface="Calibri"/>
                        <a:ea typeface="Calibri"/>
                        <a:cs typeface="Calibri"/>
                        <a:sym typeface="Calibri"/>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Clr>
                          <a:srgbClr val="000000"/>
                        </a:buClr>
                        <a:buSzPts val="1100"/>
                        <a:buFont typeface="Arial"/>
                        <a:buNone/>
                      </a:pPr>
                      <a:r>
                        <a:rPr lang="en-US" sz="1200">
                          <a:latin typeface="Times New Roman"/>
                          <a:ea typeface="Times New Roman"/>
                          <a:cs typeface="Times New Roman"/>
                          <a:sym typeface="Times New Roman"/>
                        </a:rPr>
                        <a:t>The stacking ensemble model had the highest accuracy and lowest error rate of all the implemented ML models.</a:t>
                      </a:r>
                      <a:endParaRPr sz="1100" u="none" cap="none" strike="noStrike">
                        <a:latin typeface="Calibri"/>
                        <a:ea typeface="Calibri"/>
                        <a:cs typeface="Calibri"/>
                        <a:sym typeface="Calibri"/>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1547375">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t>3</a:t>
                      </a:r>
                      <a:endParaRPr sz="1100" u="none" cap="none" strike="noStrike">
                        <a:latin typeface="Calibri"/>
                        <a:ea typeface="Calibri"/>
                        <a:cs typeface="Calibri"/>
                        <a:sym typeface="Calibri"/>
                      </a:endParaRPr>
                    </a:p>
                  </a:txBody>
                  <a:tcPr marT="0" marB="0" marR="68575" marL="68575">
                    <a:lnR cap="flat" cmpd="sng" w="12700">
                      <a:solidFill>
                        <a:srgbClr val="FFFFFF"/>
                      </a:solidFill>
                      <a:prstDash val="solid"/>
                      <a:round/>
                      <a:headEnd len="sm" w="sm" type="none"/>
                      <a:tailEnd len="sm" w="sm" type="none"/>
                    </a:lnR>
                  </a:tcPr>
                </a:tc>
                <a:tc>
                  <a:txBody>
                    <a:bodyPr/>
                    <a:lstStyle/>
                    <a:p>
                      <a:pPr indent="0" lvl="0" marL="0" rtl="0" algn="l">
                        <a:lnSpc>
                          <a:spcPct val="115000"/>
                        </a:lnSpc>
                        <a:spcBef>
                          <a:spcPts val="580"/>
                        </a:spcBef>
                        <a:spcAft>
                          <a:spcPts val="0"/>
                        </a:spcAft>
                        <a:buClr>
                          <a:srgbClr val="000000"/>
                        </a:buClr>
                        <a:buSzPts val="1100"/>
                        <a:buFont typeface="Arial"/>
                        <a:buNone/>
                      </a:pPr>
                      <a:r>
                        <a:rPr lang="en-US" sz="1100">
                          <a:latin typeface="Times New Roman"/>
                          <a:ea typeface="Times New Roman"/>
                          <a:cs typeface="Times New Roman"/>
                          <a:sym typeface="Times New Roman"/>
                        </a:rPr>
                        <a:t>“IoT enabled Environmental Air Pollution Monitoring and Rerouting system using Machine learning algorithms”</a:t>
                      </a:r>
                      <a:endParaRPr sz="1100" u="none" cap="none" strike="noStrike">
                        <a:latin typeface="Times New Roman"/>
                        <a:ea typeface="Times New Roman"/>
                        <a:cs typeface="Times New Roman"/>
                        <a:sym typeface="Times New Roman"/>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Clr>
                          <a:srgbClr val="000000"/>
                        </a:buClr>
                        <a:buSzPts val="1100"/>
                        <a:buFont typeface="Arial"/>
                        <a:buNone/>
                      </a:pPr>
                      <a:r>
                        <a:rPr lang="en-US" sz="1100">
                          <a:latin typeface="Times New Roman"/>
                          <a:ea typeface="Times New Roman"/>
                          <a:cs typeface="Times New Roman"/>
                          <a:sym typeface="Times New Roman"/>
                        </a:rPr>
                        <a:t>Air pollution monitoring system used as a rerouting system to find pollution free route</a:t>
                      </a:r>
                      <a:endParaRPr sz="1100" u="none" cap="none" strike="noStrike">
                        <a:latin typeface="Times New Roman"/>
                        <a:ea typeface="Times New Roman"/>
                        <a:cs typeface="Times New Roman"/>
                        <a:sym typeface="Times New Roman"/>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lnSpc>
                          <a:spcPct val="115000"/>
                        </a:lnSpc>
                        <a:spcBef>
                          <a:spcPts val="580"/>
                        </a:spcBef>
                        <a:spcAft>
                          <a:spcPts val="0"/>
                        </a:spcAft>
                        <a:buClr>
                          <a:srgbClr val="000000"/>
                        </a:buClr>
                        <a:buSzPts val="1100"/>
                        <a:buFont typeface="Arial"/>
                        <a:buNone/>
                      </a:pPr>
                      <a:r>
                        <a:rPr lang="en-US" sz="1100">
                          <a:latin typeface="Times New Roman"/>
                          <a:ea typeface="Times New Roman"/>
                          <a:cs typeface="Times New Roman"/>
                          <a:sym typeface="Times New Roman"/>
                        </a:rPr>
                        <a:t>With the collected time series samples, the prediction analysis was done with neural network Multilayer perceptron and support vector machine regression (SVMR) learning algorithm.</a:t>
                      </a:r>
                      <a:endParaRPr sz="1100" u="none" cap="none" strike="noStrike">
                        <a:latin typeface="Times New Roman"/>
                        <a:ea typeface="Times New Roman"/>
                        <a:cs typeface="Times New Roman"/>
                        <a:sym typeface="Times New Roman"/>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Clr>
                          <a:srgbClr val="000000"/>
                        </a:buClr>
                        <a:buSzPts val="1100"/>
                        <a:buFont typeface="Arial"/>
                        <a:buNone/>
                      </a:pPr>
                      <a:r>
                        <a:rPr lang="en-US" sz="1200">
                          <a:latin typeface="Times New Roman"/>
                          <a:ea typeface="Times New Roman"/>
                          <a:cs typeface="Times New Roman"/>
                          <a:sym typeface="Times New Roman"/>
                        </a:rPr>
                        <a:t>The Google Maps API correctly updated the pollution levels, and the advised route was the one with the lowest levels of pollution based on those levels.</a:t>
                      </a:r>
                      <a:endParaRPr sz="1100" u="none" cap="none" strike="noStrike">
                        <a:latin typeface="Calibri"/>
                        <a:ea typeface="Calibri"/>
                        <a:cs typeface="Calibri"/>
                        <a:sym typeface="Calibri"/>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bl>
          </a:graphicData>
        </a:graphic>
      </p:graphicFrame>
      <p:sp>
        <p:nvSpPr>
          <p:cNvPr id="160" name="Google Shape;160;p19"/>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0"/>
          <p:cNvSpPr txBox="1"/>
          <p:nvPr>
            <p:ph idx="1" type="body"/>
          </p:nvPr>
        </p:nvSpPr>
        <p:spPr>
          <a:xfrm>
            <a:off x="1173642" y="-30536"/>
            <a:ext cx="76647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Literature Survey </a:t>
            </a:r>
            <a:endParaRPr sz="3600">
              <a:solidFill>
                <a:schemeClr val="dk2"/>
              </a:solidFill>
              <a:latin typeface="Libre Franklin"/>
              <a:ea typeface="Libre Franklin"/>
              <a:cs typeface="Libre Franklin"/>
              <a:sym typeface="Libre Franklin"/>
            </a:endParaRPr>
          </a:p>
        </p:txBody>
      </p:sp>
      <p:graphicFrame>
        <p:nvGraphicFramePr>
          <p:cNvPr id="166" name="Google Shape;166;p20"/>
          <p:cNvGraphicFramePr/>
          <p:nvPr/>
        </p:nvGraphicFramePr>
        <p:xfrm>
          <a:off x="647561" y="557276"/>
          <a:ext cx="3000000" cy="3000000"/>
        </p:xfrm>
        <a:graphic>
          <a:graphicData uri="http://schemas.openxmlformats.org/drawingml/2006/table">
            <a:tbl>
              <a:tblPr bandRow="1" firstCol="1" firstRow="1">
                <a:noFill/>
                <a:tableStyleId>{8C6797AC-9B0B-4661-B362-63F6B0145EAB}</a:tableStyleId>
              </a:tblPr>
              <a:tblGrid>
                <a:gridCol w="707400"/>
                <a:gridCol w="1958875"/>
                <a:gridCol w="1706425"/>
                <a:gridCol w="1706425"/>
                <a:gridCol w="1769750"/>
              </a:tblGrid>
              <a:tr h="1014800">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t>SL.NO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t>Title of the Paper with Year</a:t>
                      </a:r>
                      <a:endParaRPr sz="1100" u="none" cap="none" strike="noStrike">
                        <a:latin typeface="Calibri"/>
                        <a:ea typeface="Calibri"/>
                        <a:cs typeface="Calibri"/>
                        <a:sym typeface="Calibri"/>
                      </a:endParaRPr>
                    </a:p>
                  </a:txBody>
                  <a:tcPr marT="0" marB="0" marR="68575" marL="68575">
                    <a:lnB cap="flat" cmpd="sng" w="12700">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t>Problem Addressed </a:t>
                      </a:r>
                      <a:endParaRPr sz="1100" u="none" cap="none" strike="noStrike">
                        <a:latin typeface="Calibri"/>
                        <a:ea typeface="Calibri"/>
                        <a:cs typeface="Calibri"/>
                        <a:sym typeface="Calibri"/>
                      </a:endParaRPr>
                    </a:p>
                  </a:txBody>
                  <a:tcPr marT="0" marB="0" marR="68575" marL="68575">
                    <a:lnB cap="flat" cmpd="sng" w="12700">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t>Authors Approach / Method </a:t>
                      </a:r>
                      <a:endParaRPr sz="1100" u="none" cap="none" strike="noStrike">
                        <a:latin typeface="Calibri"/>
                        <a:ea typeface="Calibri"/>
                        <a:cs typeface="Calibri"/>
                        <a:sym typeface="Calibri"/>
                      </a:endParaRPr>
                    </a:p>
                  </a:txBody>
                  <a:tcPr marT="0" marB="0" marR="68575" marL="68575">
                    <a:lnB cap="flat" cmpd="sng" w="12700">
                      <a:solidFill>
                        <a:srgbClr val="FFFFFF"/>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US" sz="1100" u="none" cap="none" strike="noStrike"/>
                        <a:t>Results </a:t>
                      </a:r>
                      <a:endParaRPr sz="1100" u="none" cap="none" strike="noStrike">
                        <a:latin typeface="Calibri"/>
                        <a:ea typeface="Calibri"/>
                        <a:cs typeface="Calibri"/>
                        <a:sym typeface="Calibri"/>
                      </a:endParaRPr>
                    </a:p>
                  </a:txBody>
                  <a:tcPr marT="0" marB="0" marR="68575" marL="68575">
                    <a:lnB cap="flat" cmpd="sng" w="12700">
                      <a:solidFill>
                        <a:srgbClr val="FFFFFF"/>
                      </a:solidFill>
                      <a:prstDash val="solid"/>
                      <a:round/>
                      <a:headEnd len="sm" w="sm" type="none"/>
                      <a:tailEnd len="sm" w="sm" type="none"/>
                    </a:lnB>
                  </a:tcPr>
                </a:tc>
              </a:tr>
              <a:tr h="846025">
                <a:tc>
                  <a:txBody>
                    <a:bodyPr/>
                    <a:lstStyle/>
                    <a:p>
                      <a:pPr indent="0" lvl="0" marL="0" rtl="0" algn="l">
                        <a:spcBef>
                          <a:spcPts val="0"/>
                        </a:spcBef>
                        <a:spcAft>
                          <a:spcPts val="0"/>
                        </a:spcAft>
                        <a:buNone/>
                      </a:pPr>
                      <a:r>
                        <a:rPr lang="en-US"/>
                        <a:t>4</a:t>
                      </a:r>
                      <a:endParaRPr/>
                    </a:p>
                  </a:txBody>
                  <a:tcPr marT="0" marB="0" marR="68575" marL="68575">
                    <a:lnR cap="flat" cmpd="sng" w="12700">
                      <a:solidFill>
                        <a:srgbClr val="FFFFFF"/>
                      </a:solidFill>
                      <a:prstDash val="solid"/>
                      <a:round/>
                      <a:headEnd len="sm" w="sm" type="none"/>
                      <a:tailEnd len="sm" w="sm" type="none"/>
                    </a:lnR>
                  </a:tcPr>
                </a:tc>
                <a:tc>
                  <a:txBody>
                    <a:bodyPr/>
                    <a:lstStyle/>
                    <a:p>
                      <a:pPr indent="0" lvl="0" marL="0" rtl="0" algn="l">
                        <a:lnSpc>
                          <a:spcPct val="115000"/>
                        </a:lnSpc>
                        <a:spcBef>
                          <a:spcPts val="580"/>
                        </a:spcBef>
                        <a:spcAft>
                          <a:spcPts val="0"/>
                        </a:spcAft>
                        <a:buClr>
                          <a:srgbClr val="000000"/>
                        </a:buClr>
                        <a:buSzPts val="1100"/>
                        <a:buFont typeface="Arial"/>
                        <a:buNone/>
                      </a:pPr>
                      <a:r>
                        <a:rPr lang="en-US" sz="1100">
                          <a:latin typeface="Times New Roman"/>
                          <a:ea typeface="Times New Roman"/>
                          <a:cs typeface="Times New Roman"/>
                          <a:sym typeface="Times New Roman"/>
                        </a:rPr>
                        <a:t>“Modelling air quality prediction using a deep learning approach: Method optimization and evaluation”</a:t>
                      </a:r>
                      <a:endParaRPr sz="1100" u="none" cap="none" strike="noStrike">
                        <a:latin typeface="Times New Roman"/>
                        <a:ea typeface="Times New Roman"/>
                        <a:cs typeface="Times New Roman"/>
                        <a:sym typeface="Times New Roman"/>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Clr>
                          <a:srgbClr val="000000"/>
                        </a:buClr>
                        <a:buSzPts val="1100"/>
                        <a:buFont typeface="Arial"/>
                        <a:buNone/>
                      </a:pPr>
                      <a:r>
                        <a:rPr lang="en-US" sz="1100">
                          <a:latin typeface="Times New Roman"/>
                          <a:ea typeface="Times New Roman"/>
                          <a:cs typeface="Times New Roman"/>
                          <a:sym typeface="Times New Roman"/>
                        </a:rPr>
                        <a:t>Deep learning-based modelling of air quality prediction: method improvement and assessment</a:t>
                      </a:r>
                      <a:endParaRPr sz="1100" u="none" cap="none" strike="noStrike">
                        <a:latin typeface="Times New Roman"/>
                        <a:ea typeface="Times New Roman"/>
                        <a:cs typeface="Times New Roman"/>
                        <a:sym typeface="Times New Roman"/>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l">
                        <a:lnSpc>
                          <a:spcPct val="115000"/>
                        </a:lnSpc>
                        <a:spcBef>
                          <a:spcPts val="580"/>
                        </a:spcBef>
                        <a:spcAft>
                          <a:spcPts val="0"/>
                        </a:spcAft>
                        <a:buSzPts val="1100"/>
                        <a:buNone/>
                      </a:pPr>
                      <a:r>
                        <a:rPr lang="en-US" sz="1100">
                          <a:latin typeface="Times New Roman"/>
                          <a:ea typeface="Times New Roman"/>
                          <a:cs typeface="Times New Roman"/>
                          <a:sym typeface="Times New Roman"/>
                        </a:rPr>
                        <a:t>In this paper , a deep learning framework to predict air quality in the following 24hrs is proposed. A neural network with a temporal sliding long short-term memory extended model (TS-LSTM)</a:t>
                      </a:r>
                      <a:endParaRPr sz="1100" u="none" cap="none" strike="noStrike">
                        <a:latin typeface="Times New Roman"/>
                        <a:ea typeface="Times New Roman"/>
                        <a:cs typeface="Times New Roman"/>
                        <a:sym typeface="Times New Roman"/>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l">
                        <a:lnSpc>
                          <a:spcPct val="115000"/>
                        </a:lnSpc>
                        <a:spcBef>
                          <a:spcPts val="580"/>
                        </a:spcBef>
                        <a:spcAft>
                          <a:spcPts val="0"/>
                        </a:spcAft>
                        <a:buSzPts val="1100"/>
                        <a:buNone/>
                      </a:pPr>
                      <a:r>
                        <a:rPr lang="en-US" sz="1100">
                          <a:latin typeface="Times New Roman"/>
                          <a:ea typeface="Times New Roman"/>
                          <a:cs typeface="Times New Roman"/>
                          <a:sym typeface="Times New Roman"/>
                        </a:rPr>
                        <a:t>The proposed model had better stability and performances with high correlation coefficient R Squared, compared to the multiple linear regression, support vector, the traditional LSTM, and the LSTME</a:t>
                      </a:r>
                      <a:endParaRPr sz="1100" u="none" cap="none" strike="noStrike">
                        <a:latin typeface="Times New Roman"/>
                        <a:ea typeface="Times New Roman"/>
                        <a:cs typeface="Times New Roman"/>
                        <a:sym typeface="Times New Roman"/>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698050">
                <a:tc>
                  <a:txBody>
                    <a:bodyPr/>
                    <a:lstStyle/>
                    <a:p>
                      <a:pPr indent="0" lvl="0" marL="0" marR="0" rtl="0" algn="ctr">
                        <a:lnSpc>
                          <a:spcPct val="115000"/>
                        </a:lnSpc>
                        <a:spcBef>
                          <a:spcPts val="0"/>
                        </a:spcBef>
                        <a:spcAft>
                          <a:spcPts val="0"/>
                        </a:spcAft>
                        <a:buClr>
                          <a:srgbClr val="000000"/>
                        </a:buClr>
                        <a:buSzPts val="1100"/>
                        <a:buFont typeface="Arial"/>
                        <a:buNone/>
                      </a:pPr>
                      <a:r>
                        <a:rPr lang="en-US" sz="1100"/>
                        <a:t>5</a:t>
                      </a:r>
                      <a:endParaRPr sz="1100" u="none" cap="none" strike="noStrike">
                        <a:latin typeface="Calibri"/>
                        <a:ea typeface="Calibri"/>
                        <a:cs typeface="Calibri"/>
                        <a:sym typeface="Calibri"/>
                      </a:endParaRPr>
                    </a:p>
                  </a:txBody>
                  <a:tcPr marT="0" marB="0" marR="68575" marL="68575">
                    <a:lnR cap="flat" cmpd="sng" w="12700">
                      <a:solidFill>
                        <a:srgbClr val="FFFFFF"/>
                      </a:solidFill>
                      <a:prstDash val="solid"/>
                      <a:round/>
                      <a:headEnd len="sm" w="sm" type="none"/>
                      <a:tailEnd len="sm" w="sm" type="none"/>
                    </a:lnR>
                  </a:tcPr>
                </a:tc>
                <a:tc>
                  <a:txBody>
                    <a:bodyPr/>
                    <a:lstStyle/>
                    <a:p>
                      <a:pPr indent="0" lvl="0" marL="0" rtl="0" algn="l">
                        <a:lnSpc>
                          <a:spcPct val="115000"/>
                        </a:lnSpc>
                        <a:spcBef>
                          <a:spcPts val="0"/>
                        </a:spcBef>
                        <a:spcAft>
                          <a:spcPts val="0"/>
                        </a:spcAft>
                        <a:buClr>
                          <a:srgbClr val="000000"/>
                        </a:buClr>
                        <a:buSzPts val="1100"/>
                        <a:buFont typeface="Arial"/>
                        <a:buNone/>
                      </a:pPr>
                      <a:r>
                        <a:rPr lang="en-US" sz="1200">
                          <a:latin typeface="Times New Roman"/>
                          <a:ea typeface="Times New Roman"/>
                          <a:cs typeface="Times New Roman"/>
                          <a:sym typeface="Times New Roman"/>
                        </a:rPr>
                        <a:t>“Air Quality Index Forecasting using Auto-regression Models”</a:t>
                      </a:r>
                      <a:endParaRPr sz="1100" u="none" cap="none" strike="noStrike">
                        <a:latin typeface="Times New Roman"/>
                        <a:ea typeface="Times New Roman"/>
                        <a:cs typeface="Times New Roman"/>
                        <a:sym typeface="Times New Roman"/>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Clr>
                          <a:srgbClr val="000000"/>
                        </a:buClr>
                        <a:buSzPts val="1100"/>
                        <a:buFont typeface="Arial"/>
                        <a:buNone/>
                      </a:pPr>
                      <a:r>
                        <a:rPr lang="en-US" sz="1200">
                          <a:latin typeface="Times New Roman"/>
                          <a:ea typeface="Times New Roman"/>
                          <a:cs typeface="Times New Roman"/>
                          <a:sym typeface="Times New Roman"/>
                        </a:rPr>
                        <a:t>To forecast the AQI using a Time Series model based on AutoRegression, iNtegrated Differencing and Moving Average</a:t>
                      </a:r>
                      <a:endParaRPr sz="1100" u="none" cap="none" strike="noStrike">
                        <a:latin typeface="Times New Roman"/>
                        <a:ea typeface="Times New Roman"/>
                        <a:cs typeface="Times New Roman"/>
                        <a:sym typeface="Times New Roman"/>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Clr>
                          <a:srgbClr val="000000"/>
                        </a:buClr>
                        <a:buSzPts val="1100"/>
                        <a:buFont typeface="Arial"/>
                        <a:buNone/>
                      </a:pPr>
                      <a:r>
                        <a:rPr lang="en-US" sz="1200">
                          <a:latin typeface="Times New Roman"/>
                          <a:ea typeface="Times New Roman"/>
                          <a:cs typeface="Times New Roman"/>
                          <a:sym typeface="Times New Roman"/>
                        </a:rPr>
                        <a:t>The ARIMA model is employed. Detrending, differencing, and other techniques can be used to change a non-stationary series into a stationary series.</a:t>
                      </a:r>
                      <a:endParaRPr sz="1100" u="none" cap="none" strike="noStrike">
                        <a:latin typeface="Times New Roman"/>
                        <a:ea typeface="Times New Roman"/>
                        <a:cs typeface="Times New Roman"/>
                        <a:sym typeface="Times New Roman"/>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1000"/>
                        </a:spcAft>
                        <a:buClr>
                          <a:srgbClr val="000000"/>
                        </a:buClr>
                        <a:buSzPts val="1100"/>
                        <a:buFont typeface="Arial"/>
                        <a:buNone/>
                      </a:pPr>
                      <a:r>
                        <a:rPr lang="en-US" sz="1200">
                          <a:latin typeface="Times New Roman"/>
                          <a:ea typeface="Times New Roman"/>
                          <a:cs typeface="Times New Roman"/>
                          <a:sym typeface="Times New Roman"/>
                        </a:rPr>
                        <a:t>The MSE was 127.00 when auto-regression was used on a time series dataset to forecast the Air Quality Index value seven days in advance.</a:t>
                      </a:r>
                      <a:endParaRPr sz="1100" u="none" cap="none" strike="noStrike">
                        <a:latin typeface="Times New Roman"/>
                        <a:ea typeface="Times New Roman"/>
                        <a:cs typeface="Times New Roman"/>
                        <a:sym typeface="Times New Roman"/>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769050">
                <a:tc>
                  <a:txBody>
                    <a:bodyPr/>
                    <a:lstStyle/>
                    <a:p>
                      <a:pPr indent="0" lvl="0" marL="0" marR="0" rtl="0" algn="ctr">
                        <a:lnSpc>
                          <a:spcPct val="115000"/>
                        </a:lnSpc>
                        <a:spcBef>
                          <a:spcPts val="0"/>
                        </a:spcBef>
                        <a:spcAft>
                          <a:spcPts val="0"/>
                        </a:spcAft>
                        <a:buClr>
                          <a:srgbClr val="000000"/>
                        </a:buClr>
                        <a:buSzPts val="1100"/>
                        <a:buFont typeface="Arial"/>
                        <a:buNone/>
                      </a:pPr>
                      <a:r>
                        <a:rPr lang="en-US" sz="1100"/>
                        <a:t>6</a:t>
                      </a:r>
                      <a:endParaRPr sz="1100" u="none" cap="none" strike="noStrike">
                        <a:latin typeface="Calibri"/>
                        <a:ea typeface="Calibri"/>
                        <a:cs typeface="Calibri"/>
                        <a:sym typeface="Calibri"/>
                      </a:endParaRPr>
                    </a:p>
                  </a:txBody>
                  <a:tcPr marT="0" marB="0" marR="68575" marL="68575">
                    <a:lnR cap="flat" cmpd="sng" w="12700">
                      <a:solidFill>
                        <a:srgbClr val="FFFFFF"/>
                      </a:solidFill>
                      <a:prstDash val="solid"/>
                      <a:round/>
                      <a:headEnd len="sm" w="sm" type="none"/>
                      <a:tailEnd len="sm" w="sm" type="none"/>
                    </a:lnR>
                  </a:tcPr>
                </a:tc>
                <a:tc>
                  <a:txBody>
                    <a:bodyPr/>
                    <a:lstStyle/>
                    <a:p>
                      <a:pPr indent="0" lvl="0" marL="0" rtl="0" algn="l">
                        <a:lnSpc>
                          <a:spcPct val="115000"/>
                        </a:lnSpc>
                        <a:spcBef>
                          <a:spcPts val="0"/>
                        </a:spcBef>
                        <a:spcAft>
                          <a:spcPts val="0"/>
                        </a:spcAft>
                        <a:buClr>
                          <a:srgbClr val="000000"/>
                        </a:buClr>
                        <a:buSzPts val="1100"/>
                        <a:buFont typeface="Arial"/>
                        <a:buNone/>
                      </a:pPr>
                      <a:r>
                        <a:rPr lang="en-US" sz="1200">
                          <a:latin typeface="Times New Roman"/>
                          <a:ea typeface="Times New Roman"/>
                          <a:cs typeface="Times New Roman"/>
                          <a:sym typeface="Times New Roman"/>
                        </a:rPr>
                        <a:t>“Forecasting of Daily Air Quality Index in Delhi”</a:t>
                      </a:r>
                      <a:endParaRPr sz="1100" u="none" cap="none" strike="noStrike">
                        <a:latin typeface="Times New Roman"/>
                        <a:ea typeface="Times New Roman"/>
                        <a:cs typeface="Times New Roman"/>
                        <a:sym typeface="Times New Roman"/>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Clr>
                          <a:srgbClr val="000000"/>
                        </a:buClr>
                        <a:buSzPts val="1100"/>
                        <a:buFont typeface="Arial"/>
                        <a:buNone/>
                      </a:pPr>
                      <a:r>
                        <a:rPr lang="en-US" sz="1200">
                          <a:latin typeface="Times New Roman"/>
                          <a:ea typeface="Times New Roman"/>
                          <a:cs typeface="Times New Roman"/>
                          <a:sym typeface="Times New Roman"/>
                        </a:rPr>
                        <a:t>To forecast the Daily Air Quality index in Delhi to improve the decision making process of the Government and help people take necessary measures.</a:t>
                      </a:r>
                      <a:endParaRPr sz="1100" u="none" cap="none" strike="noStrike">
                        <a:latin typeface="Times New Roman"/>
                        <a:ea typeface="Times New Roman"/>
                        <a:cs typeface="Times New Roman"/>
                        <a:sym typeface="Times New Roman"/>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Clr>
                          <a:srgbClr val="000000"/>
                        </a:buClr>
                        <a:buSzPts val="1100"/>
                        <a:buFont typeface="Arial"/>
                        <a:buNone/>
                      </a:pPr>
                      <a:r>
                        <a:rPr lang="en-US" sz="1200">
                          <a:latin typeface="Times New Roman"/>
                          <a:ea typeface="Times New Roman"/>
                          <a:cs typeface="Times New Roman"/>
                          <a:sym typeface="Times New Roman"/>
                        </a:rPr>
                        <a:t>3 different models were built; ARIMA, PCR (a combination of PCA and MLR), and a combination of the aforesaid 2 models.</a:t>
                      </a:r>
                      <a:endParaRPr sz="1100" u="none" cap="none" strike="noStrike">
                        <a:latin typeface="Times New Roman"/>
                        <a:ea typeface="Times New Roman"/>
                        <a:cs typeface="Times New Roman"/>
                        <a:sym typeface="Times New Roman"/>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1000"/>
                        </a:spcAft>
                        <a:buClr>
                          <a:srgbClr val="000000"/>
                        </a:buClr>
                        <a:buSzPts val="1100"/>
                        <a:buFont typeface="Arial"/>
                        <a:buNone/>
                      </a:pPr>
                      <a:r>
                        <a:rPr lang="en-US" sz="1200">
                          <a:latin typeface="Times New Roman"/>
                          <a:ea typeface="Times New Roman"/>
                          <a:cs typeface="Times New Roman"/>
                          <a:sym typeface="Times New Roman"/>
                        </a:rPr>
                        <a:t>The 3rd model; a combination of PCR and ARIMA, seemed to understand the underlying correlations and patterns between the data points to give the best results.</a:t>
                      </a:r>
                      <a:endParaRPr sz="1100" u="none" cap="none" strike="noStrike">
                        <a:latin typeface="Times New Roman"/>
                        <a:ea typeface="Times New Roman"/>
                        <a:cs typeface="Times New Roman"/>
                        <a:sym typeface="Times New Roman"/>
                      </a:endParaRPr>
                    </a:p>
                  </a:txBody>
                  <a:tcPr marT="0" marB="0" marR="68575" marL="68575">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bl>
          </a:graphicData>
        </a:graphic>
      </p:graphicFrame>
      <p:sp>
        <p:nvSpPr>
          <p:cNvPr id="167" name="Google Shape;167;p20"/>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1"/>
          <p:cNvSpPr txBox="1"/>
          <p:nvPr>
            <p:ph idx="1" type="body"/>
          </p:nvPr>
        </p:nvSpPr>
        <p:spPr>
          <a:xfrm>
            <a:off x="1299829" y="180264"/>
            <a:ext cx="63942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Existing</a:t>
            </a:r>
            <a:r>
              <a:rPr b="1" lang="en-US" sz="2800">
                <a:solidFill>
                  <a:srgbClr val="1581AA"/>
                </a:solidFill>
                <a:latin typeface="Calibri"/>
                <a:ea typeface="Calibri"/>
                <a:cs typeface="Calibri"/>
                <a:sym typeface="Calibri"/>
              </a:rPr>
              <a:t> </a:t>
            </a:r>
            <a:r>
              <a:rPr lang="en-US" sz="3600">
                <a:solidFill>
                  <a:schemeClr val="dk2"/>
                </a:solidFill>
                <a:latin typeface="Libre Franklin"/>
                <a:ea typeface="Libre Franklin"/>
                <a:cs typeface="Libre Franklin"/>
                <a:sym typeface="Libre Franklin"/>
              </a:rPr>
              <a:t>System</a:t>
            </a:r>
            <a:endParaRPr sz="3600">
              <a:solidFill>
                <a:schemeClr val="dk2"/>
              </a:solidFill>
              <a:latin typeface="Libre Franklin"/>
              <a:ea typeface="Libre Franklin"/>
              <a:cs typeface="Libre Franklin"/>
              <a:sym typeface="Libre Franklin"/>
            </a:endParaRPr>
          </a:p>
        </p:txBody>
      </p:sp>
      <p:sp>
        <p:nvSpPr>
          <p:cNvPr id="173" name="Google Shape;173;p21"/>
          <p:cNvSpPr txBox="1"/>
          <p:nvPr>
            <p:ph idx="3" type="body"/>
          </p:nvPr>
        </p:nvSpPr>
        <p:spPr>
          <a:xfrm>
            <a:off x="453400" y="1062575"/>
            <a:ext cx="8328900" cy="49596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SzPts val="1400"/>
              <a:buNone/>
            </a:pPr>
            <a:r>
              <a:rPr lang="en-US" sz="1600">
                <a:latin typeface="Times New Roman"/>
                <a:ea typeface="Times New Roman"/>
                <a:cs typeface="Times New Roman"/>
                <a:sym typeface="Times New Roman"/>
              </a:rPr>
              <a:t>Many AQI monitoring systems exist in the market. Many stations are present in Bangalore itself. </a:t>
            </a:r>
            <a:endParaRPr sz="1600">
              <a:latin typeface="Times New Roman"/>
              <a:ea typeface="Times New Roman"/>
              <a:cs typeface="Times New Roman"/>
              <a:sym typeface="Times New Roman"/>
            </a:endParaRPr>
          </a:p>
          <a:p>
            <a:pPr indent="0" lvl="0" marL="0" rtl="0" algn="just">
              <a:lnSpc>
                <a:spcPct val="150000"/>
              </a:lnSpc>
              <a:spcBef>
                <a:spcPts val="600"/>
              </a:spcBef>
              <a:spcAft>
                <a:spcPts val="0"/>
              </a:spcAft>
              <a:buSzPts val="1400"/>
              <a:buNone/>
            </a:pPr>
            <a:r>
              <a:rPr lang="en-US" sz="1600">
                <a:latin typeface="Times New Roman"/>
                <a:ea typeface="Times New Roman"/>
                <a:cs typeface="Times New Roman"/>
                <a:sym typeface="Times New Roman"/>
              </a:rPr>
              <a:t>However, there are a very few websites that make use of the abundantly available data to forecast the future AQI. Those that do predict the AQI for Bengaluru as a whole. Here’s the problem with that approach: </a:t>
            </a:r>
            <a:endParaRPr sz="1600">
              <a:latin typeface="Times New Roman"/>
              <a:ea typeface="Times New Roman"/>
              <a:cs typeface="Times New Roman"/>
              <a:sym typeface="Times New Roman"/>
            </a:endParaRPr>
          </a:p>
          <a:p>
            <a:pPr indent="0" lvl="0" marL="0" rtl="0" algn="just">
              <a:lnSpc>
                <a:spcPct val="150000"/>
              </a:lnSpc>
              <a:spcBef>
                <a:spcPts val="600"/>
              </a:spcBef>
              <a:spcAft>
                <a:spcPts val="0"/>
              </a:spcAft>
              <a:buSzPts val="1400"/>
              <a:buNone/>
            </a:pPr>
            <a:r>
              <a:t/>
            </a:r>
            <a:endParaRPr sz="1600">
              <a:latin typeface="Times New Roman"/>
              <a:ea typeface="Times New Roman"/>
              <a:cs typeface="Times New Roman"/>
              <a:sym typeface="Times New Roman"/>
            </a:endParaRPr>
          </a:p>
          <a:p>
            <a:pPr indent="0" lvl="0" marL="0" rtl="0" algn="just">
              <a:lnSpc>
                <a:spcPct val="150000"/>
              </a:lnSpc>
              <a:spcBef>
                <a:spcPts val="600"/>
              </a:spcBef>
              <a:spcAft>
                <a:spcPts val="0"/>
              </a:spcAft>
              <a:buSzPts val="1400"/>
              <a:buNone/>
            </a:pPr>
            <a:r>
              <a:t/>
            </a:r>
            <a:endParaRPr sz="1600">
              <a:latin typeface="Times New Roman"/>
              <a:ea typeface="Times New Roman"/>
              <a:cs typeface="Times New Roman"/>
              <a:sym typeface="Times New Roman"/>
            </a:endParaRPr>
          </a:p>
          <a:p>
            <a:pPr indent="0" lvl="0" marL="0" rtl="0" algn="just">
              <a:lnSpc>
                <a:spcPct val="150000"/>
              </a:lnSpc>
              <a:spcBef>
                <a:spcPts val="600"/>
              </a:spcBef>
              <a:spcAft>
                <a:spcPts val="0"/>
              </a:spcAft>
              <a:buSzPts val="1400"/>
              <a:buNone/>
            </a:pPr>
            <a:r>
              <a:t/>
            </a:r>
            <a:endParaRPr sz="1600">
              <a:latin typeface="Times New Roman"/>
              <a:ea typeface="Times New Roman"/>
              <a:cs typeface="Times New Roman"/>
              <a:sym typeface="Times New Roman"/>
            </a:endParaRPr>
          </a:p>
          <a:p>
            <a:pPr indent="0" lvl="0" marL="0" rtl="0" algn="just">
              <a:lnSpc>
                <a:spcPct val="150000"/>
              </a:lnSpc>
              <a:spcBef>
                <a:spcPts val="600"/>
              </a:spcBef>
              <a:spcAft>
                <a:spcPts val="0"/>
              </a:spcAft>
              <a:buSzPts val="1400"/>
              <a:buNone/>
            </a:pPr>
            <a:r>
              <a:t/>
            </a:r>
            <a:endParaRPr sz="1600">
              <a:latin typeface="Times New Roman"/>
              <a:ea typeface="Times New Roman"/>
              <a:cs typeface="Times New Roman"/>
              <a:sym typeface="Times New Roman"/>
            </a:endParaRPr>
          </a:p>
          <a:p>
            <a:pPr indent="0" lvl="0" marL="0" rtl="0" algn="just">
              <a:lnSpc>
                <a:spcPct val="150000"/>
              </a:lnSpc>
              <a:spcBef>
                <a:spcPts val="600"/>
              </a:spcBef>
              <a:spcAft>
                <a:spcPts val="0"/>
              </a:spcAft>
              <a:buSzPts val="1400"/>
              <a:buNone/>
            </a:pPr>
            <a:r>
              <a:t/>
            </a:r>
            <a:endParaRPr sz="1600">
              <a:latin typeface="Times New Roman"/>
              <a:ea typeface="Times New Roman"/>
              <a:cs typeface="Times New Roman"/>
              <a:sym typeface="Times New Roman"/>
            </a:endParaRPr>
          </a:p>
          <a:p>
            <a:pPr indent="0" lvl="0" marL="0" rtl="0" algn="just">
              <a:lnSpc>
                <a:spcPct val="150000"/>
              </a:lnSpc>
              <a:spcBef>
                <a:spcPts val="600"/>
              </a:spcBef>
              <a:spcAft>
                <a:spcPts val="600"/>
              </a:spcAft>
              <a:buSzPts val="1400"/>
              <a:buNone/>
            </a:pPr>
            <a:r>
              <a:rPr lang="en-US" sz="1600">
                <a:latin typeface="Times New Roman"/>
                <a:ea typeface="Times New Roman"/>
                <a:cs typeface="Times New Roman"/>
                <a:sym typeface="Times New Roman"/>
              </a:rPr>
              <a:t>Interestingly, during our research, we found out that the existing forecasts are pure timeseries based forecasts, without taking into account the external factors.</a:t>
            </a:r>
            <a:endParaRPr sz="1600">
              <a:latin typeface="Times New Roman"/>
              <a:ea typeface="Times New Roman"/>
              <a:cs typeface="Times New Roman"/>
              <a:sym typeface="Times New Roman"/>
            </a:endParaRPr>
          </a:p>
        </p:txBody>
      </p:sp>
      <p:sp>
        <p:nvSpPr>
          <p:cNvPr id="174" name="Google Shape;174;p21"/>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175" name="Google Shape;175;p21"/>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pic>
        <p:nvPicPr>
          <p:cNvPr id="176" name="Google Shape;176;p21"/>
          <p:cNvPicPr preferRelativeResize="0"/>
          <p:nvPr/>
        </p:nvPicPr>
        <p:blipFill>
          <a:blip r:embed="rId3">
            <a:alphaModFix/>
          </a:blip>
          <a:stretch>
            <a:fillRect/>
          </a:stretch>
        </p:blipFill>
        <p:spPr>
          <a:xfrm>
            <a:off x="796311" y="2651200"/>
            <a:ext cx="7401250" cy="2048789"/>
          </a:xfrm>
          <a:prstGeom prst="rect">
            <a:avLst/>
          </a:prstGeom>
          <a:noFill/>
          <a:ln>
            <a:noFill/>
          </a:ln>
        </p:spPr>
      </p:pic>
      <p:sp>
        <p:nvSpPr>
          <p:cNvPr id="177" name="Google Shape;177;p21"/>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txBox="1"/>
          <p:nvPr>
            <p:ph idx="1" type="body"/>
          </p:nvPr>
        </p:nvSpPr>
        <p:spPr>
          <a:xfrm>
            <a:off x="742948" y="78872"/>
            <a:ext cx="75381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Proposed System</a:t>
            </a:r>
            <a:endParaRPr sz="3600">
              <a:solidFill>
                <a:schemeClr val="dk2"/>
              </a:solidFill>
              <a:latin typeface="Libre Franklin"/>
              <a:ea typeface="Libre Franklin"/>
              <a:cs typeface="Libre Franklin"/>
              <a:sym typeface="Libre Franklin"/>
            </a:endParaRPr>
          </a:p>
        </p:txBody>
      </p:sp>
      <p:sp>
        <p:nvSpPr>
          <p:cNvPr id="183" name="Google Shape;183;p22"/>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184" name="Google Shape;184;p22"/>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85" name="Google Shape;185;p22"/>
          <p:cNvSpPr txBox="1"/>
          <p:nvPr/>
        </p:nvSpPr>
        <p:spPr>
          <a:xfrm>
            <a:off x="742950" y="961200"/>
            <a:ext cx="8011200" cy="5175000"/>
          </a:xfrm>
          <a:prstGeom prst="rect">
            <a:avLst/>
          </a:prstGeom>
          <a:noFill/>
          <a:ln>
            <a:noFill/>
          </a:ln>
        </p:spPr>
        <p:txBody>
          <a:bodyPr anchorCtr="0" anchor="t" bIns="91425" lIns="91425" spcFirstLastPara="1" rIns="91425" wrap="square" tIns="91425">
            <a:noAutofit/>
          </a:bodyPr>
          <a:lstStyle/>
          <a:p>
            <a:pPr indent="-317500" lvl="0" marL="457200" rtl="0" algn="just">
              <a:lnSpc>
                <a:spcPct val="150000"/>
              </a:lnSpc>
              <a:spcBef>
                <a:spcPts val="0"/>
              </a:spcBef>
              <a:spcAft>
                <a:spcPts val="0"/>
              </a:spcAft>
              <a:buSzPts val="1400"/>
              <a:buFont typeface="Times New Roman"/>
              <a:buChar char="●"/>
            </a:pPr>
            <a:r>
              <a:rPr lang="en-US">
                <a:solidFill>
                  <a:srgbClr val="000000"/>
                </a:solidFill>
                <a:latin typeface="Times New Roman"/>
                <a:ea typeface="Times New Roman"/>
                <a:cs typeface="Times New Roman"/>
                <a:sym typeface="Times New Roman"/>
              </a:rPr>
              <a:t>We propose to build an IoT device using Arduino Uno and several sensors to detect pollutants such as Particulate Matter, Ozone, Carbon Monoxide, etc. Using hourly values of these sensors, we will calculate the sub indices of each pollutant and hence the AQI. AQI will be calculated per day.</a:t>
            </a:r>
            <a:endParaRPr>
              <a:solidFill>
                <a:srgbClr val="000000"/>
              </a:solidFill>
              <a:latin typeface="Times New Roman"/>
              <a:ea typeface="Times New Roman"/>
              <a:cs typeface="Times New Roman"/>
              <a:sym typeface="Times New Roman"/>
            </a:endParaRPr>
          </a:p>
          <a:p>
            <a:pPr indent="-317500" lvl="0" marL="457200" rtl="0" algn="just">
              <a:lnSpc>
                <a:spcPct val="150000"/>
              </a:lnSpc>
              <a:spcBef>
                <a:spcPts val="1000"/>
              </a:spcBef>
              <a:spcAft>
                <a:spcPts val="0"/>
              </a:spcAft>
              <a:buSzPts val="1400"/>
              <a:buFont typeface="Times New Roman"/>
              <a:buChar char="●"/>
            </a:pPr>
            <a:r>
              <a:rPr lang="en-US">
                <a:solidFill>
                  <a:srgbClr val="000000"/>
                </a:solidFill>
                <a:latin typeface="Times New Roman"/>
                <a:ea typeface="Times New Roman"/>
                <a:cs typeface="Times New Roman"/>
                <a:sym typeface="Times New Roman"/>
              </a:rPr>
              <a:t>Using the </a:t>
            </a:r>
            <a:r>
              <a:rPr lang="en-US">
                <a:latin typeface="Times New Roman"/>
                <a:ea typeface="Times New Roman"/>
                <a:cs typeface="Times New Roman"/>
                <a:sym typeface="Times New Roman"/>
              </a:rPr>
              <a:t>AQI data collected from the open source database of CPCB and the IoT device, </a:t>
            </a:r>
            <a:r>
              <a:rPr lang="en-US">
                <a:solidFill>
                  <a:srgbClr val="000000"/>
                </a:solidFill>
                <a:latin typeface="Times New Roman"/>
                <a:ea typeface="Times New Roman"/>
                <a:cs typeface="Times New Roman"/>
                <a:sym typeface="Times New Roman"/>
              </a:rPr>
              <a:t> we aim to build a Machine Learning model to forecast the AQI for the coming few days in Jayanagar region. </a:t>
            </a:r>
            <a:endParaRPr>
              <a:solidFill>
                <a:srgbClr val="000000"/>
              </a:solidFill>
              <a:latin typeface="Times New Roman"/>
              <a:ea typeface="Times New Roman"/>
              <a:cs typeface="Times New Roman"/>
              <a:sym typeface="Times New Roman"/>
            </a:endParaRPr>
          </a:p>
          <a:p>
            <a:pPr indent="-317500" lvl="0" marL="457200" rtl="0" algn="just">
              <a:lnSpc>
                <a:spcPct val="150000"/>
              </a:lnSpc>
              <a:spcBef>
                <a:spcPts val="1000"/>
              </a:spcBef>
              <a:spcAft>
                <a:spcPts val="0"/>
              </a:spcAft>
              <a:buSzPts val="1400"/>
              <a:buFont typeface="Times New Roman"/>
              <a:buChar char="●"/>
            </a:pPr>
            <a:r>
              <a:rPr lang="en-US">
                <a:solidFill>
                  <a:srgbClr val="000000"/>
                </a:solidFill>
                <a:latin typeface="Times New Roman"/>
                <a:ea typeface="Times New Roman"/>
                <a:cs typeface="Times New Roman"/>
                <a:sym typeface="Times New Roman"/>
              </a:rPr>
              <a:t>Why only this region? Because the AQI at any given time varies all over Bangalore. Hence, if we can model one area accurately, repeating the same for all other areas should be easy.</a:t>
            </a:r>
            <a:endParaRPr>
              <a:solidFill>
                <a:srgbClr val="000000"/>
              </a:solidFill>
              <a:latin typeface="Times New Roman"/>
              <a:ea typeface="Times New Roman"/>
              <a:cs typeface="Times New Roman"/>
              <a:sym typeface="Times New Roman"/>
            </a:endParaRPr>
          </a:p>
          <a:p>
            <a:pPr indent="-317500" lvl="0" marL="457200" rtl="0" algn="just">
              <a:lnSpc>
                <a:spcPct val="150000"/>
              </a:lnSpc>
              <a:spcBef>
                <a:spcPts val="1000"/>
              </a:spcBef>
              <a:spcAft>
                <a:spcPts val="0"/>
              </a:spcAft>
              <a:buSzPts val="1400"/>
              <a:buFont typeface="Times New Roman"/>
              <a:buChar char="●"/>
            </a:pPr>
            <a:r>
              <a:rPr lang="en-US">
                <a:latin typeface="Times New Roman"/>
                <a:ea typeface="Times New Roman"/>
                <a:cs typeface="Times New Roman"/>
                <a:sym typeface="Times New Roman"/>
              </a:rPr>
              <a:t>We have built a website that displays:</a:t>
            </a:r>
            <a:endParaRPr>
              <a:latin typeface="Times New Roman"/>
              <a:ea typeface="Times New Roman"/>
              <a:cs typeface="Times New Roman"/>
              <a:sym typeface="Times New Roman"/>
            </a:endParaRPr>
          </a:p>
          <a:p>
            <a:pPr indent="-342900" lvl="1" marL="914400" rtl="0" algn="just">
              <a:lnSpc>
                <a:spcPct val="150000"/>
              </a:lnSpc>
              <a:spcBef>
                <a:spcPts val="1000"/>
              </a:spcBef>
              <a:spcAft>
                <a:spcPts val="0"/>
              </a:spcAft>
              <a:buSzPts val="1800"/>
              <a:buFont typeface="Times New Roman"/>
              <a:buChar char="○"/>
            </a:pPr>
            <a:r>
              <a:rPr lang="en-US">
                <a:latin typeface="Times New Roman"/>
                <a:ea typeface="Times New Roman"/>
                <a:cs typeface="Times New Roman"/>
                <a:sym typeface="Times New Roman"/>
              </a:rPr>
              <a:t>Current AQI</a:t>
            </a:r>
            <a:endParaRPr>
              <a:latin typeface="Times New Roman"/>
              <a:ea typeface="Times New Roman"/>
              <a:cs typeface="Times New Roman"/>
              <a:sym typeface="Times New Roman"/>
            </a:endParaRPr>
          </a:p>
          <a:p>
            <a:pPr indent="-342900" lvl="1" marL="914400" rtl="0" algn="just">
              <a:lnSpc>
                <a:spcPct val="150000"/>
              </a:lnSpc>
              <a:spcBef>
                <a:spcPts val="1000"/>
              </a:spcBef>
              <a:spcAft>
                <a:spcPts val="0"/>
              </a:spcAft>
              <a:buSzPts val="1800"/>
              <a:buFont typeface="Times New Roman"/>
              <a:buChar char="○"/>
            </a:pPr>
            <a:r>
              <a:rPr lang="en-US">
                <a:latin typeface="Times New Roman"/>
                <a:ea typeface="Times New Roman"/>
                <a:cs typeface="Times New Roman"/>
                <a:sym typeface="Times New Roman"/>
              </a:rPr>
              <a:t>Forecasted AQI for the next 5 days</a:t>
            </a:r>
            <a:endParaRPr>
              <a:latin typeface="Times New Roman"/>
              <a:ea typeface="Times New Roman"/>
              <a:cs typeface="Times New Roman"/>
              <a:sym typeface="Times New Roman"/>
            </a:endParaRPr>
          </a:p>
          <a:p>
            <a:pPr indent="-342900" lvl="1" marL="914400" rtl="0" algn="just">
              <a:lnSpc>
                <a:spcPct val="150000"/>
              </a:lnSpc>
              <a:spcBef>
                <a:spcPts val="1000"/>
              </a:spcBef>
              <a:spcAft>
                <a:spcPts val="0"/>
              </a:spcAft>
              <a:buSzPts val="1800"/>
              <a:buFont typeface="Times New Roman"/>
              <a:buChar char="○"/>
            </a:pPr>
            <a:r>
              <a:rPr lang="en-US">
                <a:latin typeface="Times New Roman"/>
                <a:ea typeface="Times New Roman"/>
                <a:cs typeface="Times New Roman"/>
                <a:sym typeface="Times New Roman"/>
              </a:rPr>
              <a:t>Control Measures and Precautionary Measures</a:t>
            </a:r>
            <a:endParaRPr>
              <a:latin typeface="Times New Roman"/>
              <a:ea typeface="Times New Roman"/>
              <a:cs typeface="Times New Roman"/>
              <a:sym typeface="Times New Roman"/>
            </a:endParaRPr>
          </a:p>
          <a:p>
            <a:pPr indent="0" lvl="0" marL="457200" rtl="0" algn="just">
              <a:lnSpc>
                <a:spcPct val="150000"/>
              </a:lnSpc>
              <a:spcBef>
                <a:spcPts val="1000"/>
              </a:spcBef>
              <a:spcAft>
                <a:spcPts val="1000"/>
              </a:spcAft>
              <a:buNone/>
            </a:pPr>
            <a:r>
              <a:t/>
            </a:r>
            <a:endParaRPr>
              <a:solidFill>
                <a:srgbClr val="000000"/>
              </a:solidFill>
              <a:latin typeface="Times New Roman"/>
              <a:ea typeface="Times New Roman"/>
              <a:cs typeface="Times New Roman"/>
              <a:sym typeface="Times New Roman"/>
            </a:endParaRPr>
          </a:p>
        </p:txBody>
      </p:sp>
      <p:sp>
        <p:nvSpPr>
          <p:cNvPr id="186" name="Google Shape;186;p22"/>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3"/>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Problem Statement</a:t>
            </a:r>
            <a:endParaRPr sz="3600">
              <a:solidFill>
                <a:schemeClr val="dk2"/>
              </a:solidFill>
              <a:latin typeface="Libre Franklin"/>
              <a:ea typeface="Libre Franklin"/>
              <a:cs typeface="Libre Franklin"/>
              <a:sym typeface="Libre Franklin"/>
            </a:endParaRPr>
          </a:p>
        </p:txBody>
      </p:sp>
      <p:sp>
        <p:nvSpPr>
          <p:cNvPr id="192" name="Google Shape;192;p23"/>
          <p:cNvSpPr txBox="1"/>
          <p:nvPr>
            <p:ph idx="3" type="body"/>
          </p:nvPr>
        </p:nvSpPr>
        <p:spPr>
          <a:xfrm>
            <a:off x="917193" y="1907722"/>
            <a:ext cx="7309614" cy="349895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1000"/>
              </a:spcAft>
              <a:buClr>
                <a:schemeClr val="dk1"/>
              </a:buClr>
              <a:buSzPts val="1100"/>
              <a:buFont typeface="Arial"/>
              <a:buNone/>
            </a:pPr>
            <a:r>
              <a:rPr lang="en-US" sz="1600">
                <a:latin typeface="Times New Roman"/>
                <a:ea typeface="Times New Roman"/>
                <a:cs typeface="Times New Roman"/>
                <a:sym typeface="Times New Roman"/>
              </a:rPr>
              <a:t>To build an intelligent device that has the ability to monitor, forecast and control air pollution by leveraging booming technologies like IoT and Data Science.</a:t>
            </a:r>
            <a:endParaRPr sz="2400">
              <a:latin typeface="Times New Roman"/>
              <a:ea typeface="Times New Roman"/>
              <a:cs typeface="Times New Roman"/>
              <a:sym typeface="Times New Roman"/>
            </a:endParaRPr>
          </a:p>
        </p:txBody>
      </p:sp>
      <p:sp>
        <p:nvSpPr>
          <p:cNvPr id="193" name="Google Shape;193;p23"/>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194" name="Google Shape;194;p23"/>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95" name="Google Shape;195;p23"/>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4"/>
          <p:cNvSpPr txBox="1"/>
          <p:nvPr>
            <p:ph idx="1" type="body"/>
          </p:nvPr>
        </p:nvSpPr>
        <p:spPr>
          <a:xfrm>
            <a:off x="688623" y="476672"/>
            <a:ext cx="7538100" cy="882300"/>
          </a:xfrm>
          <a:prstGeom prst="rect">
            <a:avLst/>
          </a:prstGeom>
          <a:noFill/>
          <a:ln>
            <a:noFill/>
          </a:ln>
        </p:spPr>
        <p:txBody>
          <a:bodyPr anchorCtr="0" anchor="t" bIns="91425" lIns="91425" spcFirstLastPara="1" rIns="91425" wrap="square" tIns="91425">
            <a:noAutofit/>
          </a:bodyPr>
          <a:lstStyle/>
          <a:p>
            <a:pPr indent="-228600" lvl="0" marL="457200" rtl="0" algn="ctr">
              <a:spcBef>
                <a:spcPts val="0"/>
              </a:spcBef>
              <a:spcAft>
                <a:spcPts val="0"/>
              </a:spcAft>
              <a:buSzPts val="1400"/>
              <a:buNone/>
            </a:pPr>
            <a:r>
              <a:rPr b="1" lang="en-US"/>
              <a:t>SYSTEM REQUIREMENT SPECIFICATION</a:t>
            </a:r>
            <a:endParaRPr/>
          </a:p>
        </p:txBody>
      </p:sp>
      <p:sp>
        <p:nvSpPr>
          <p:cNvPr id="201" name="Google Shape;201;p24"/>
          <p:cNvSpPr txBox="1"/>
          <p:nvPr>
            <p:ph idx="3" type="body"/>
          </p:nvPr>
        </p:nvSpPr>
        <p:spPr>
          <a:xfrm>
            <a:off x="917193" y="1907722"/>
            <a:ext cx="7309500" cy="349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800" u="sng">
                <a:latin typeface="Times New Roman"/>
                <a:ea typeface="Times New Roman"/>
                <a:cs typeface="Times New Roman"/>
                <a:sym typeface="Times New Roman"/>
              </a:rPr>
              <a:t>Functional Requirements</a:t>
            </a:r>
            <a:endParaRPr b="1" sz="1800" u="sng">
              <a:latin typeface="Times New Roman"/>
              <a:ea typeface="Times New Roman"/>
              <a:cs typeface="Times New Roman"/>
              <a:sym typeface="Times New Roman"/>
            </a:endParaRPr>
          </a:p>
          <a:p>
            <a:pPr indent="0" lvl="0" marL="0" rtl="0" algn="l">
              <a:lnSpc>
                <a:spcPct val="115000"/>
              </a:lnSpc>
              <a:spcBef>
                <a:spcPts val="1000"/>
              </a:spcBef>
              <a:spcAft>
                <a:spcPts val="0"/>
              </a:spcAft>
              <a:buClr>
                <a:schemeClr val="dk1"/>
              </a:buClr>
              <a:buSzPts val="1100"/>
              <a:buFont typeface="Arial"/>
              <a:buNone/>
            </a:pPr>
            <a:r>
              <a:t/>
            </a:r>
            <a:endParaRPr b="1" sz="1800" u="sng">
              <a:latin typeface="Times New Roman"/>
              <a:ea typeface="Times New Roman"/>
              <a:cs typeface="Times New Roman"/>
              <a:sym typeface="Times New Roman"/>
            </a:endParaRPr>
          </a:p>
          <a:p>
            <a:pPr indent="-311150" lvl="0" marL="457200" rtl="0" algn="l">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Connectivity</a:t>
            </a:r>
            <a:r>
              <a:rPr lang="en-US" sz="1300">
                <a:latin typeface="Times New Roman"/>
                <a:ea typeface="Times New Roman"/>
                <a:cs typeface="Times New Roman"/>
                <a:sym typeface="Times New Roman"/>
              </a:rPr>
              <a:t>: Ability of the system to connect and communicate with various sensors, devices and networks</a:t>
            </a:r>
            <a:endParaRPr sz="1300">
              <a:latin typeface="Times New Roman"/>
              <a:ea typeface="Times New Roman"/>
              <a:cs typeface="Times New Roman"/>
              <a:sym typeface="Times New Roman"/>
            </a:endParaRPr>
          </a:p>
          <a:p>
            <a:pPr indent="-311150" lvl="0" marL="457200" rtl="0" algn="l">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Data collection and storage</a:t>
            </a:r>
            <a:r>
              <a:rPr lang="en-US" sz="1300">
                <a:latin typeface="Times New Roman"/>
                <a:ea typeface="Times New Roman"/>
                <a:cs typeface="Times New Roman"/>
                <a:sym typeface="Times New Roman"/>
              </a:rPr>
              <a:t>: Ability of the system to collect data from various sensors, store it and upload it the cloud storage</a:t>
            </a:r>
            <a:endParaRPr sz="1300">
              <a:latin typeface="Times New Roman"/>
              <a:ea typeface="Times New Roman"/>
              <a:cs typeface="Times New Roman"/>
              <a:sym typeface="Times New Roman"/>
            </a:endParaRPr>
          </a:p>
          <a:p>
            <a:pPr indent="-311150" lvl="0" marL="457200" rtl="0" algn="l">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Integration</a:t>
            </a:r>
            <a:r>
              <a:rPr lang="en-US" sz="1300">
                <a:latin typeface="Times New Roman"/>
                <a:ea typeface="Times New Roman"/>
                <a:cs typeface="Times New Roman"/>
                <a:sym typeface="Times New Roman"/>
              </a:rPr>
              <a:t>: Ability to integrate the system with other systems like database and cloud offerings</a:t>
            </a:r>
            <a:endParaRPr sz="1300">
              <a:latin typeface="Times New Roman"/>
              <a:ea typeface="Times New Roman"/>
              <a:cs typeface="Times New Roman"/>
              <a:sym typeface="Times New Roman"/>
            </a:endParaRPr>
          </a:p>
          <a:p>
            <a:pPr indent="-311150" lvl="0" marL="457200" rtl="0" algn="l">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Alerts and Notifications</a:t>
            </a:r>
            <a:r>
              <a:rPr lang="en-US" sz="1300">
                <a:latin typeface="Times New Roman"/>
                <a:ea typeface="Times New Roman"/>
                <a:cs typeface="Times New Roman"/>
                <a:sym typeface="Times New Roman"/>
              </a:rPr>
              <a:t>: Ability to issue the appropriate notifications and alerts for specific conditions.</a:t>
            </a:r>
            <a:endParaRPr sz="1300">
              <a:latin typeface="Times New Roman"/>
              <a:ea typeface="Times New Roman"/>
              <a:cs typeface="Times New Roman"/>
              <a:sym typeface="Times New Roman"/>
            </a:endParaRPr>
          </a:p>
          <a:p>
            <a:pPr indent="-311150" lvl="0" marL="457200" rtl="0" algn="l">
              <a:lnSpc>
                <a:spcPct val="150000"/>
              </a:lnSpc>
              <a:spcBef>
                <a:spcPts val="1000"/>
              </a:spcBef>
              <a:spcAft>
                <a:spcPts val="1000"/>
              </a:spcAft>
              <a:buClr>
                <a:schemeClr val="dk1"/>
              </a:buClr>
              <a:buSzPts val="1300"/>
              <a:buFont typeface="Times New Roman"/>
              <a:buAutoNum type="arabicPeriod"/>
            </a:pPr>
            <a:r>
              <a:rPr lang="en-US" sz="1300">
                <a:latin typeface="Times New Roman"/>
                <a:ea typeface="Times New Roman"/>
                <a:cs typeface="Times New Roman"/>
                <a:sym typeface="Times New Roman"/>
              </a:rPr>
              <a:t>Ability to analyse the collected data and perform accurate prediction in real time.</a:t>
            </a:r>
            <a:endParaRPr sz="2700">
              <a:latin typeface="Times New Roman"/>
              <a:ea typeface="Times New Roman"/>
              <a:cs typeface="Times New Roman"/>
              <a:sym typeface="Times New Roman"/>
            </a:endParaRPr>
          </a:p>
        </p:txBody>
      </p:sp>
      <p:sp>
        <p:nvSpPr>
          <p:cNvPr id="202" name="Google Shape;202;p24"/>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03" name="Google Shape;203;p24"/>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04" name="Google Shape;204;p24"/>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5"/>
          <p:cNvSpPr txBox="1"/>
          <p:nvPr>
            <p:ph idx="3" type="body"/>
          </p:nvPr>
        </p:nvSpPr>
        <p:spPr>
          <a:xfrm>
            <a:off x="760950" y="584250"/>
            <a:ext cx="7622100" cy="422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800" u="sng">
                <a:latin typeface="Times New Roman"/>
                <a:ea typeface="Times New Roman"/>
                <a:cs typeface="Times New Roman"/>
                <a:sym typeface="Times New Roman"/>
              </a:rPr>
              <a:t>Non-functional Requirements</a:t>
            </a:r>
            <a:endParaRPr b="1" sz="1800" u="sng">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t/>
            </a:r>
            <a:endParaRPr b="1" sz="1800" u="sng">
              <a:latin typeface="Times New Roman"/>
              <a:ea typeface="Times New Roman"/>
              <a:cs typeface="Times New Roman"/>
              <a:sym typeface="Times New Roman"/>
            </a:endParaRPr>
          </a:p>
          <a:p>
            <a:pPr indent="-311150" lvl="0" marL="457200" rtl="0" algn="just">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Accuracy</a:t>
            </a:r>
            <a:r>
              <a:rPr lang="en-US" sz="1300">
                <a:latin typeface="Times New Roman"/>
                <a:ea typeface="Times New Roman"/>
                <a:cs typeface="Times New Roman"/>
                <a:sym typeface="Times New Roman"/>
              </a:rPr>
              <a:t>: Accuracy is predictions and issuing alerts and notifications should be greater than 97%</a:t>
            </a:r>
            <a:endParaRPr sz="1300">
              <a:latin typeface="Times New Roman"/>
              <a:ea typeface="Times New Roman"/>
              <a:cs typeface="Times New Roman"/>
              <a:sym typeface="Times New Roman"/>
            </a:endParaRPr>
          </a:p>
          <a:p>
            <a:pPr indent="-311150" lvl="0" marL="457200" rtl="0" algn="just">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Reliability</a:t>
            </a:r>
            <a:r>
              <a:rPr lang="en-US" sz="1300">
                <a:latin typeface="Times New Roman"/>
                <a:ea typeface="Times New Roman"/>
                <a:cs typeface="Times New Roman"/>
                <a:sym typeface="Times New Roman"/>
              </a:rPr>
              <a:t>: Ability to ensure consistent and accurate data collection, data analysis and predictions</a:t>
            </a:r>
            <a:endParaRPr sz="1300">
              <a:latin typeface="Times New Roman"/>
              <a:ea typeface="Times New Roman"/>
              <a:cs typeface="Times New Roman"/>
              <a:sym typeface="Times New Roman"/>
            </a:endParaRPr>
          </a:p>
          <a:p>
            <a:pPr indent="-311150" lvl="0" marL="457200" rtl="0" algn="just">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Usability</a:t>
            </a:r>
            <a:r>
              <a:rPr lang="en-US" sz="1300">
                <a:latin typeface="Times New Roman"/>
                <a:ea typeface="Times New Roman"/>
                <a:cs typeface="Times New Roman"/>
                <a:sym typeface="Times New Roman"/>
              </a:rPr>
              <a:t>: Ability to provide an extremely interactive and user friendly interface so that the users can have a good experience using our system</a:t>
            </a:r>
            <a:endParaRPr sz="1300">
              <a:latin typeface="Times New Roman"/>
              <a:ea typeface="Times New Roman"/>
              <a:cs typeface="Times New Roman"/>
              <a:sym typeface="Times New Roman"/>
            </a:endParaRPr>
          </a:p>
          <a:p>
            <a:pPr indent="-311150" lvl="0" marL="457200" rtl="0" algn="just">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Cost Effectiveness</a:t>
            </a:r>
            <a:r>
              <a:rPr lang="en-US" sz="1300">
                <a:latin typeface="Times New Roman"/>
                <a:ea typeface="Times New Roman"/>
                <a:cs typeface="Times New Roman"/>
                <a:sym typeface="Times New Roman"/>
              </a:rPr>
              <a:t>: We want to provide a cost effective solution which is economic and affordable.</a:t>
            </a:r>
            <a:endParaRPr sz="1300">
              <a:latin typeface="Times New Roman"/>
              <a:ea typeface="Times New Roman"/>
              <a:cs typeface="Times New Roman"/>
              <a:sym typeface="Times New Roman"/>
            </a:endParaRPr>
          </a:p>
          <a:p>
            <a:pPr indent="-311150" lvl="0" marL="457200" rtl="0" algn="just">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Robustness</a:t>
            </a:r>
            <a:r>
              <a:rPr lang="en-US" sz="1300">
                <a:latin typeface="Times New Roman"/>
                <a:ea typeface="Times New Roman"/>
                <a:cs typeface="Times New Roman"/>
                <a:sym typeface="Times New Roman"/>
              </a:rPr>
              <a:t>: Ability to work with noisy and corrupted data and filter them out.</a:t>
            </a:r>
            <a:endParaRPr sz="1300">
              <a:latin typeface="Times New Roman"/>
              <a:ea typeface="Times New Roman"/>
              <a:cs typeface="Times New Roman"/>
              <a:sym typeface="Times New Roman"/>
            </a:endParaRPr>
          </a:p>
          <a:p>
            <a:pPr indent="-311150" lvl="0" marL="457200" rtl="0" algn="just">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Scalability</a:t>
            </a:r>
            <a:r>
              <a:rPr lang="en-US" sz="1300">
                <a:latin typeface="Times New Roman"/>
                <a:ea typeface="Times New Roman"/>
                <a:cs typeface="Times New Roman"/>
                <a:sym typeface="Times New Roman"/>
              </a:rPr>
              <a:t>: Ability to handle the enormous amount of data and processing, and also to allow the implementation of more number of devices</a:t>
            </a:r>
            <a:endParaRPr sz="1300">
              <a:latin typeface="Times New Roman"/>
              <a:ea typeface="Times New Roman"/>
              <a:cs typeface="Times New Roman"/>
              <a:sym typeface="Times New Roman"/>
            </a:endParaRPr>
          </a:p>
          <a:p>
            <a:pPr indent="-311150" lvl="0" marL="457200" rtl="0" algn="just">
              <a:lnSpc>
                <a:spcPct val="150000"/>
              </a:lnSpc>
              <a:spcBef>
                <a:spcPts val="1000"/>
              </a:spcBef>
              <a:spcAft>
                <a:spcPts val="1000"/>
              </a:spcAft>
              <a:buClr>
                <a:schemeClr val="dk1"/>
              </a:buClr>
              <a:buSzPts val="1300"/>
              <a:buFont typeface="Times New Roman"/>
              <a:buAutoNum type="arabicPeriod"/>
            </a:pPr>
            <a:r>
              <a:rPr b="1" lang="en-US" sz="1300" u="sng">
                <a:latin typeface="Times New Roman"/>
                <a:ea typeface="Times New Roman"/>
                <a:cs typeface="Times New Roman"/>
                <a:sym typeface="Times New Roman"/>
              </a:rPr>
              <a:t>Supportability</a:t>
            </a:r>
            <a:r>
              <a:rPr lang="en-US" sz="1300">
                <a:latin typeface="Times New Roman"/>
                <a:ea typeface="Times New Roman"/>
                <a:cs typeface="Times New Roman"/>
                <a:sym typeface="Times New Roman"/>
              </a:rPr>
              <a:t>: Ability to perform updates and modifications with ease</a:t>
            </a:r>
            <a:endParaRPr b="1" sz="1900" u="sng">
              <a:latin typeface="Times New Roman"/>
              <a:ea typeface="Times New Roman"/>
              <a:cs typeface="Times New Roman"/>
              <a:sym typeface="Times New Roman"/>
            </a:endParaRPr>
          </a:p>
        </p:txBody>
      </p:sp>
      <p:sp>
        <p:nvSpPr>
          <p:cNvPr id="210" name="Google Shape;210;p25"/>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11" name="Google Shape;211;p25"/>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12" name="Google Shape;212;p25"/>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6"/>
          <p:cNvSpPr txBox="1"/>
          <p:nvPr>
            <p:ph idx="3" type="body"/>
          </p:nvPr>
        </p:nvSpPr>
        <p:spPr>
          <a:xfrm>
            <a:off x="858050" y="825475"/>
            <a:ext cx="3000300" cy="422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b="1" sz="1800">
              <a:latin typeface="Times New Roman"/>
              <a:ea typeface="Times New Roman"/>
              <a:cs typeface="Times New Roman"/>
              <a:sym typeface="Times New Roman"/>
            </a:endParaRPr>
          </a:p>
          <a:p>
            <a:pPr indent="-323850" lvl="0" marL="457200" rtl="0" algn="l">
              <a:spcBef>
                <a:spcPts val="100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Arduino Uno</a:t>
            </a:r>
            <a:endParaRPr sz="14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Breadboard</a:t>
            </a:r>
            <a:endParaRPr sz="14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WiFi module</a:t>
            </a:r>
            <a:endParaRPr sz="14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Connecting Wires</a:t>
            </a:r>
            <a:endParaRPr sz="1400">
              <a:solidFill>
                <a:srgbClr val="000000"/>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Resistor set</a:t>
            </a:r>
            <a:endParaRPr sz="1400">
              <a:solidFill>
                <a:srgbClr val="000000"/>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Capacitors</a:t>
            </a:r>
            <a:endParaRPr sz="1400">
              <a:solidFill>
                <a:srgbClr val="000000"/>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Computer/laptop with internet connection</a:t>
            </a:r>
            <a:endParaRPr sz="1400">
              <a:solidFill>
                <a:srgbClr val="000000"/>
              </a:solidFill>
              <a:latin typeface="Times New Roman"/>
              <a:ea typeface="Times New Roman"/>
              <a:cs typeface="Times New Roman"/>
              <a:sym typeface="Times New Roman"/>
            </a:endParaRPr>
          </a:p>
          <a:p>
            <a:pPr indent="0" lvl="0" marL="457200" rtl="0" algn="just">
              <a:lnSpc>
                <a:spcPct val="150000"/>
              </a:lnSpc>
              <a:spcBef>
                <a:spcPts val="0"/>
              </a:spcBef>
              <a:spcAft>
                <a:spcPts val="1000"/>
              </a:spcAft>
              <a:buNone/>
            </a:pPr>
            <a:r>
              <a:t/>
            </a:r>
            <a:endParaRPr b="1" sz="1900" u="sng">
              <a:latin typeface="Times New Roman"/>
              <a:ea typeface="Times New Roman"/>
              <a:cs typeface="Times New Roman"/>
              <a:sym typeface="Times New Roman"/>
            </a:endParaRPr>
          </a:p>
        </p:txBody>
      </p:sp>
      <p:sp>
        <p:nvSpPr>
          <p:cNvPr id="218" name="Google Shape;218;p26"/>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19" name="Google Shape;219;p26"/>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20" name="Google Shape;220;p26"/>
          <p:cNvSpPr txBox="1"/>
          <p:nvPr>
            <p:ph idx="3" type="body"/>
          </p:nvPr>
        </p:nvSpPr>
        <p:spPr>
          <a:xfrm>
            <a:off x="5696775" y="825475"/>
            <a:ext cx="3000300" cy="422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b="1" sz="1800">
              <a:latin typeface="Times New Roman"/>
              <a:ea typeface="Times New Roman"/>
              <a:cs typeface="Times New Roman"/>
              <a:sym typeface="Times New Roman"/>
            </a:endParaRPr>
          </a:p>
          <a:p>
            <a:pPr indent="-323850" lvl="0" marL="457200" rtl="0" algn="l">
              <a:spcBef>
                <a:spcPts val="100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MQ131 Ozone sensor </a:t>
            </a:r>
            <a:endParaRPr sz="14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MQ135 Air Quality sensor</a:t>
            </a:r>
            <a:endParaRPr sz="14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PM 2.5 Particle sensor</a:t>
            </a:r>
            <a:endParaRPr sz="14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MQ7 CO sensor</a:t>
            </a:r>
            <a:endParaRPr sz="14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DHT11 sensor</a:t>
            </a:r>
            <a:endParaRPr sz="1400">
              <a:solidFill>
                <a:srgbClr val="000000"/>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200">
              <a:solidFill>
                <a:srgbClr val="000000"/>
              </a:solidFill>
              <a:latin typeface="Times New Roman"/>
              <a:ea typeface="Times New Roman"/>
              <a:cs typeface="Times New Roman"/>
              <a:sym typeface="Times New Roman"/>
            </a:endParaRPr>
          </a:p>
          <a:p>
            <a:pPr indent="0" lvl="0" marL="457200" rtl="0" algn="just">
              <a:lnSpc>
                <a:spcPct val="150000"/>
              </a:lnSpc>
              <a:spcBef>
                <a:spcPts val="0"/>
              </a:spcBef>
              <a:spcAft>
                <a:spcPts val="1000"/>
              </a:spcAft>
              <a:buNone/>
            </a:pPr>
            <a:r>
              <a:t/>
            </a:r>
            <a:endParaRPr b="1" sz="1900" u="sng">
              <a:latin typeface="Times New Roman"/>
              <a:ea typeface="Times New Roman"/>
              <a:cs typeface="Times New Roman"/>
              <a:sym typeface="Times New Roman"/>
            </a:endParaRPr>
          </a:p>
        </p:txBody>
      </p:sp>
      <p:sp>
        <p:nvSpPr>
          <p:cNvPr id="221" name="Google Shape;221;p26"/>
          <p:cNvSpPr txBox="1"/>
          <p:nvPr/>
        </p:nvSpPr>
        <p:spPr>
          <a:xfrm>
            <a:off x="3116550" y="493400"/>
            <a:ext cx="2910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Clr>
                <a:schemeClr val="dk1"/>
              </a:buClr>
              <a:buSzPts val="1100"/>
              <a:buFont typeface="Arial"/>
              <a:buNone/>
            </a:pPr>
            <a:r>
              <a:rPr b="1" lang="en-US" sz="1800" u="sng">
                <a:solidFill>
                  <a:schemeClr val="dk1"/>
                </a:solidFill>
                <a:latin typeface="Times New Roman"/>
                <a:ea typeface="Times New Roman"/>
                <a:cs typeface="Times New Roman"/>
                <a:sym typeface="Times New Roman"/>
              </a:rPr>
              <a:t>Hardware Requirements</a:t>
            </a:r>
            <a:endParaRPr>
              <a:latin typeface="Libre Baskerville"/>
              <a:ea typeface="Libre Baskerville"/>
              <a:cs typeface="Libre Baskerville"/>
              <a:sym typeface="Libre Baskerville"/>
            </a:endParaRPr>
          </a:p>
        </p:txBody>
      </p:sp>
      <p:sp>
        <p:nvSpPr>
          <p:cNvPr id="222" name="Google Shape;222;p26"/>
          <p:cNvSpPr txBox="1"/>
          <p:nvPr/>
        </p:nvSpPr>
        <p:spPr>
          <a:xfrm>
            <a:off x="3280650" y="4050125"/>
            <a:ext cx="2582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Software Requirements</a:t>
            </a:r>
            <a:endParaRPr>
              <a:latin typeface="Libre Baskerville"/>
              <a:ea typeface="Libre Baskerville"/>
              <a:cs typeface="Libre Baskerville"/>
              <a:sym typeface="Libre Baskerville"/>
            </a:endParaRPr>
          </a:p>
        </p:txBody>
      </p:sp>
      <p:sp>
        <p:nvSpPr>
          <p:cNvPr id="223" name="Google Shape;223;p26"/>
          <p:cNvSpPr txBox="1"/>
          <p:nvPr>
            <p:ph idx="3" type="body"/>
          </p:nvPr>
        </p:nvSpPr>
        <p:spPr>
          <a:xfrm>
            <a:off x="599750" y="4511825"/>
            <a:ext cx="4107000" cy="1835400"/>
          </a:xfrm>
          <a:prstGeom prst="rect">
            <a:avLst/>
          </a:prstGeom>
          <a:noFill/>
          <a:ln>
            <a:noFill/>
          </a:ln>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Clr>
                <a:schemeClr val="dk1"/>
              </a:buClr>
              <a:buSzPts val="1200"/>
              <a:buFont typeface="Times New Roman"/>
              <a:buChar char="●"/>
            </a:pPr>
            <a:r>
              <a:rPr lang="en-US" sz="1400">
                <a:solidFill>
                  <a:srgbClr val="000000"/>
                </a:solidFill>
                <a:latin typeface="Times New Roman"/>
                <a:ea typeface="Times New Roman"/>
                <a:cs typeface="Times New Roman"/>
                <a:sym typeface="Times New Roman"/>
              </a:rPr>
              <a:t>IDEs such as Visual Studio Code, Google Colab and Arduino IDE</a:t>
            </a:r>
            <a:endParaRPr sz="1400">
              <a:solidFill>
                <a:srgbClr val="000000"/>
              </a:solidFill>
              <a:latin typeface="Times New Roman"/>
              <a:ea typeface="Times New Roman"/>
              <a:cs typeface="Times New Roman"/>
              <a:sym typeface="Times New Roman"/>
            </a:endParaRPr>
          </a:p>
          <a:p>
            <a:pPr indent="-304800" lvl="0" marL="457200" rtl="0" algn="l">
              <a:lnSpc>
                <a:spcPct val="150000"/>
              </a:lnSpc>
              <a:spcBef>
                <a:spcPts val="0"/>
              </a:spcBef>
              <a:spcAft>
                <a:spcPts val="0"/>
              </a:spcAft>
              <a:buClr>
                <a:schemeClr val="dk1"/>
              </a:buClr>
              <a:buSzPts val="1200"/>
              <a:buFont typeface="Times New Roman"/>
              <a:buChar char="●"/>
            </a:pPr>
            <a:r>
              <a:rPr lang="en-US" sz="1400">
                <a:solidFill>
                  <a:srgbClr val="000000"/>
                </a:solidFill>
                <a:latin typeface="Times New Roman"/>
                <a:ea typeface="Times New Roman"/>
                <a:cs typeface="Times New Roman"/>
                <a:sym typeface="Times New Roman"/>
              </a:rPr>
              <a:t>Python and libraries like NumPy, Pandas, Tensorflow</a:t>
            </a:r>
            <a:endParaRPr sz="1200">
              <a:latin typeface="Times New Roman"/>
              <a:ea typeface="Times New Roman"/>
              <a:cs typeface="Times New Roman"/>
              <a:sym typeface="Times New Roman"/>
            </a:endParaRPr>
          </a:p>
          <a:p>
            <a:pPr indent="0" lvl="0" marL="457200" rtl="0" algn="l">
              <a:lnSpc>
                <a:spcPct val="150000"/>
              </a:lnSpc>
              <a:spcBef>
                <a:spcPts val="1000"/>
              </a:spcBef>
              <a:spcAft>
                <a:spcPts val="1000"/>
              </a:spcAft>
              <a:buNone/>
            </a:pPr>
            <a:r>
              <a:t/>
            </a:r>
            <a:endParaRPr b="1" sz="1800">
              <a:latin typeface="Times New Roman"/>
              <a:ea typeface="Times New Roman"/>
              <a:cs typeface="Times New Roman"/>
              <a:sym typeface="Times New Roman"/>
            </a:endParaRPr>
          </a:p>
        </p:txBody>
      </p:sp>
      <p:sp>
        <p:nvSpPr>
          <p:cNvPr id="224" name="Google Shape;224;p26"/>
          <p:cNvSpPr txBox="1"/>
          <p:nvPr/>
        </p:nvSpPr>
        <p:spPr>
          <a:xfrm>
            <a:off x="5279200" y="4511825"/>
            <a:ext cx="3000000" cy="16932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MySQL Database</a:t>
            </a:r>
            <a:endParaRPr>
              <a:latin typeface="Times New Roman"/>
              <a:ea typeface="Times New Roman"/>
              <a:cs typeface="Times New Roman"/>
              <a:sym typeface="Times New Roman"/>
            </a:endParaRPr>
          </a:p>
          <a:p>
            <a:pPr indent="-317500" lvl="0" marL="457200" rtl="0" algn="l">
              <a:lnSpc>
                <a:spcPct val="150000"/>
              </a:lnSpc>
              <a:spcBef>
                <a:spcPts val="0"/>
              </a:spcBef>
              <a:spcAft>
                <a:spcPts val="0"/>
              </a:spcAft>
              <a:buClr>
                <a:schemeClr val="dk1"/>
              </a:buClr>
              <a:buSzPts val="1400"/>
              <a:buFont typeface="Times New Roman"/>
              <a:buChar char="●"/>
            </a:pPr>
            <a:r>
              <a:rPr lang="en-US">
                <a:latin typeface="Times New Roman"/>
                <a:ea typeface="Times New Roman"/>
                <a:cs typeface="Times New Roman"/>
                <a:sym typeface="Times New Roman"/>
              </a:rPr>
              <a:t>Web </a:t>
            </a:r>
            <a:r>
              <a:rPr lang="en-US">
                <a:latin typeface="Times New Roman"/>
                <a:ea typeface="Times New Roman"/>
                <a:cs typeface="Times New Roman"/>
                <a:sym typeface="Times New Roman"/>
              </a:rPr>
              <a:t>hosting service</a:t>
            </a:r>
            <a:endParaRPr>
              <a:latin typeface="Times New Roman"/>
              <a:ea typeface="Times New Roman"/>
              <a:cs typeface="Times New Roman"/>
              <a:sym typeface="Times New Roman"/>
            </a:endParaRPr>
          </a:p>
          <a:p>
            <a:pPr indent="-317500" lvl="0" marL="457200" rtl="0" algn="l">
              <a:lnSpc>
                <a:spcPct val="150000"/>
              </a:lnSpc>
              <a:spcBef>
                <a:spcPts val="0"/>
              </a:spcBef>
              <a:spcAft>
                <a:spcPts val="0"/>
              </a:spcAft>
              <a:buClr>
                <a:schemeClr val="dk1"/>
              </a:buClr>
              <a:buSzPts val="1400"/>
              <a:buFont typeface="Times New Roman"/>
              <a:buChar char="●"/>
            </a:pPr>
            <a:r>
              <a:rPr lang="en-US">
                <a:latin typeface="Times New Roman"/>
                <a:ea typeface="Times New Roman"/>
                <a:cs typeface="Times New Roman"/>
                <a:sym typeface="Times New Roman"/>
              </a:rPr>
              <a:t>TeraTerm Software</a:t>
            </a:r>
            <a:br>
              <a:rPr lang="en-US">
                <a:latin typeface="Times New Roman"/>
                <a:ea typeface="Times New Roman"/>
                <a:cs typeface="Times New Roman"/>
                <a:sym typeface="Times New Roman"/>
              </a:rPr>
            </a:b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sp>
        <p:nvSpPr>
          <p:cNvPr id="225" name="Google Shape;225;p26"/>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7"/>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SYSTEM DESIGN</a:t>
            </a:r>
            <a:endParaRPr sz="3600">
              <a:solidFill>
                <a:schemeClr val="dk2"/>
              </a:solidFill>
              <a:latin typeface="Libre Franklin"/>
              <a:ea typeface="Libre Franklin"/>
              <a:cs typeface="Libre Franklin"/>
              <a:sym typeface="Libre Franklin"/>
            </a:endParaRPr>
          </a:p>
        </p:txBody>
      </p:sp>
      <p:sp>
        <p:nvSpPr>
          <p:cNvPr id="231" name="Google Shape;231;p27"/>
          <p:cNvSpPr txBox="1"/>
          <p:nvPr>
            <p:ph idx="3" type="body"/>
          </p:nvPr>
        </p:nvSpPr>
        <p:spPr>
          <a:xfrm>
            <a:off x="917193" y="1484784"/>
            <a:ext cx="7309614" cy="349895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US" sz="1800" u="sng">
                <a:solidFill>
                  <a:srgbClr val="000000"/>
                </a:solidFill>
                <a:latin typeface="Times New Roman"/>
                <a:ea typeface="Times New Roman"/>
                <a:cs typeface="Times New Roman"/>
                <a:sym typeface="Times New Roman"/>
              </a:rPr>
              <a:t>System Architecture</a:t>
            </a:r>
            <a:endParaRPr sz="1400">
              <a:solidFill>
                <a:srgbClr val="000000"/>
              </a:solidFill>
            </a:endParaRPr>
          </a:p>
          <a:p>
            <a:pPr indent="0" lvl="0" marL="228600" rtl="0" algn="l">
              <a:lnSpc>
                <a:spcPct val="100000"/>
              </a:lnSpc>
              <a:spcBef>
                <a:spcPts val="1000"/>
              </a:spcBef>
              <a:spcAft>
                <a:spcPts val="0"/>
              </a:spcAft>
              <a:buClr>
                <a:srgbClr val="000000"/>
              </a:buClr>
              <a:buSzPts val="1400"/>
              <a:buFont typeface="Arial"/>
              <a:buNone/>
            </a:pPr>
            <a:r>
              <a:t/>
            </a:r>
            <a:endParaRPr>
              <a:latin typeface="Times New Roman"/>
              <a:ea typeface="Times New Roman"/>
              <a:cs typeface="Times New Roman"/>
              <a:sym typeface="Times New Roman"/>
            </a:endParaRPr>
          </a:p>
        </p:txBody>
      </p:sp>
      <p:sp>
        <p:nvSpPr>
          <p:cNvPr id="232" name="Google Shape;232;p27"/>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233" name="Google Shape;233;p27"/>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pic>
        <p:nvPicPr>
          <p:cNvPr id="234" name="Google Shape;234;p27"/>
          <p:cNvPicPr preferRelativeResize="0"/>
          <p:nvPr/>
        </p:nvPicPr>
        <p:blipFill>
          <a:blip r:embed="rId3">
            <a:alphaModFix/>
          </a:blip>
          <a:stretch>
            <a:fillRect/>
          </a:stretch>
        </p:blipFill>
        <p:spPr>
          <a:xfrm>
            <a:off x="1384675" y="2002763"/>
            <a:ext cx="6538652" cy="3657987"/>
          </a:xfrm>
          <a:prstGeom prst="rect">
            <a:avLst/>
          </a:prstGeom>
          <a:noFill/>
          <a:ln cap="flat" cmpd="sng" w="12700">
            <a:solidFill>
              <a:srgbClr val="000000"/>
            </a:solidFill>
            <a:prstDash val="solid"/>
            <a:miter lim="8000"/>
            <a:headEnd len="sm" w="sm" type="none"/>
            <a:tailEnd len="sm" w="sm" type="none"/>
          </a:ln>
        </p:spPr>
      </p:pic>
      <p:sp>
        <p:nvSpPr>
          <p:cNvPr id="235" name="Google Shape;235;p27"/>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8"/>
          <p:cNvSpPr txBox="1"/>
          <p:nvPr>
            <p:ph idx="1" type="body"/>
          </p:nvPr>
        </p:nvSpPr>
        <p:spPr>
          <a:xfrm>
            <a:off x="688623" y="476672"/>
            <a:ext cx="75381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SYSTEM DESIGN</a:t>
            </a:r>
            <a:endParaRPr sz="3600">
              <a:solidFill>
                <a:schemeClr val="dk2"/>
              </a:solidFill>
              <a:latin typeface="Libre Franklin"/>
              <a:ea typeface="Libre Franklin"/>
              <a:cs typeface="Libre Franklin"/>
              <a:sym typeface="Libre Franklin"/>
            </a:endParaRPr>
          </a:p>
        </p:txBody>
      </p:sp>
      <p:sp>
        <p:nvSpPr>
          <p:cNvPr id="241" name="Google Shape;241;p28"/>
          <p:cNvSpPr txBox="1"/>
          <p:nvPr>
            <p:ph idx="3" type="body"/>
          </p:nvPr>
        </p:nvSpPr>
        <p:spPr>
          <a:xfrm>
            <a:off x="917193" y="1484784"/>
            <a:ext cx="7309500" cy="3498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US" sz="1800" u="sng">
                <a:solidFill>
                  <a:srgbClr val="000000"/>
                </a:solidFill>
                <a:latin typeface="Times New Roman"/>
                <a:ea typeface="Times New Roman"/>
                <a:cs typeface="Times New Roman"/>
                <a:sym typeface="Times New Roman"/>
              </a:rPr>
              <a:t>Hardware Implementation</a:t>
            </a:r>
            <a:endParaRPr sz="1400">
              <a:solidFill>
                <a:srgbClr val="000000"/>
              </a:solidFill>
            </a:endParaRPr>
          </a:p>
          <a:p>
            <a:pPr indent="0" lvl="0" marL="228600" rtl="0" algn="l">
              <a:lnSpc>
                <a:spcPct val="100000"/>
              </a:lnSpc>
              <a:spcBef>
                <a:spcPts val="1000"/>
              </a:spcBef>
              <a:spcAft>
                <a:spcPts val="0"/>
              </a:spcAft>
              <a:buClr>
                <a:srgbClr val="000000"/>
              </a:buClr>
              <a:buSzPts val="1400"/>
              <a:buFont typeface="Arial"/>
              <a:buNone/>
            </a:pPr>
            <a:r>
              <a:t/>
            </a:r>
            <a:endParaRPr>
              <a:latin typeface="Times New Roman"/>
              <a:ea typeface="Times New Roman"/>
              <a:cs typeface="Times New Roman"/>
              <a:sym typeface="Times New Roman"/>
            </a:endParaRPr>
          </a:p>
        </p:txBody>
      </p:sp>
      <p:sp>
        <p:nvSpPr>
          <p:cNvPr id="242" name="Google Shape;242;p28"/>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243" name="Google Shape;243;p28"/>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pic>
        <p:nvPicPr>
          <p:cNvPr id="244" name="Google Shape;244;p28"/>
          <p:cNvPicPr preferRelativeResize="0"/>
          <p:nvPr/>
        </p:nvPicPr>
        <p:blipFill rotWithShape="1">
          <a:blip r:embed="rId3">
            <a:alphaModFix/>
          </a:blip>
          <a:srcRect b="-8719" l="12522" r="-6817" t="0"/>
          <a:stretch/>
        </p:blipFill>
        <p:spPr>
          <a:xfrm>
            <a:off x="2015145" y="1969113"/>
            <a:ext cx="5113604" cy="3934688"/>
          </a:xfrm>
          <a:prstGeom prst="rect">
            <a:avLst/>
          </a:prstGeom>
          <a:noFill/>
          <a:ln>
            <a:noFill/>
          </a:ln>
        </p:spPr>
      </p:pic>
      <p:sp>
        <p:nvSpPr>
          <p:cNvPr id="245" name="Google Shape;245;p28"/>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9"/>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51" name="Google Shape;251;p29"/>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52" name="Google Shape;252;p29"/>
          <p:cNvSpPr txBox="1"/>
          <p:nvPr/>
        </p:nvSpPr>
        <p:spPr>
          <a:xfrm>
            <a:off x="2159079" y="2550250"/>
            <a:ext cx="2264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Activity Diagram</a:t>
            </a:r>
            <a:endParaRPr>
              <a:latin typeface="Libre Baskerville"/>
              <a:ea typeface="Libre Baskerville"/>
              <a:cs typeface="Libre Baskerville"/>
              <a:sym typeface="Libre Baskerville"/>
            </a:endParaRPr>
          </a:p>
        </p:txBody>
      </p:sp>
      <p:pic>
        <p:nvPicPr>
          <p:cNvPr id="253" name="Google Shape;253;p29"/>
          <p:cNvPicPr preferRelativeResize="0"/>
          <p:nvPr/>
        </p:nvPicPr>
        <p:blipFill>
          <a:blip r:embed="rId3">
            <a:alphaModFix/>
          </a:blip>
          <a:stretch>
            <a:fillRect/>
          </a:stretch>
        </p:blipFill>
        <p:spPr>
          <a:xfrm>
            <a:off x="4879000" y="369500"/>
            <a:ext cx="2706451" cy="5831424"/>
          </a:xfrm>
          <a:prstGeom prst="rect">
            <a:avLst/>
          </a:prstGeom>
          <a:noFill/>
          <a:ln>
            <a:noFill/>
          </a:ln>
        </p:spPr>
      </p:pic>
      <p:sp>
        <p:nvSpPr>
          <p:cNvPr id="254" name="Google Shape;254;p29"/>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0"/>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60" name="Google Shape;260;p30"/>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61" name="Google Shape;261;p30"/>
          <p:cNvSpPr txBox="1"/>
          <p:nvPr/>
        </p:nvSpPr>
        <p:spPr>
          <a:xfrm>
            <a:off x="3510000" y="241225"/>
            <a:ext cx="2582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Module Design</a:t>
            </a:r>
            <a:endParaRPr>
              <a:latin typeface="Libre Baskerville"/>
              <a:ea typeface="Libre Baskerville"/>
              <a:cs typeface="Libre Baskerville"/>
              <a:sym typeface="Libre Baskerville"/>
            </a:endParaRPr>
          </a:p>
        </p:txBody>
      </p:sp>
      <p:pic>
        <p:nvPicPr>
          <p:cNvPr id="262" name="Google Shape;262;p30"/>
          <p:cNvPicPr preferRelativeResize="0"/>
          <p:nvPr/>
        </p:nvPicPr>
        <p:blipFill>
          <a:blip r:embed="rId3">
            <a:alphaModFix/>
          </a:blip>
          <a:stretch>
            <a:fillRect/>
          </a:stretch>
        </p:blipFill>
        <p:spPr>
          <a:xfrm>
            <a:off x="1395725" y="702925"/>
            <a:ext cx="5534025" cy="2326425"/>
          </a:xfrm>
          <a:prstGeom prst="rect">
            <a:avLst/>
          </a:prstGeom>
          <a:noFill/>
          <a:ln>
            <a:noFill/>
          </a:ln>
        </p:spPr>
      </p:pic>
      <p:pic>
        <p:nvPicPr>
          <p:cNvPr id="263" name="Google Shape;263;p30"/>
          <p:cNvPicPr preferRelativeResize="0"/>
          <p:nvPr/>
        </p:nvPicPr>
        <p:blipFill>
          <a:blip r:embed="rId4">
            <a:alphaModFix/>
          </a:blip>
          <a:stretch>
            <a:fillRect/>
          </a:stretch>
        </p:blipFill>
        <p:spPr>
          <a:xfrm>
            <a:off x="1395725" y="3083075"/>
            <a:ext cx="1667275" cy="2679625"/>
          </a:xfrm>
          <a:prstGeom prst="rect">
            <a:avLst/>
          </a:prstGeom>
          <a:noFill/>
          <a:ln>
            <a:noFill/>
          </a:ln>
        </p:spPr>
      </p:pic>
      <p:pic>
        <p:nvPicPr>
          <p:cNvPr id="264" name="Google Shape;264;p30"/>
          <p:cNvPicPr preferRelativeResize="0"/>
          <p:nvPr/>
        </p:nvPicPr>
        <p:blipFill>
          <a:blip r:embed="rId5">
            <a:alphaModFix/>
          </a:blip>
          <a:stretch>
            <a:fillRect/>
          </a:stretch>
        </p:blipFill>
        <p:spPr>
          <a:xfrm>
            <a:off x="3296575" y="3083075"/>
            <a:ext cx="1667275" cy="2796707"/>
          </a:xfrm>
          <a:prstGeom prst="rect">
            <a:avLst/>
          </a:prstGeom>
          <a:noFill/>
          <a:ln>
            <a:noFill/>
          </a:ln>
        </p:spPr>
      </p:pic>
      <p:pic>
        <p:nvPicPr>
          <p:cNvPr id="265" name="Google Shape;265;p30"/>
          <p:cNvPicPr preferRelativeResize="0"/>
          <p:nvPr/>
        </p:nvPicPr>
        <p:blipFill>
          <a:blip r:embed="rId6">
            <a:alphaModFix/>
          </a:blip>
          <a:stretch>
            <a:fillRect/>
          </a:stretch>
        </p:blipFill>
        <p:spPr>
          <a:xfrm>
            <a:off x="5197425" y="3083075"/>
            <a:ext cx="1724025" cy="2796700"/>
          </a:xfrm>
          <a:prstGeom prst="rect">
            <a:avLst/>
          </a:prstGeom>
          <a:noFill/>
          <a:ln>
            <a:noFill/>
          </a:ln>
        </p:spPr>
      </p:pic>
      <p:sp>
        <p:nvSpPr>
          <p:cNvPr id="266" name="Google Shape;266;p30"/>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1"/>
          <p:cNvSpPr txBox="1"/>
          <p:nvPr>
            <p:ph idx="1" type="body"/>
          </p:nvPr>
        </p:nvSpPr>
        <p:spPr>
          <a:xfrm>
            <a:off x="688623" y="476672"/>
            <a:ext cx="7538100" cy="882300"/>
          </a:xfrm>
          <a:prstGeom prst="rect">
            <a:avLst/>
          </a:prstGeom>
          <a:noFill/>
          <a:ln>
            <a:noFill/>
          </a:ln>
        </p:spPr>
        <p:txBody>
          <a:bodyPr anchorCtr="0" anchor="t" bIns="91425" lIns="91425" spcFirstLastPara="1" rIns="91425" wrap="square" tIns="91425">
            <a:noAutofit/>
          </a:bodyPr>
          <a:lstStyle/>
          <a:p>
            <a:pPr indent="-228600" lvl="0" marL="457200" rtl="0" algn="ctr">
              <a:spcBef>
                <a:spcPts val="0"/>
              </a:spcBef>
              <a:spcAft>
                <a:spcPts val="0"/>
              </a:spcAft>
              <a:buSzPts val="1400"/>
              <a:buNone/>
            </a:pPr>
            <a:r>
              <a:rPr b="1" lang="en-US"/>
              <a:t>DETAILED DESIGN</a:t>
            </a:r>
            <a:endParaRPr/>
          </a:p>
        </p:txBody>
      </p:sp>
      <p:sp>
        <p:nvSpPr>
          <p:cNvPr id="272" name="Google Shape;272;p31"/>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73" name="Google Shape;273;p31"/>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74" name="Google Shape;274;p31"/>
          <p:cNvSpPr txBox="1"/>
          <p:nvPr/>
        </p:nvSpPr>
        <p:spPr>
          <a:xfrm>
            <a:off x="3616363" y="1158925"/>
            <a:ext cx="1682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Class Diagram</a:t>
            </a:r>
            <a:endParaRPr>
              <a:latin typeface="Libre Baskerville"/>
              <a:ea typeface="Libre Baskerville"/>
              <a:cs typeface="Libre Baskerville"/>
              <a:sym typeface="Libre Baskerville"/>
            </a:endParaRPr>
          </a:p>
        </p:txBody>
      </p:sp>
      <p:pic>
        <p:nvPicPr>
          <p:cNvPr id="275" name="Google Shape;275;p31"/>
          <p:cNvPicPr preferRelativeResize="0"/>
          <p:nvPr/>
        </p:nvPicPr>
        <p:blipFill>
          <a:blip r:embed="rId3">
            <a:alphaModFix/>
          </a:blip>
          <a:stretch>
            <a:fillRect/>
          </a:stretch>
        </p:blipFill>
        <p:spPr>
          <a:xfrm>
            <a:off x="1191938" y="2059175"/>
            <a:ext cx="6531575" cy="2983175"/>
          </a:xfrm>
          <a:prstGeom prst="rect">
            <a:avLst/>
          </a:prstGeom>
          <a:noFill/>
          <a:ln cap="flat" cmpd="sng" w="12700">
            <a:solidFill>
              <a:srgbClr val="000000"/>
            </a:solidFill>
            <a:prstDash val="solid"/>
            <a:miter lim="8000"/>
            <a:headEnd len="sm" w="sm" type="none"/>
            <a:tailEnd len="sm" w="sm" type="none"/>
          </a:ln>
        </p:spPr>
      </p:pic>
      <p:sp>
        <p:nvSpPr>
          <p:cNvPr id="276" name="Google Shape;276;p31"/>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2"/>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82" name="Google Shape;282;p32"/>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83" name="Google Shape;283;p32"/>
          <p:cNvSpPr txBox="1"/>
          <p:nvPr/>
        </p:nvSpPr>
        <p:spPr>
          <a:xfrm>
            <a:off x="3439654" y="458300"/>
            <a:ext cx="2264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Use Case Diagram</a:t>
            </a:r>
            <a:endParaRPr>
              <a:latin typeface="Libre Baskerville"/>
              <a:ea typeface="Libre Baskerville"/>
              <a:cs typeface="Libre Baskerville"/>
              <a:sym typeface="Libre Baskerville"/>
            </a:endParaRPr>
          </a:p>
        </p:txBody>
      </p:sp>
      <p:pic>
        <p:nvPicPr>
          <p:cNvPr id="284" name="Google Shape;284;p32"/>
          <p:cNvPicPr preferRelativeResize="0"/>
          <p:nvPr/>
        </p:nvPicPr>
        <p:blipFill>
          <a:blip r:embed="rId3">
            <a:alphaModFix/>
          </a:blip>
          <a:stretch>
            <a:fillRect/>
          </a:stretch>
        </p:blipFill>
        <p:spPr>
          <a:xfrm>
            <a:off x="2524567" y="1117738"/>
            <a:ext cx="4415421" cy="4622524"/>
          </a:xfrm>
          <a:prstGeom prst="rect">
            <a:avLst/>
          </a:prstGeom>
          <a:noFill/>
          <a:ln cap="flat" cmpd="sng" w="12700">
            <a:solidFill>
              <a:srgbClr val="000000"/>
            </a:solidFill>
            <a:prstDash val="solid"/>
            <a:miter lim="8000"/>
            <a:headEnd len="sm" w="sm" type="none"/>
            <a:tailEnd len="sm" w="sm" type="none"/>
          </a:ln>
        </p:spPr>
      </p:pic>
      <p:sp>
        <p:nvSpPr>
          <p:cNvPr id="285" name="Google Shape;285;p32"/>
          <p:cNvSpPr txBox="1"/>
          <p:nvPr>
            <p:ph idx="10" type="dt"/>
          </p:nvPr>
        </p:nvSpPr>
        <p:spPr>
          <a:xfrm>
            <a:off x="62484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3"/>
          <p:cNvSpPr txBox="1"/>
          <p:nvPr>
            <p:ph idx="1" type="body"/>
          </p:nvPr>
        </p:nvSpPr>
        <p:spPr>
          <a:xfrm>
            <a:off x="688623" y="322397"/>
            <a:ext cx="75381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Methodology</a:t>
            </a:r>
            <a:endParaRPr sz="3600">
              <a:solidFill>
                <a:schemeClr val="dk2"/>
              </a:solidFill>
              <a:latin typeface="Libre Franklin"/>
              <a:ea typeface="Libre Franklin"/>
              <a:cs typeface="Libre Franklin"/>
              <a:sym typeface="Libre Franklin"/>
            </a:endParaRPr>
          </a:p>
        </p:txBody>
      </p:sp>
      <p:sp>
        <p:nvSpPr>
          <p:cNvPr id="291" name="Google Shape;291;p33"/>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292" name="Google Shape;292;p33"/>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93" name="Google Shape;293;p33"/>
          <p:cNvSpPr txBox="1"/>
          <p:nvPr/>
        </p:nvSpPr>
        <p:spPr>
          <a:xfrm>
            <a:off x="619875" y="1029400"/>
            <a:ext cx="7919400" cy="5066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US">
                <a:solidFill>
                  <a:srgbClr val="000000"/>
                </a:solidFill>
                <a:latin typeface="Times New Roman"/>
                <a:ea typeface="Times New Roman"/>
                <a:cs typeface="Times New Roman"/>
                <a:sym typeface="Times New Roman"/>
              </a:rPr>
              <a:t>Our system </a:t>
            </a:r>
            <a:r>
              <a:rPr lang="en-US">
                <a:latin typeface="Times New Roman"/>
                <a:ea typeface="Times New Roman"/>
                <a:cs typeface="Times New Roman"/>
                <a:sym typeface="Times New Roman"/>
              </a:rPr>
              <a:t>has</a:t>
            </a:r>
            <a:r>
              <a:rPr lang="en-US">
                <a:solidFill>
                  <a:srgbClr val="000000"/>
                </a:solidFill>
                <a:latin typeface="Times New Roman"/>
                <a:ea typeface="Times New Roman"/>
                <a:cs typeface="Times New Roman"/>
                <a:sym typeface="Times New Roman"/>
              </a:rPr>
              <a:t> 3 parts:</a:t>
            </a:r>
            <a:endParaRPr>
              <a:solidFill>
                <a:srgbClr val="000000"/>
              </a:solidFill>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rPr b="1" lang="en-US">
                <a:solidFill>
                  <a:srgbClr val="000000"/>
                </a:solidFill>
                <a:latin typeface="Times New Roman"/>
                <a:ea typeface="Times New Roman"/>
                <a:cs typeface="Times New Roman"/>
                <a:sym typeface="Times New Roman"/>
              </a:rPr>
              <a:t>1. Monitoring</a:t>
            </a:r>
            <a:endParaRPr b="1">
              <a:solidFill>
                <a:srgbClr val="000000"/>
              </a:solidFill>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rPr lang="en-US">
                <a:solidFill>
                  <a:srgbClr val="000000"/>
                </a:solidFill>
                <a:latin typeface="Times New Roman"/>
                <a:ea typeface="Times New Roman"/>
                <a:cs typeface="Times New Roman"/>
                <a:sym typeface="Times New Roman"/>
              </a:rPr>
              <a:t>An IoT device will be built using Arduino as the microcontroller. We will use MQ135 Air Quality sensor, MQ131 Ozone sensor, MQ7 Carbon Monoxide sensor, and PM2.5 dust sensor. These sensors will measure the current concentrations of the various pollutants and will output the current AQI. The values of the concentrations of the gases is to be stored in a database, which will be used to forecast the future levels of AQI.</a:t>
            </a:r>
            <a:endParaRPr>
              <a:solidFill>
                <a:srgbClr val="000000"/>
              </a:solidFill>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t/>
            </a:r>
            <a:endParaRPr>
              <a:solidFill>
                <a:srgbClr val="000000"/>
              </a:solidFill>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rPr b="1" lang="en-US">
                <a:solidFill>
                  <a:srgbClr val="000000"/>
                </a:solidFill>
                <a:latin typeface="Times New Roman"/>
                <a:ea typeface="Times New Roman"/>
                <a:cs typeface="Times New Roman"/>
                <a:sym typeface="Times New Roman"/>
              </a:rPr>
              <a:t>2. Forecasting</a:t>
            </a:r>
            <a:endParaRPr b="1">
              <a:solidFill>
                <a:srgbClr val="000000"/>
              </a:solidFill>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rPr lang="en-US">
                <a:solidFill>
                  <a:srgbClr val="000000"/>
                </a:solidFill>
                <a:latin typeface="Times New Roman"/>
                <a:ea typeface="Times New Roman"/>
                <a:cs typeface="Times New Roman"/>
                <a:sym typeface="Times New Roman"/>
              </a:rPr>
              <a:t>Using the data collected in the previous module, an ML model is to be trained to predict the future levels of AQI. Based on the literature survey, the AutoRegression model provided the best results.</a:t>
            </a:r>
            <a:endParaRPr>
              <a:solidFill>
                <a:srgbClr val="000000"/>
              </a:solidFill>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rPr b="1" lang="en-US">
                <a:solidFill>
                  <a:srgbClr val="000000"/>
                </a:solidFill>
                <a:latin typeface="Times New Roman"/>
                <a:ea typeface="Times New Roman"/>
                <a:cs typeface="Times New Roman"/>
                <a:sym typeface="Times New Roman"/>
              </a:rPr>
              <a:t> </a:t>
            </a:r>
            <a:endParaRPr b="1">
              <a:solidFill>
                <a:srgbClr val="000000"/>
              </a:solidFill>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rPr b="1" lang="en-US">
                <a:solidFill>
                  <a:srgbClr val="000000"/>
                </a:solidFill>
                <a:latin typeface="Times New Roman"/>
                <a:ea typeface="Times New Roman"/>
                <a:cs typeface="Times New Roman"/>
                <a:sym typeface="Times New Roman"/>
              </a:rPr>
              <a:t>3. Controlling</a:t>
            </a:r>
            <a:endParaRPr b="1">
              <a:solidFill>
                <a:srgbClr val="000000"/>
              </a:solidFill>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rPr lang="en-US">
                <a:solidFill>
                  <a:srgbClr val="000000"/>
                </a:solidFill>
                <a:latin typeface="Times New Roman"/>
                <a:ea typeface="Times New Roman"/>
                <a:cs typeface="Times New Roman"/>
                <a:sym typeface="Times New Roman"/>
              </a:rPr>
              <a:t>AQI is categorized into 6 categories based on the value. Depending on the category of the current AQI level, suggestions are to be provided to improve the category to ‘Good’. </a:t>
            </a:r>
            <a:endParaRPr>
              <a:solidFill>
                <a:srgbClr val="000000"/>
              </a:solidFill>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t/>
            </a:r>
            <a:endParaRPr sz="1000">
              <a:solidFill>
                <a:srgbClr val="000000"/>
              </a:solidFill>
            </a:endParaRPr>
          </a:p>
          <a:p>
            <a:pPr indent="0" lvl="0" marL="0" rtl="0" algn="just">
              <a:lnSpc>
                <a:spcPct val="150000"/>
              </a:lnSpc>
              <a:spcBef>
                <a:spcPts val="1000"/>
              </a:spcBef>
              <a:spcAft>
                <a:spcPts val="1000"/>
              </a:spcAft>
              <a:buNone/>
            </a:pPr>
            <a:r>
              <a:t/>
            </a:r>
            <a:endParaRPr sz="1200">
              <a:solidFill>
                <a:srgbClr val="000000"/>
              </a:solidFill>
              <a:latin typeface="Times New Roman"/>
              <a:ea typeface="Times New Roman"/>
              <a:cs typeface="Times New Roman"/>
              <a:sym typeface="Times New Roman"/>
            </a:endParaRPr>
          </a:p>
        </p:txBody>
      </p:sp>
      <p:sp>
        <p:nvSpPr>
          <p:cNvPr id="294" name="Google Shape;294;p33"/>
          <p:cNvSpPr txBox="1"/>
          <p:nvPr>
            <p:ph idx="10" type="dt"/>
          </p:nvPr>
        </p:nvSpPr>
        <p:spPr>
          <a:xfrm>
            <a:off x="62484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4"/>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Technology Stack</a:t>
            </a:r>
            <a:endParaRPr sz="3600">
              <a:solidFill>
                <a:schemeClr val="dk2"/>
              </a:solidFill>
              <a:latin typeface="Libre Franklin"/>
              <a:ea typeface="Libre Franklin"/>
              <a:cs typeface="Libre Franklin"/>
              <a:sym typeface="Libre Franklin"/>
            </a:endParaRPr>
          </a:p>
        </p:txBody>
      </p:sp>
      <p:sp>
        <p:nvSpPr>
          <p:cNvPr id="300" name="Google Shape;300;p34"/>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301" name="Google Shape;301;p34"/>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302" name="Google Shape;302;p34"/>
          <p:cNvSpPr txBox="1"/>
          <p:nvPr/>
        </p:nvSpPr>
        <p:spPr>
          <a:xfrm>
            <a:off x="763526" y="1182892"/>
            <a:ext cx="7263000" cy="3387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0"/>
              </a:spcBef>
              <a:spcAft>
                <a:spcPts val="1000"/>
              </a:spcAft>
              <a:buNone/>
            </a:pPr>
            <a:r>
              <a:t/>
            </a:r>
            <a:endParaRPr sz="1600">
              <a:solidFill>
                <a:schemeClr val="dk1"/>
              </a:solidFill>
              <a:latin typeface="Times New Roman"/>
              <a:ea typeface="Times New Roman"/>
              <a:cs typeface="Times New Roman"/>
              <a:sym typeface="Times New Roman"/>
            </a:endParaRPr>
          </a:p>
        </p:txBody>
      </p:sp>
      <p:sp>
        <p:nvSpPr>
          <p:cNvPr id="303" name="Google Shape;303;p34"/>
          <p:cNvSpPr txBox="1"/>
          <p:nvPr/>
        </p:nvSpPr>
        <p:spPr>
          <a:xfrm>
            <a:off x="895776" y="1607592"/>
            <a:ext cx="7263000" cy="3015900"/>
          </a:xfrm>
          <a:prstGeom prst="rect">
            <a:avLst/>
          </a:prstGeom>
          <a:noFill/>
          <a:ln>
            <a:noFill/>
          </a:ln>
        </p:spPr>
        <p:txBody>
          <a:bodyPr anchorCtr="0" anchor="t" bIns="45700" lIns="91425" spcFirstLastPara="1" rIns="91425" wrap="square" tIns="45700">
            <a:spAutoFit/>
          </a:bodyPr>
          <a:lstStyle/>
          <a:p>
            <a:pPr indent="-330200" lvl="0" marL="457200" rtl="0" algn="l">
              <a:lnSpc>
                <a:spcPct val="115000"/>
              </a:lnSpc>
              <a:spcBef>
                <a:spcPts val="0"/>
              </a:spcBef>
              <a:spcAft>
                <a:spcPts val="0"/>
              </a:spcAft>
              <a:buClr>
                <a:schemeClr val="dk1"/>
              </a:buClr>
              <a:buSzPts val="1600"/>
              <a:buFont typeface="Times New Roman"/>
              <a:buChar char="●"/>
            </a:pPr>
            <a:r>
              <a:rPr b="1" lang="en-US" sz="1600">
                <a:solidFill>
                  <a:schemeClr val="dk1"/>
                </a:solidFill>
                <a:latin typeface="Times New Roman"/>
                <a:ea typeface="Times New Roman"/>
                <a:cs typeface="Times New Roman"/>
                <a:sym typeface="Times New Roman"/>
              </a:rPr>
              <a:t>Front end</a:t>
            </a:r>
            <a:br>
              <a:rPr lang="en-US" sz="1600">
                <a:solidFill>
                  <a:schemeClr val="dk1"/>
                </a:solidFill>
                <a:latin typeface="Times New Roman"/>
                <a:ea typeface="Times New Roman"/>
                <a:cs typeface="Times New Roman"/>
                <a:sym typeface="Times New Roman"/>
              </a:rPr>
            </a:br>
            <a:r>
              <a:rPr lang="en-US" sz="1600">
                <a:solidFill>
                  <a:schemeClr val="dk1"/>
                </a:solidFill>
                <a:latin typeface="Times New Roman"/>
                <a:ea typeface="Times New Roman"/>
                <a:cs typeface="Times New Roman"/>
                <a:sym typeface="Times New Roman"/>
              </a:rPr>
              <a:t>HTML, CSS, JavaScript</a:t>
            </a:r>
            <a:br>
              <a:rPr lang="en-US" sz="1600">
                <a:solidFill>
                  <a:schemeClr val="dk1"/>
                </a:solidFill>
                <a:latin typeface="Times New Roman"/>
                <a:ea typeface="Times New Roman"/>
                <a:cs typeface="Times New Roman"/>
                <a:sym typeface="Times New Roman"/>
              </a:rPr>
            </a:b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b="1" lang="en-US" sz="1600">
                <a:solidFill>
                  <a:schemeClr val="dk1"/>
                </a:solidFill>
                <a:latin typeface="Times New Roman"/>
                <a:ea typeface="Times New Roman"/>
                <a:cs typeface="Times New Roman"/>
                <a:sym typeface="Times New Roman"/>
              </a:rPr>
              <a:t>Back end</a:t>
            </a:r>
            <a:br>
              <a:rPr lang="en-US" sz="1600">
                <a:solidFill>
                  <a:schemeClr val="dk1"/>
                </a:solidFill>
                <a:latin typeface="Times New Roman"/>
                <a:ea typeface="Times New Roman"/>
                <a:cs typeface="Times New Roman"/>
                <a:sym typeface="Times New Roman"/>
              </a:rPr>
            </a:br>
            <a:r>
              <a:rPr lang="en-US" sz="1600">
                <a:solidFill>
                  <a:schemeClr val="dk1"/>
                </a:solidFill>
                <a:latin typeface="Times New Roman"/>
                <a:ea typeface="Times New Roman"/>
                <a:cs typeface="Times New Roman"/>
                <a:sym typeface="Times New Roman"/>
              </a:rPr>
              <a:t>PHP, MySQL Database, Arduino Programming</a:t>
            </a:r>
            <a:br>
              <a:rPr lang="en-US" sz="1600">
                <a:solidFill>
                  <a:schemeClr val="dk1"/>
                </a:solidFill>
                <a:latin typeface="Times New Roman"/>
                <a:ea typeface="Times New Roman"/>
                <a:cs typeface="Times New Roman"/>
                <a:sym typeface="Times New Roman"/>
              </a:rPr>
            </a:b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1"/>
              </a:buClr>
              <a:buSzPts val="1600"/>
              <a:buFont typeface="Times New Roman"/>
              <a:buChar char="●"/>
            </a:pPr>
            <a:r>
              <a:rPr b="1" lang="en-US" sz="1600">
                <a:solidFill>
                  <a:schemeClr val="dk1"/>
                </a:solidFill>
                <a:latin typeface="Times New Roman"/>
                <a:ea typeface="Times New Roman"/>
                <a:cs typeface="Times New Roman"/>
                <a:sym typeface="Times New Roman"/>
              </a:rPr>
              <a:t>Machine Learning</a:t>
            </a:r>
            <a:br>
              <a:rPr lang="en-US" sz="1600">
                <a:solidFill>
                  <a:schemeClr val="dk1"/>
                </a:solidFill>
                <a:latin typeface="Times New Roman"/>
                <a:ea typeface="Times New Roman"/>
                <a:cs typeface="Times New Roman"/>
                <a:sym typeface="Times New Roman"/>
              </a:rPr>
            </a:br>
            <a:r>
              <a:rPr lang="en-US" sz="1600">
                <a:solidFill>
                  <a:schemeClr val="dk1"/>
                </a:solidFill>
                <a:latin typeface="Times New Roman"/>
                <a:ea typeface="Times New Roman"/>
                <a:cs typeface="Times New Roman"/>
                <a:sym typeface="Times New Roman"/>
              </a:rPr>
              <a:t>Python</a:t>
            </a:r>
            <a:br>
              <a:rPr lang="en-US" sz="1600">
                <a:solidFill>
                  <a:schemeClr val="dk1"/>
                </a:solidFill>
                <a:latin typeface="Times New Roman"/>
                <a:ea typeface="Times New Roman"/>
                <a:cs typeface="Times New Roman"/>
                <a:sym typeface="Times New Roman"/>
              </a:rPr>
            </a:br>
            <a:r>
              <a:rPr lang="en-US" sz="1600">
                <a:solidFill>
                  <a:schemeClr val="dk1"/>
                </a:solidFill>
                <a:latin typeface="Times New Roman"/>
                <a:ea typeface="Times New Roman"/>
                <a:cs typeface="Times New Roman"/>
                <a:sym typeface="Times New Roman"/>
              </a:rPr>
              <a:t>Libraries: NumPy, Pandas, Seaborn, Matplotlib, Statsmodels, </a:t>
            </a:r>
            <a:r>
              <a:rPr lang="en-US" sz="1600">
                <a:solidFill>
                  <a:schemeClr val="dk1"/>
                </a:solidFill>
                <a:latin typeface="Times New Roman"/>
                <a:ea typeface="Times New Roman"/>
                <a:cs typeface="Times New Roman"/>
                <a:sym typeface="Times New Roman"/>
              </a:rPr>
              <a:t>sklearn</a:t>
            </a:r>
            <a:endParaRPr sz="1600">
              <a:solidFill>
                <a:schemeClr val="dk1"/>
              </a:solidFill>
              <a:latin typeface="Times New Roman"/>
              <a:ea typeface="Times New Roman"/>
              <a:cs typeface="Times New Roman"/>
              <a:sym typeface="Times New Roman"/>
            </a:endParaRPr>
          </a:p>
          <a:p>
            <a:pPr indent="0" lvl="0" marL="457200" rtl="0" algn="just">
              <a:lnSpc>
                <a:spcPct val="115000"/>
              </a:lnSpc>
              <a:spcBef>
                <a:spcPts val="1000"/>
              </a:spcBef>
              <a:spcAft>
                <a:spcPts val="1000"/>
              </a:spcAft>
              <a:buNone/>
            </a:pPr>
            <a:r>
              <a:t/>
            </a:r>
            <a:endParaRPr sz="1600">
              <a:solidFill>
                <a:schemeClr val="dk1"/>
              </a:solidFill>
              <a:latin typeface="Times New Roman"/>
              <a:ea typeface="Times New Roman"/>
              <a:cs typeface="Times New Roman"/>
              <a:sym typeface="Times New Roman"/>
            </a:endParaRPr>
          </a:p>
        </p:txBody>
      </p:sp>
      <p:sp>
        <p:nvSpPr>
          <p:cNvPr id="304" name="Google Shape;304;p34"/>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5"/>
          <p:cNvSpPr txBox="1"/>
          <p:nvPr>
            <p:ph idx="1" type="body"/>
          </p:nvPr>
        </p:nvSpPr>
        <p:spPr>
          <a:xfrm>
            <a:off x="688623" y="476672"/>
            <a:ext cx="75381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Implementation</a:t>
            </a:r>
            <a:endParaRPr sz="3600">
              <a:solidFill>
                <a:schemeClr val="dk2"/>
              </a:solidFill>
              <a:latin typeface="Libre Franklin"/>
              <a:ea typeface="Libre Franklin"/>
              <a:cs typeface="Libre Franklin"/>
              <a:sym typeface="Libre Franklin"/>
            </a:endParaRPr>
          </a:p>
        </p:txBody>
      </p:sp>
      <p:sp>
        <p:nvSpPr>
          <p:cNvPr id="310" name="Google Shape;310;p35"/>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311" name="Google Shape;311;p35"/>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312" name="Google Shape;312;p35"/>
          <p:cNvSpPr txBox="1"/>
          <p:nvPr/>
        </p:nvSpPr>
        <p:spPr>
          <a:xfrm>
            <a:off x="763526" y="1182892"/>
            <a:ext cx="7263000" cy="3387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0"/>
              </a:spcBef>
              <a:spcAft>
                <a:spcPts val="1000"/>
              </a:spcAft>
              <a:buNone/>
            </a:pPr>
            <a:r>
              <a:t/>
            </a:r>
            <a:endParaRPr sz="1600">
              <a:solidFill>
                <a:schemeClr val="dk1"/>
              </a:solidFill>
              <a:latin typeface="Times New Roman"/>
              <a:ea typeface="Times New Roman"/>
              <a:cs typeface="Times New Roman"/>
              <a:sym typeface="Times New Roman"/>
            </a:endParaRPr>
          </a:p>
        </p:txBody>
      </p:sp>
      <p:sp>
        <p:nvSpPr>
          <p:cNvPr id="313" name="Google Shape;313;p35"/>
          <p:cNvSpPr txBox="1"/>
          <p:nvPr/>
        </p:nvSpPr>
        <p:spPr>
          <a:xfrm>
            <a:off x="940501" y="2252992"/>
            <a:ext cx="7263000" cy="2989200"/>
          </a:xfrm>
          <a:prstGeom prst="rect">
            <a:avLst/>
          </a:prstGeom>
          <a:noFill/>
          <a:ln>
            <a:noFill/>
          </a:ln>
        </p:spPr>
        <p:txBody>
          <a:bodyPr anchorCtr="0" anchor="t" bIns="45700" lIns="91425" spcFirstLastPara="1" rIns="91425" wrap="square" tIns="45700">
            <a:spAutoFit/>
          </a:bodyPr>
          <a:lstStyle/>
          <a:p>
            <a:pPr indent="-330200" lvl="0" marL="457200" rtl="0" algn="just">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Our IoT system consists of MQ135 Air Quality Sensor, MQ131  Ozone Sensor, MQ7 CO sensor, PM2.5 Sensor, Arduino UNO and NodeMCU.</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The data collected from the AQI sensor is transmitted via Wifi and stored in our online Database. This data will be pulled from the database and displayed on the website as the current AQI level.</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The readings of the other </a:t>
            </a:r>
            <a:r>
              <a:rPr lang="en-US" sz="1600">
                <a:solidFill>
                  <a:schemeClr val="dk1"/>
                </a:solidFill>
                <a:latin typeface="Times New Roman"/>
                <a:ea typeface="Times New Roman"/>
                <a:cs typeface="Times New Roman"/>
                <a:sym typeface="Times New Roman"/>
              </a:rPr>
              <a:t>sensors</a:t>
            </a:r>
            <a:r>
              <a:rPr lang="en-US" sz="1600">
                <a:solidFill>
                  <a:schemeClr val="dk1"/>
                </a:solidFill>
                <a:latin typeface="Times New Roman"/>
                <a:ea typeface="Times New Roman"/>
                <a:cs typeface="Times New Roman"/>
                <a:sym typeface="Times New Roman"/>
              </a:rPr>
              <a:t> are collected in a .csv format and will be added to the dataset to train the ML model. TeraTerm software is used to transfer the data from the IoT system to .csv file</a:t>
            </a:r>
            <a:endParaRPr sz="1600">
              <a:solidFill>
                <a:schemeClr val="dk1"/>
              </a:solidFill>
              <a:latin typeface="Times New Roman"/>
              <a:ea typeface="Times New Roman"/>
              <a:cs typeface="Times New Roman"/>
              <a:sym typeface="Times New Roman"/>
            </a:endParaRPr>
          </a:p>
          <a:p>
            <a:pPr indent="0" lvl="0" marL="457200" rtl="0" algn="just">
              <a:lnSpc>
                <a:spcPct val="115000"/>
              </a:lnSpc>
              <a:spcBef>
                <a:spcPts val="1000"/>
              </a:spcBef>
              <a:spcAft>
                <a:spcPts val="1000"/>
              </a:spcAft>
              <a:buNone/>
            </a:pPr>
            <a:r>
              <a:t/>
            </a:r>
            <a:endParaRPr sz="1600">
              <a:solidFill>
                <a:schemeClr val="dk1"/>
              </a:solidFill>
              <a:latin typeface="Times New Roman"/>
              <a:ea typeface="Times New Roman"/>
              <a:cs typeface="Times New Roman"/>
              <a:sym typeface="Times New Roman"/>
            </a:endParaRPr>
          </a:p>
        </p:txBody>
      </p:sp>
      <p:sp>
        <p:nvSpPr>
          <p:cNvPr id="314" name="Google Shape;314;p35"/>
          <p:cNvSpPr txBox="1"/>
          <p:nvPr/>
        </p:nvSpPr>
        <p:spPr>
          <a:xfrm>
            <a:off x="3072000" y="1671750"/>
            <a:ext cx="300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latin typeface="Times New Roman"/>
                <a:ea typeface="Times New Roman"/>
                <a:cs typeface="Times New Roman"/>
                <a:sym typeface="Times New Roman"/>
              </a:rPr>
              <a:t>Hardware Implementation</a:t>
            </a:r>
            <a:endParaRPr b="1"/>
          </a:p>
        </p:txBody>
      </p:sp>
      <p:sp>
        <p:nvSpPr>
          <p:cNvPr id="315" name="Google Shape;315;p35"/>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6"/>
          <p:cNvSpPr txBox="1"/>
          <p:nvPr>
            <p:ph idx="1" type="body"/>
          </p:nvPr>
        </p:nvSpPr>
        <p:spPr>
          <a:xfrm>
            <a:off x="688623" y="476672"/>
            <a:ext cx="75381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Implementation</a:t>
            </a:r>
            <a:endParaRPr sz="3600">
              <a:solidFill>
                <a:schemeClr val="dk2"/>
              </a:solidFill>
              <a:latin typeface="Libre Franklin"/>
              <a:ea typeface="Libre Franklin"/>
              <a:cs typeface="Libre Franklin"/>
              <a:sym typeface="Libre Franklin"/>
            </a:endParaRPr>
          </a:p>
        </p:txBody>
      </p:sp>
      <p:sp>
        <p:nvSpPr>
          <p:cNvPr id="321" name="Google Shape;321;p36"/>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322" name="Google Shape;322;p36"/>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323" name="Google Shape;323;p36"/>
          <p:cNvSpPr txBox="1"/>
          <p:nvPr/>
        </p:nvSpPr>
        <p:spPr>
          <a:xfrm>
            <a:off x="763526" y="1182892"/>
            <a:ext cx="7263000" cy="3387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0"/>
              </a:spcBef>
              <a:spcAft>
                <a:spcPts val="1000"/>
              </a:spcAft>
              <a:buNone/>
            </a:pPr>
            <a:r>
              <a:t/>
            </a:r>
            <a:endParaRPr sz="1600">
              <a:solidFill>
                <a:schemeClr val="dk1"/>
              </a:solidFill>
              <a:latin typeface="Times New Roman"/>
              <a:ea typeface="Times New Roman"/>
              <a:cs typeface="Times New Roman"/>
              <a:sym typeface="Times New Roman"/>
            </a:endParaRPr>
          </a:p>
        </p:txBody>
      </p:sp>
      <p:sp>
        <p:nvSpPr>
          <p:cNvPr id="324" name="Google Shape;324;p36"/>
          <p:cNvSpPr txBox="1"/>
          <p:nvPr/>
        </p:nvSpPr>
        <p:spPr>
          <a:xfrm>
            <a:off x="2449775" y="1577325"/>
            <a:ext cx="4015800" cy="750000"/>
          </a:xfrm>
          <a:prstGeom prst="rect">
            <a:avLst/>
          </a:prstGeom>
          <a:noFill/>
          <a:ln>
            <a:noFill/>
          </a:ln>
        </p:spPr>
        <p:txBody>
          <a:bodyPr anchorCtr="0" anchor="t" bIns="45700" lIns="91425" spcFirstLastPara="1" rIns="91425" wrap="square" tIns="45700">
            <a:spAutoFit/>
          </a:bodyPr>
          <a:lstStyle/>
          <a:p>
            <a:pPr indent="0" lvl="0" marL="457200" rtl="0" algn="just">
              <a:lnSpc>
                <a:spcPct val="115000"/>
              </a:lnSpc>
              <a:spcBef>
                <a:spcPts val="0"/>
              </a:spcBef>
              <a:spcAft>
                <a:spcPts val="0"/>
              </a:spcAft>
              <a:buNone/>
            </a:pPr>
            <a:r>
              <a:rPr b="1" lang="en-US" sz="1600">
                <a:solidFill>
                  <a:schemeClr val="dk1"/>
                </a:solidFill>
                <a:latin typeface="Times New Roman"/>
                <a:ea typeface="Times New Roman"/>
                <a:cs typeface="Times New Roman"/>
                <a:sym typeface="Times New Roman"/>
              </a:rPr>
              <a:t>Machine Learning Implementation</a:t>
            </a:r>
            <a:endParaRPr sz="1600">
              <a:solidFill>
                <a:schemeClr val="dk1"/>
              </a:solidFill>
              <a:latin typeface="Times New Roman"/>
              <a:ea typeface="Times New Roman"/>
              <a:cs typeface="Times New Roman"/>
              <a:sym typeface="Times New Roman"/>
            </a:endParaRPr>
          </a:p>
          <a:p>
            <a:pPr indent="0" lvl="0" marL="457200" rtl="0" algn="just">
              <a:lnSpc>
                <a:spcPct val="115000"/>
              </a:lnSpc>
              <a:spcBef>
                <a:spcPts val="1000"/>
              </a:spcBef>
              <a:spcAft>
                <a:spcPts val="1000"/>
              </a:spcAft>
              <a:buNone/>
            </a:pPr>
            <a:r>
              <a:t/>
            </a:r>
            <a:endParaRPr sz="1600">
              <a:solidFill>
                <a:schemeClr val="dk1"/>
              </a:solidFill>
              <a:latin typeface="Times New Roman"/>
              <a:ea typeface="Times New Roman"/>
              <a:cs typeface="Times New Roman"/>
              <a:sym typeface="Times New Roman"/>
            </a:endParaRPr>
          </a:p>
        </p:txBody>
      </p:sp>
      <p:sp>
        <p:nvSpPr>
          <p:cNvPr id="325" name="Google Shape;325;p36"/>
          <p:cNvSpPr txBox="1"/>
          <p:nvPr/>
        </p:nvSpPr>
        <p:spPr>
          <a:xfrm>
            <a:off x="940501" y="2252992"/>
            <a:ext cx="7263000" cy="3214800"/>
          </a:xfrm>
          <a:prstGeom prst="rect">
            <a:avLst/>
          </a:prstGeom>
          <a:noFill/>
          <a:ln>
            <a:noFill/>
          </a:ln>
        </p:spPr>
        <p:txBody>
          <a:bodyPr anchorCtr="0" anchor="t" bIns="45700" lIns="91425" spcFirstLastPara="1" rIns="91425" wrap="square" tIns="45700">
            <a:spAutoFit/>
          </a:bodyPr>
          <a:lstStyle/>
          <a:p>
            <a:pPr indent="-330200" lvl="0" marL="457200" rtl="0" algn="just">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The bulk of the data was collected from an open source database, maintained by the Central Pollution Control Board (CPCB). The location of data collection was Jayanagar 5th block and the data collected dated back to June 2018.</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That gave us roughly 5 years of data to work with. The data was cleaned to remove anomalies and a monthly average was used to fill in the missing data points.</a:t>
            </a:r>
            <a:endParaRPr sz="1600">
              <a:solidFill>
                <a:schemeClr val="dk1"/>
              </a:solidFill>
              <a:latin typeface="Times New Roman"/>
              <a:ea typeface="Times New Roman"/>
              <a:cs typeface="Times New Roman"/>
              <a:sym typeface="Times New Roman"/>
            </a:endParaRPr>
          </a:p>
          <a:p>
            <a:pPr indent="-355600" lvl="0" marL="457200" rtl="0" algn="just">
              <a:lnSpc>
                <a:spcPct val="115000"/>
              </a:lnSpc>
              <a:spcBef>
                <a:spcPts val="1000"/>
              </a:spcBef>
              <a:spcAft>
                <a:spcPts val="0"/>
              </a:spcAft>
              <a:buClr>
                <a:schemeClr val="dk1"/>
              </a:buClr>
              <a:buSzPts val="2000"/>
              <a:buFont typeface="Times New Roman"/>
              <a:buChar char="●"/>
            </a:pPr>
            <a:r>
              <a:rPr lang="en-US" sz="1600">
                <a:solidFill>
                  <a:schemeClr val="dk1"/>
                </a:solidFill>
                <a:latin typeface="Times New Roman"/>
                <a:ea typeface="Times New Roman"/>
                <a:cs typeface="Times New Roman"/>
                <a:sym typeface="Times New Roman"/>
              </a:rPr>
              <a:t>The basic Machine Learning algorithm used for training the model was AutoRegression. Variants of this algorithm such as ARMA, ARMAX, ARIMA, ARIMAX, SARIMA were explored.</a:t>
            </a:r>
            <a:endParaRPr sz="20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1000"/>
              </a:spcAft>
              <a:buNone/>
            </a:pPr>
            <a:r>
              <a:t/>
            </a:r>
            <a:endParaRPr sz="1600">
              <a:solidFill>
                <a:schemeClr val="dk1"/>
              </a:solidFill>
              <a:latin typeface="Times New Roman"/>
              <a:ea typeface="Times New Roman"/>
              <a:cs typeface="Times New Roman"/>
              <a:sym typeface="Times New Roman"/>
            </a:endParaRPr>
          </a:p>
        </p:txBody>
      </p:sp>
      <p:sp>
        <p:nvSpPr>
          <p:cNvPr id="326" name="Google Shape;326;p36"/>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7"/>
          <p:cNvSpPr txBox="1"/>
          <p:nvPr>
            <p:ph idx="1" type="body"/>
          </p:nvPr>
        </p:nvSpPr>
        <p:spPr>
          <a:xfrm>
            <a:off x="688623" y="476672"/>
            <a:ext cx="75381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Implementation</a:t>
            </a:r>
            <a:endParaRPr sz="3600">
              <a:solidFill>
                <a:schemeClr val="dk2"/>
              </a:solidFill>
              <a:latin typeface="Libre Franklin"/>
              <a:ea typeface="Libre Franklin"/>
              <a:cs typeface="Libre Franklin"/>
              <a:sym typeface="Libre Franklin"/>
            </a:endParaRPr>
          </a:p>
        </p:txBody>
      </p:sp>
      <p:sp>
        <p:nvSpPr>
          <p:cNvPr id="332" name="Google Shape;332;p37"/>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333" name="Google Shape;333;p37"/>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334" name="Google Shape;334;p37"/>
          <p:cNvSpPr txBox="1"/>
          <p:nvPr/>
        </p:nvSpPr>
        <p:spPr>
          <a:xfrm>
            <a:off x="2449775" y="1212700"/>
            <a:ext cx="4015800" cy="750000"/>
          </a:xfrm>
          <a:prstGeom prst="rect">
            <a:avLst/>
          </a:prstGeom>
          <a:noFill/>
          <a:ln>
            <a:noFill/>
          </a:ln>
        </p:spPr>
        <p:txBody>
          <a:bodyPr anchorCtr="0" anchor="t" bIns="45700" lIns="91425" spcFirstLastPara="1" rIns="91425" wrap="square" tIns="45700">
            <a:spAutoFit/>
          </a:bodyPr>
          <a:lstStyle/>
          <a:p>
            <a:pPr indent="0" lvl="0" marL="457200" rtl="0" algn="just">
              <a:lnSpc>
                <a:spcPct val="115000"/>
              </a:lnSpc>
              <a:spcBef>
                <a:spcPts val="0"/>
              </a:spcBef>
              <a:spcAft>
                <a:spcPts val="0"/>
              </a:spcAft>
              <a:buNone/>
            </a:pPr>
            <a:r>
              <a:rPr b="1" lang="en-US" sz="1600">
                <a:solidFill>
                  <a:schemeClr val="dk1"/>
                </a:solidFill>
                <a:latin typeface="Times New Roman"/>
                <a:ea typeface="Times New Roman"/>
                <a:cs typeface="Times New Roman"/>
                <a:sym typeface="Times New Roman"/>
              </a:rPr>
              <a:t>Machine Learning Implementation</a:t>
            </a:r>
            <a:endParaRPr sz="1600">
              <a:solidFill>
                <a:schemeClr val="dk1"/>
              </a:solidFill>
              <a:latin typeface="Times New Roman"/>
              <a:ea typeface="Times New Roman"/>
              <a:cs typeface="Times New Roman"/>
              <a:sym typeface="Times New Roman"/>
            </a:endParaRPr>
          </a:p>
          <a:p>
            <a:pPr indent="0" lvl="0" marL="457200" rtl="0" algn="just">
              <a:lnSpc>
                <a:spcPct val="115000"/>
              </a:lnSpc>
              <a:spcBef>
                <a:spcPts val="1000"/>
              </a:spcBef>
              <a:spcAft>
                <a:spcPts val="1000"/>
              </a:spcAft>
              <a:buNone/>
            </a:pPr>
            <a:r>
              <a:t/>
            </a:r>
            <a:endParaRPr sz="1600">
              <a:solidFill>
                <a:schemeClr val="dk1"/>
              </a:solidFill>
              <a:latin typeface="Times New Roman"/>
              <a:ea typeface="Times New Roman"/>
              <a:cs typeface="Times New Roman"/>
              <a:sym typeface="Times New Roman"/>
            </a:endParaRPr>
          </a:p>
        </p:txBody>
      </p:sp>
      <p:sp>
        <p:nvSpPr>
          <p:cNvPr id="335" name="Google Shape;335;p37"/>
          <p:cNvSpPr txBox="1"/>
          <p:nvPr/>
        </p:nvSpPr>
        <p:spPr>
          <a:xfrm>
            <a:off x="802950" y="1488651"/>
            <a:ext cx="7538100" cy="47994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b="1" lang="en-US">
                <a:solidFill>
                  <a:schemeClr val="dk1"/>
                </a:solidFill>
                <a:latin typeface="Times New Roman"/>
                <a:ea typeface="Times New Roman"/>
                <a:cs typeface="Times New Roman"/>
                <a:sym typeface="Times New Roman"/>
              </a:rPr>
              <a:t>AutoRegression (AR)</a:t>
            </a:r>
            <a:r>
              <a:rPr lang="en-US">
                <a:solidFill>
                  <a:schemeClr val="dk1"/>
                </a:solidFill>
                <a:latin typeface="Times New Roman"/>
                <a:ea typeface="Times New Roman"/>
                <a:cs typeface="Times New Roman"/>
                <a:sym typeface="Times New Roman"/>
              </a:rPr>
              <a:t>: An AutoRegressive model is a statistical model which forecasts future values based on past values. Just like how linear models make predictions based upon a combination of independent variables, AR models make predictions based on a combination of past values. This is known as autocorrelation.</a:t>
            </a:r>
            <a:endParaRPr>
              <a:solidFill>
                <a:schemeClr val="dk1"/>
              </a:solidFill>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b="1" lang="en-US">
                <a:solidFill>
                  <a:schemeClr val="dk1"/>
                </a:solidFill>
                <a:latin typeface="Times New Roman"/>
                <a:ea typeface="Times New Roman"/>
                <a:cs typeface="Times New Roman"/>
                <a:sym typeface="Times New Roman"/>
              </a:rPr>
              <a:t>Integrated Differencing (I): </a:t>
            </a:r>
            <a:r>
              <a:rPr lang="en-US">
                <a:solidFill>
                  <a:schemeClr val="dk1"/>
                </a:solidFill>
                <a:latin typeface="Times New Roman"/>
                <a:ea typeface="Times New Roman"/>
                <a:cs typeface="Times New Roman"/>
                <a:sym typeface="Times New Roman"/>
              </a:rPr>
              <a:t>When the data is non-stationary, this method is performed to make the data stationary. That is, prediction is not made upon the data, rather on the differences between every 2 points of data. This may be done multiple times to remove non-stationarity. However, this is just one of the many methods of making the model deal with non-stationarity. The other methods will be discussed later.</a:t>
            </a:r>
            <a:endParaRPr>
              <a:solidFill>
                <a:schemeClr val="dk1"/>
              </a:solidFill>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b="1" lang="en-US">
                <a:solidFill>
                  <a:schemeClr val="dk1"/>
                </a:solidFill>
                <a:latin typeface="Times New Roman"/>
                <a:ea typeface="Times New Roman"/>
                <a:cs typeface="Times New Roman"/>
                <a:sym typeface="Times New Roman"/>
              </a:rPr>
              <a:t>Moving Average(MA): </a:t>
            </a:r>
            <a:r>
              <a:rPr lang="en-US">
                <a:solidFill>
                  <a:schemeClr val="dk1"/>
                </a:solidFill>
                <a:latin typeface="Times New Roman"/>
                <a:ea typeface="Times New Roman"/>
                <a:cs typeface="Times New Roman"/>
                <a:sym typeface="Times New Roman"/>
              </a:rPr>
              <a:t>Moving average model denotes that the forecast or result of the model depends linearly on the historical data. Additionally, it implies that predicting mistakes are linear functions of prior errors. Keep in mind that statistical moving averages are not the same as moving average models.</a:t>
            </a:r>
            <a:endParaRPr>
              <a:solidFill>
                <a:schemeClr val="dk1"/>
              </a:solidFill>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b="1" lang="en-US">
                <a:solidFill>
                  <a:schemeClr val="dk1"/>
                </a:solidFill>
                <a:latin typeface="Times New Roman"/>
                <a:ea typeface="Times New Roman"/>
                <a:cs typeface="Times New Roman"/>
                <a:sym typeface="Times New Roman"/>
              </a:rPr>
              <a:t>eXogenous Variables(X): </a:t>
            </a:r>
            <a:r>
              <a:rPr lang="en-US">
                <a:solidFill>
                  <a:schemeClr val="dk1"/>
                </a:solidFill>
                <a:latin typeface="Times New Roman"/>
                <a:ea typeface="Times New Roman"/>
                <a:cs typeface="Times New Roman"/>
                <a:sym typeface="Times New Roman"/>
              </a:rPr>
              <a:t>These are external variables that may affect the time series forecast. For example, in the case of our modeling, Average Temperature, Diwali, etc. are eXogenous Variables. These alone are insufficient to forecast the values of AQI, however, they contribute indirectly.</a:t>
            </a:r>
            <a:endParaRPr>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1000"/>
              </a:spcAft>
              <a:buNone/>
            </a:pPr>
            <a:r>
              <a:t/>
            </a:r>
            <a:endParaRPr sz="1600">
              <a:solidFill>
                <a:schemeClr val="dk1"/>
              </a:solidFill>
              <a:latin typeface="Times New Roman"/>
              <a:ea typeface="Times New Roman"/>
              <a:cs typeface="Times New Roman"/>
              <a:sym typeface="Times New Roman"/>
            </a:endParaRPr>
          </a:p>
        </p:txBody>
      </p:sp>
      <p:sp>
        <p:nvSpPr>
          <p:cNvPr id="336" name="Google Shape;336;p37"/>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8"/>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Testing</a:t>
            </a:r>
            <a:endParaRPr sz="3600">
              <a:solidFill>
                <a:schemeClr val="dk2"/>
              </a:solidFill>
              <a:latin typeface="Libre Franklin"/>
              <a:ea typeface="Libre Franklin"/>
              <a:cs typeface="Libre Franklin"/>
              <a:sym typeface="Libre Franklin"/>
            </a:endParaRPr>
          </a:p>
        </p:txBody>
      </p:sp>
      <p:sp>
        <p:nvSpPr>
          <p:cNvPr id="342" name="Google Shape;342;p38"/>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343" name="Google Shape;343;p38"/>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pic>
        <p:nvPicPr>
          <p:cNvPr id="344" name="Google Shape;344;p38"/>
          <p:cNvPicPr preferRelativeResize="0"/>
          <p:nvPr/>
        </p:nvPicPr>
        <p:blipFill>
          <a:blip r:embed="rId3">
            <a:alphaModFix/>
          </a:blip>
          <a:stretch>
            <a:fillRect/>
          </a:stretch>
        </p:blipFill>
        <p:spPr>
          <a:xfrm>
            <a:off x="152400" y="1511400"/>
            <a:ext cx="8839199" cy="4174150"/>
          </a:xfrm>
          <a:prstGeom prst="rect">
            <a:avLst/>
          </a:prstGeom>
          <a:noFill/>
          <a:ln>
            <a:noFill/>
          </a:ln>
        </p:spPr>
      </p:pic>
      <p:sp>
        <p:nvSpPr>
          <p:cNvPr id="345" name="Google Shape;345;p38"/>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9"/>
          <p:cNvSpPr txBox="1"/>
          <p:nvPr>
            <p:ph idx="12" type="sldNum"/>
          </p:nvPr>
        </p:nvSpPr>
        <p:spPr>
          <a:xfrm>
            <a:off x="511175" y="6417733"/>
            <a:ext cx="585900" cy="3642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352" name="Google Shape;352;p39"/>
          <p:cNvSpPr txBox="1"/>
          <p:nvPr>
            <p:ph idx="1" type="body"/>
          </p:nvPr>
        </p:nvSpPr>
        <p:spPr>
          <a:xfrm>
            <a:off x="688623" y="476672"/>
            <a:ext cx="75381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Testing</a:t>
            </a:r>
            <a:endParaRPr sz="3600">
              <a:solidFill>
                <a:schemeClr val="dk2"/>
              </a:solidFill>
              <a:latin typeface="Libre Franklin"/>
              <a:ea typeface="Libre Franklin"/>
              <a:cs typeface="Libre Franklin"/>
              <a:sym typeface="Libre Franklin"/>
            </a:endParaRPr>
          </a:p>
        </p:txBody>
      </p:sp>
      <p:pic>
        <p:nvPicPr>
          <p:cNvPr id="353" name="Google Shape;353;p39"/>
          <p:cNvPicPr preferRelativeResize="0"/>
          <p:nvPr/>
        </p:nvPicPr>
        <p:blipFill>
          <a:blip r:embed="rId3">
            <a:alphaModFix/>
          </a:blip>
          <a:stretch>
            <a:fillRect/>
          </a:stretch>
        </p:blipFill>
        <p:spPr>
          <a:xfrm>
            <a:off x="152400" y="1511376"/>
            <a:ext cx="8839199" cy="4272351"/>
          </a:xfrm>
          <a:prstGeom prst="rect">
            <a:avLst/>
          </a:prstGeom>
          <a:noFill/>
          <a:ln>
            <a:noFill/>
          </a:ln>
        </p:spPr>
      </p:pic>
      <p:sp>
        <p:nvSpPr>
          <p:cNvPr id="354" name="Google Shape;354;p39"/>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
        <p:nvSpPr>
          <p:cNvPr id="355" name="Google Shape;355;p39"/>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0"/>
          <p:cNvSpPr txBox="1"/>
          <p:nvPr>
            <p:ph idx="1" type="body"/>
          </p:nvPr>
        </p:nvSpPr>
        <p:spPr>
          <a:xfrm>
            <a:off x="688585" y="161097"/>
            <a:ext cx="75381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Results</a:t>
            </a:r>
            <a:endParaRPr sz="3600">
              <a:solidFill>
                <a:schemeClr val="dk2"/>
              </a:solidFill>
              <a:latin typeface="Libre Franklin"/>
              <a:ea typeface="Libre Franklin"/>
              <a:cs typeface="Libre Franklin"/>
              <a:sym typeface="Libre Franklin"/>
            </a:endParaRPr>
          </a:p>
        </p:txBody>
      </p:sp>
      <p:sp>
        <p:nvSpPr>
          <p:cNvPr id="361" name="Google Shape;361;p40"/>
          <p:cNvSpPr txBox="1"/>
          <p:nvPr>
            <p:ph idx="3" type="body"/>
          </p:nvPr>
        </p:nvSpPr>
        <p:spPr>
          <a:xfrm>
            <a:off x="511175" y="370250"/>
            <a:ext cx="7538100" cy="49059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Clr>
                <a:srgbClr val="000000"/>
              </a:buClr>
              <a:buSzPts val="1400"/>
              <a:buFont typeface="Arial"/>
              <a:buNone/>
            </a:pPr>
            <a:r>
              <a:t/>
            </a:r>
            <a:endParaRPr sz="1400">
              <a:latin typeface="Times New Roman"/>
              <a:ea typeface="Times New Roman"/>
              <a:cs typeface="Times New Roman"/>
              <a:sym typeface="Times New Roman"/>
            </a:endParaRPr>
          </a:p>
          <a:p>
            <a:pPr indent="-228600" lvl="0" marL="457200" rtl="0" algn="l">
              <a:lnSpc>
                <a:spcPct val="100000"/>
              </a:lnSpc>
              <a:spcBef>
                <a:spcPts val="0"/>
              </a:spcBef>
              <a:spcAft>
                <a:spcPts val="0"/>
              </a:spcAft>
              <a:buClr>
                <a:srgbClr val="000000"/>
              </a:buClr>
              <a:buSzPts val="1400"/>
              <a:buFont typeface="Arial"/>
              <a:buNone/>
            </a:pPr>
            <a:r>
              <a:rPr lang="en-US" sz="1400">
                <a:latin typeface="Times New Roman"/>
                <a:ea typeface="Times New Roman"/>
                <a:cs typeface="Times New Roman"/>
                <a:sym typeface="Times New Roman"/>
              </a:rPr>
              <a:t> </a:t>
            </a:r>
            <a:endParaRPr sz="1400">
              <a:latin typeface="Times New Roman"/>
              <a:ea typeface="Times New Roman"/>
              <a:cs typeface="Times New Roman"/>
              <a:sym typeface="Times New Roman"/>
            </a:endParaRPr>
          </a:p>
          <a:p>
            <a:pPr indent="-228600" lvl="0" marL="457200" rtl="0" algn="l">
              <a:lnSpc>
                <a:spcPct val="100000"/>
              </a:lnSpc>
              <a:spcBef>
                <a:spcPts val="0"/>
              </a:spcBef>
              <a:spcAft>
                <a:spcPts val="0"/>
              </a:spcAft>
              <a:buClr>
                <a:srgbClr val="000000"/>
              </a:buClr>
              <a:buSzPts val="1400"/>
              <a:buFont typeface="Arial"/>
              <a:buNone/>
            </a:pPr>
            <a:r>
              <a:t/>
            </a:r>
            <a:endParaRPr sz="1400">
              <a:latin typeface="Times New Roman"/>
              <a:ea typeface="Times New Roman"/>
              <a:cs typeface="Times New Roman"/>
              <a:sym typeface="Times New Roman"/>
            </a:endParaRPr>
          </a:p>
        </p:txBody>
      </p:sp>
      <p:sp>
        <p:nvSpPr>
          <p:cNvPr id="362" name="Google Shape;362;p40"/>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363" name="Google Shape;363;p40"/>
          <p:cNvSpPr txBox="1"/>
          <p:nvPr/>
        </p:nvSpPr>
        <p:spPr>
          <a:xfrm>
            <a:off x="2957625" y="1926275"/>
            <a:ext cx="278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3"/>
              </a:rPr>
              <a:t>https://bmsaqiproject.netlify.app/</a:t>
            </a:r>
            <a:endParaRPr/>
          </a:p>
        </p:txBody>
      </p:sp>
      <p:sp>
        <p:nvSpPr>
          <p:cNvPr id="364" name="Google Shape;364;p40"/>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
        <p:nvSpPr>
          <p:cNvPr id="365" name="Google Shape;365;p40"/>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1"/>
          <p:cNvSpPr txBox="1"/>
          <p:nvPr>
            <p:ph idx="1" type="body"/>
          </p:nvPr>
        </p:nvSpPr>
        <p:spPr>
          <a:xfrm>
            <a:off x="688585" y="161097"/>
            <a:ext cx="75381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Results</a:t>
            </a:r>
            <a:endParaRPr sz="3600">
              <a:solidFill>
                <a:schemeClr val="dk2"/>
              </a:solidFill>
              <a:latin typeface="Libre Franklin"/>
              <a:ea typeface="Libre Franklin"/>
              <a:cs typeface="Libre Franklin"/>
              <a:sym typeface="Libre Franklin"/>
            </a:endParaRPr>
          </a:p>
        </p:txBody>
      </p:sp>
      <p:sp>
        <p:nvSpPr>
          <p:cNvPr id="371" name="Google Shape;371;p41"/>
          <p:cNvSpPr txBox="1"/>
          <p:nvPr>
            <p:ph idx="3" type="body"/>
          </p:nvPr>
        </p:nvSpPr>
        <p:spPr>
          <a:xfrm>
            <a:off x="511175" y="370250"/>
            <a:ext cx="7538100" cy="49059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Clr>
                <a:srgbClr val="000000"/>
              </a:buClr>
              <a:buSzPts val="1400"/>
              <a:buFont typeface="Arial"/>
              <a:buNone/>
            </a:pPr>
            <a:r>
              <a:t/>
            </a:r>
            <a:endParaRPr sz="1400">
              <a:latin typeface="Times New Roman"/>
              <a:ea typeface="Times New Roman"/>
              <a:cs typeface="Times New Roman"/>
              <a:sym typeface="Times New Roman"/>
            </a:endParaRPr>
          </a:p>
          <a:p>
            <a:pPr indent="-228600" lvl="0" marL="457200" rtl="0" algn="l">
              <a:lnSpc>
                <a:spcPct val="100000"/>
              </a:lnSpc>
              <a:spcBef>
                <a:spcPts val="0"/>
              </a:spcBef>
              <a:spcAft>
                <a:spcPts val="0"/>
              </a:spcAft>
              <a:buClr>
                <a:srgbClr val="000000"/>
              </a:buClr>
              <a:buSzPts val="1400"/>
              <a:buFont typeface="Arial"/>
              <a:buNone/>
            </a:pPr>
            <a:r>
              <a:rPr lang="en-US" sz="1400">
                <a:latin typeface="Times New Roman"/>
                <a:ea typeface="Times New Roman"/>
                <a:cs typeface="Times New Roman"/>
                <a:sym typeface="Times New Roman"/>
              </a:rPr>
              <a:t>Model Results: </a:t>
            </a:r>
            <a:endParaRPr sz="1400">
              <a:latin typeface="Times New Roman"/>
              <a:ea typeface="Times New Roman"/>
              <a:cs typeface="Times New Roman"/>
              <a:sym typeface="Times New Roman"/>
            </a:endParaRPr>
          </a:p>
          <a:p>
            <a:pPr indent="-228600" lvl="0" marL="457200" rtl="0" algn="l">
              <a:lnSpc>
                <a:spcPct val="100000"/>
              </a:lnSpc>
              <a:spcBef>
                <a:spcPts val="0"/>
              </a:spcBef>
              <a:spcAft>
                <a:spcPts val="0"/>
              </a:spcAft>
              <a:buClr>
                <a:srgbClr val="000000"/>
              </a:buClr>
              <a:buSzPts val="1400"/>
              <a:buFont typeface="Arial"/>
              <a:buNone/>
            </a:pPr>
            <a:r>
              <a:t/>
            </a:r>
            <a:endParaRPr sz="1400">
              <a:latin typeface="Times New Roman"/>
              <a:ea typeface="Times New Roman"/>
              <a:cs typeface="Times New Roman"/>
              <a:sym typeface="Times New Roman"/>
            </a:endParaRPr>
          </a:p>
        </p:txBody>
      </p:sp>
      <p:sp>
        <p:nvSpPr>
          <p:cNvPr id="372" name="Google Shape;372;p41"/>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graphicFrame>
        <p:nvGraphicFramePr>
          <p:cNvPr id="373" name="Google Shape;373;p41"/>
          <p:cNvGraphicFramePr/>
          <p:nvPr/>
        </p:nvGraphicFramePr>
        <p:xfrm>
          <a:off x="409749" y="952178"/>
          <a:ext cx="3000000" cy="3000000"/>
        </p:xfrm>
        <a:graphic>
          <a:graphicData uri="http://schemas.openxmlformats.org/drawingml/2006/table">
            <a:tbl>
              <a:tblPr>
                <a:noFill/>
                <a:tableStyleId>{8F89D18D-C526-4453-AF8D-DFCF61797091}</a:tableStyleId>
              </a:tblPr>
              <a:tblGrid>
                <a:gridCol w="4047875"/>
                <a:gridCol w="4047875"/>
              </a:tblGrid>
              <a:tr h="411600">
                <a:tc>
                  <a:txBody>
                    <a:bodyPr/>
                    <a:lstStyle/>
                    <a:p>
                      <a:pPr indent="0" lvl="0" marL="0" rtl="0" algn="l">
                        <a:spcBef>
                          <a:spcPts val="0"/>
                        </a:spcBef>
                        <a:spcAft>
                          <a:spcPts val="0"/>
                        </a:spcAft>
                        <a:buNone/>
                      </a:pPr>
                      <a:r>
                        <a:rPr lang="en-US">
                          <a:latin typeface="Calibri"/>
                          <a:ea typeface="Calibri"/>
                          <a:cs typeface="Calibri"/>
                          <a:sym typeface="Calibri"/>
                        </a:rPr>
                        <a:t>MODEL (Parameters)</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Mean Squared Error (MSE)</a:t>
                      </a:r>
                      <a:endParaRPr>
                        <a:latin typeface="Calibri"/>
                        <a:ea typeface="Calibri"/>
                        <a:cs typeface="Calibri"/>
                        <a:sym typeface="Calibri"/>
                      </a:endParaRPr>
                    </a:p>
                  </a:txBody>
                  <a:tcPr marT="91425" marB="91425" marR="91425" marL="91425"/>
                </a:tc>
              </a:tr>
              <a:tr h="411600">
                <a:tc>
                  <a:txBody>
                    <a:bodyPr/>
                    <a:lstStyle/>
                    <a:p>
                      <a:pPr indent="0" lvl="0" marL="0" rtl="0" algn="l">
                        <a:spcBef>
                          <a:spcPts val="0"/>
                        </a:spcBef>
                        <a:spcAft>
                          <a:spcPts val="0"/>
                        </a:spcAft>
                        <a:buClr>
                          <a:srgbClr val="000000"/>
                        </a:buClr>
                        <a:buSzPts val="1100"/>
                        <a:buFont typeface="Arial"/>
                        <a:buNone/>
                      </a:pPr>
                      <a:r>
                        <a:rPr lang="en-US">
                          <a:solidFill>
                            <a:srgbClr val="000000"/>
                          </a:solidFill>
                          <a:latin typeface="Calibri"/>
                          <a:ea typeface="Calibri"/>
                          <a:cs typeface="Calibri"/>
                          <a:sym typeface="Calibri"/>
                        </a:rPr>
                        <a:t>Predicting based on previous day</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solidFill>
                            <a:srgbClr val="000000"/>
                          </a:solidFill>
                          <a:latin typeface="Calibri"/>
                          <a:ea typeface="Calibri"/>
                          <a:cs typeface="Calibri"/>
                          <a:sym typeface="Calibri"/>
                        </a:rPr>
                        <a:t>577.05</a:t>
                      </a:r>
                      <a:endParaRPr>
                        <a:latin typeface="Calibri"/>
                        <a:ea typeface="Calibri"/>
                        <a:cs typeface="Calibri"/>
                        <a:sym typeface="Calibri"/>
                      </a:endParaRPr>
                    </a:p>
                  </a:txBody>
                  <a:tcPr marT="91425" marB="91425" marR="91425" marL="91425"/>
                </a:tc>
              </a:tr>
              <a:tr h="411600">
                <a:tc>
                  <a:txBody>
                    <a:bodyPr/>
                    <a:lstStyle/>
                    <a:p>
                      <a:pPr indent="0" lvl="0" marL="0" rtl="0" algn="l">
                        <a:spcBef>
                          <a:spcPts val="0"/>
                        </a:spcBef>
                        <a:spcAft>
                          <a:spcPts val="0"/>
                        </a:spcAft>
                        <a:buClr>
                          <a:srgbClr val="000000"/>
                        </a:buClr>
                        <a:buSzPts val="1100"/>
                        <a:buFont typeface="Arial"/>
                        <a:buNone/>
                      </a:pPr>
                      <a:r>
                        <a:rPr lang="en-US">
                          <a:solidFill>
                            <a:srgbClr val="000000"/>
                          </a:solidFill>
                          <a:latin typeface="Calibri"/>
                          <a:ea typeface="Calibri"/>
                          <a:cs typeface="Calibri"/>
                          <a:sym typeface="Calibri"/>
                        </a:rPr>
                        <a:t>AutoReg(lags=17, trend=’t’)</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rgbClr val="000000"/>
                        </a:buClr>
                        <a:buSzPts val="1100"/>
                        <a:buFont typeface="Arial"/>
                        <a:buNone/>
                      </a:pPr>
                      <a:r>
                        <a:rPr lang="en-US">
                          <a:solidFill>
                            <a:srgbClr val="000000"/>
                          </a:solidFill>
                          <a:latin typeface="Calibri"/>
                          <a:ea typeface="Calibri"/>
                          <a:cs typeface="Calibri"/>
                          <a:sym typeface="Calibri"/>
                        </a:rPr>
                        <a:t>917.961</a:t>
                      </a:r>
                      <a:endParaRPr>
                        <a:latin typeface="Calibri"/>
                        <a:ea typeface="Calibri"/>
                        <a:cs typeface="Calibri"/>
                        <a:sym typeface="Calibri"/>
                      </a:endParaRPr>
                    </a:p>
                  </a:txBody>
                  <a:tcPr marT="91425" marB="91425" marR="91425" marL="91425"/>
                </a:tc>
              </a:tr>
              <a:tr h="633225">
                <a:tc>
                  <a:txBody>
                    <a:bodyPr/>
                    <a:lstStyle/>
                    <a:p>
                      <a:pPr indent="0" lvl="0" marL="0" rtl="0" algn="l">
                        <a:spcBef>
                          <a:spcPts val="0"/>
                        </a:spcBef>
                        <a:spcAft>
                          <a:spcPts val="0"/>
                        </a:spcAft>
                        <a:buClr>
                          <a:srgbClr val="000000"/>
                        </a:buClr>
                        <a:buSzPts val="1100"/>
                        <a:buFont typeface="Arial"/>
                        <a:buNone/>
                      </a:pPr>
                      <a:r>
                        <a:rPr lang="en-US">
                          <a:solidFill>
                            <a:srgbClr val="000000"/>
                          </a:solidFill>
                          <a:latin typeface="Calibri"/>
                          <a:ea typeface="Calibri"/>
                          <a:cs typeface="Calibri"/>
                          <a:sym typeface="Calibri"/>
                        </a:rPr>
                        <a:t>ARMA:</a:t>
                      </a:r>
                      <a:endParaRPr>
                        <a:solidFill>
                          <a:srgbClr val="000000"/>
                        </a:solidFill>
                        <a:latin typeface="Calibri"/>
                        <a:ea typeface="Calibri"/>
                        <a:cs typeface="Calibri"/>
                        <a:sym typeface="Calibri"/>
                      </a:endParaRPr>
                    </a:p>
                    <a:p>
                      <a:pPr indent="0" lvl="0" marL="0" rtl="0" algn="l">
                        <a:spcBef>
                          <a:spcPts val="0"/>
                        </a:spcBef>
                        <a:spcAft>
                          <a:spcPts val="0"/>
                        </a:spcAft>
                        <a:buClr>
                          <a:srgbClr val="000000"/>
                        </a:buClr>
                        <a:buSzPts val="1100"/>
                        <a:buFont typeface="Arial"/>
                        <a:buNone/>
                      </a:pPr>
                      <a:r>
                        <a:rPr lang="en-US">
                          <a:solidFill>
                            <a:srgbClr val="000000"/>
                          </a:solidFill>
                          <a:latin typeface="Calibri"/>
                          <a:ea typeface="Calibri"/>
                          <a:cs typeface="Calibri"/>
                          <a:sym typeface="Calibri"/>
                        </a:rPr>
                        <a:t>ARIMA(p=4, d=0, q=1, trend=’t’, exog=Null)</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rgbClr val="000000"/>
                        </a:buClr>
                        <a:buSzPts val="1100"/>
                        <a:buFont typeface="Arial"/>
                        <a:buNone/>
                      </a:pPr>
                      <a:r>
                        <a:rPr lang="en-US">
                          <a:solidFill>
                            <a:srgbClr val="000000"/>
                          </a:solidFill>
                          <a:latin typeface="Calibri"/>
                          <a:ea typeface="Calibri"/>
                          <a:cs typeface="Calibri"/>
                          <a:sym typeface="Calibri"/>
                        </a:rPr>
                        <a:t>449.86</a:t>
                      </a:r>
                      <a:endParaRPr>
                        <a:latin typeface="Calibri"/>
                        <a:ea typeface="Calibri"/>
                        <a:cs typeface="Calibri"/>
                        <a:sym typeface="Calibri"/>
                      </a:endParaRPr>
                    </a:p>
                  </a:txBody>
                  <a:tcPr marT="91425" marB="91425" marR="91425" marL="91425"/>
                </a:tc>
              </a:tr>
              <a:tr h="411600">
                <a:tc>
                  <a:txBody>
                    <a:bodyPr/>
                    <a:lstStyle/>
                    <a:p>
                      <a:pPr indent="0" lvl="0" marL="0" rtl="0" algn="l">
                        <a:spcBef>
                          <a:spcPts val="0"/>
                        </a:spcBef>
                        <a:spcAft>
                          <a:spcPts val="0"/>
                        </a:spcAft>
                        <a:buClr>
                          <a:srgbClr val="000000"/>
                        </a:buClr>
                        <a:buSzPts val="1100"/>
                        <a:buFont typeface="Arial"/>
                        <a:buNone/>
                      </a:pPr>
                      <a:r>
                        <a:rPr lang="en-US">
                          <a:solidFill>
                            <a:srgbClr val="000000"/>
                          </a:solidFill>
                          <a:latin typeface="Calibri"/>
                          <a:ea typeface="Calibri"/>
                          <a:cs typeface="Calibri"/>
                          <a:sym typeface="Calibri"/>
                        </a:rPr>
                        <a:t>ARIMA(p=3, d=1, q=1, trend=’t’, exog=Null)</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rgbClr val="000000"/>
                        </a:buClr>
                        <a:buSzPts val="1100"/>
                        <a:buFont typeface="Arial"/>
                        <a:buNone/>
                      </a:pPr>
                      <a:r>
                        <a:rPr lang="en-US">
                          <a:solidFill>
                            <a:srgbClr val="000000"/>
                          </a:solidFill>
                          <a:latin typeface="Calibri"/>
                          <a:ea typeface="Calibri"/>
                          <a:cs typeface="Calibri"/>
                          <a:sym typeface="Calibri"/>
                        </a:rPr>
                        <a:t>450.586</a:t>
                      </a:r>
                      <a:endParaRPr>
                        <a:latin typeface="Calibri"/>
                        <a:ea typeface="Calibri"/>
                        <a:cs typeface="Calibri"/>
                        <a:sym typeface="Calibri"/>
                      </a:endParaRPr>
                    </a:p>
                  </a:txBody>
                  <a:tcPr marT="91425" marB="91425" marR="91425" marL="91425"/>
                </a:tc>
              </a:tr>
              <a:tr h="633225">
                <a:tc>
                  <a:txBody>
                    <a:bodyPr/>
                    <a:lstStyle/>
                    <a:p>
                      <a:pPr indent="0" lvl="0" marL="0" rtl="0" algn="l">
                        <a:spcBef>
                          <a:spcPts val="0"/>
                        </a:spcBef>
                        <a:spcAft>
                          <a:spcPts val="0"/>
                        </a:spcAft>
                        <a:buClr>
                          <a:srgbClr val="000000"/>
                        </a:buClr>
                        <a:buSzPts val="1100"/>
                        <a:buFont typeface="Arial"/>
                        <a:buNone/>
                      </a:pPr>
                      <a:r>
                        <a:rPr lang="en-US">
                          <a:solidFill>
                            <a:srgbClr val="000000"/>
                          </a:solidFill>
                          <a:latin typeface="Calibri"/>
                          <a:ea typeface="Calibri"/>
                          <a:cs typeface="Calibri"/>
                          <a:sym typeface="Calibri"/>
                        </a:rPr>
                        <a:t>ARMAX(p=4,d=0,q=1, trend=’t’, exog=[‘Average Temperature’])</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rgbClr val="000000"/>
                        </a:buClr>
                        <a:buSzPts val="1100"/>
                        <a:buFont typeface="Arial"/>
                        <a:buNone/>
                      </a:pPr>
                      <a:r>
                        <a:rPr lang="en-US">
                          <a:solidFill>
                            <a:srgbClr val="000000"/>
                          </a:solidFill>
                          <a:latin typeface="Calibri"/>
                          <a:ea typeface="Calibri"/>
                          <a:cs typeface="Calibri"/>
                          <a:sym typeface="Calibri"/>
                        </a:rPr>
                        <a:t>421.21</a:t>
                      </a:r>
                      <a:endParaRPr>
                        <a:latin typeface="Calibri"/>
                        <a:ea typeface="Calibri"/>
                        <a:cs typeface="Calibri"/>
                        <a:sym typeface="Calibri"/>
                      </a:endParaRPr>
                    </a:p>
                  </a:txBody>
                  <a:tcPr marT="91425" marB="91425" marR="91425" marL="91425"/>
                </a:tc>
              </a:tr>
              <a:tr h="633225">
                <a:tc>
                  <a:txBody>
                    <a:bodyPr/>
                    <a:lstStyle/>
                    <a:p>
                      <a:pPr indent="0" lvl="0" marL="0" rtl="0" algn="l">
                        <a:spcBef>
                          <a:spcPts val="0"/>
                        </a:spcBef>
                        <a:spcAft>
                          <a:spcPts val="0"/>
                        </a:spcAft>
                        <a:buClr>
                          <a:srgbClr val="000000"/>
                        </a:buClr>
                        <a:buSzPts val="1100"/>
                        <a:buFont typeface="Arial"/>
                        <a:buNone/>
                      </a:pPr>
                      <a:r>
                        <a:rPr lang="en-US">
                          <a:solidFill>
                            <a:srgbClr val="000000"/>
                          </a:solidFill>
                          <a:latin typeface="Calibri"/>
                          <a:ea typeface="Calibri"/>
                          <a:cs typeface="Calibri"/>
                          <a:sym typeface="Calibri"/>
                        </a:rPr>
                        <a:t>ARMAX(p=4,d=0,q=1, trend=’t’, exog=[‘Average Temperature’,’Diwali’])</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rgbClr val="000000"/>
                        </a:buClr>
                        <a:buSzPts val="1100"/>
                        <a:buFont typeface="Arial"/>
                        <a:buNone/>
                      </a:pPr>
                      <a:r>
                        <a:rPr lang="en-US">
                          <a:solidFill>
                            <a:srgbClr val="000000"/>
                          </a:solidFill>
                          <a:latin typeface="Calibri"/>
                          <a:ea typeface="Calibri"/>
                          <a:cs typeface="Calibri"/>
                          <a:sym typeface="Calibri"/>
                        </a:rPr>
                        <a:t>220.125</a:t>
                      </a:r>
                      <a:endParaRPr>
                        <a:latin typeface="Calibri"/>
                        <a:ea typeface="Calibri"/>
                        <a:cs typeface="Calibri"/>
                        <a:sym typeface="Calibri"/>
                      </a:endParaRPr>
                    </a:p>
                  </a:txBody>
                  <a:tcPr marT="91425" marB="91425" marR="91425" marL="91425"/>
                </a:tc>
              </a:tr>
              <a:tr h="633225">
                <a:tc>
                  <a:txBody>
                    <a:bodyPr/>
                    <a:lstStyle/>
                    <a:p>
                      <a:pPr indent="0" lvl="0" marL="0" rtl="0" algn="l">
                        <a:spcBef>
                          <a:spcPts val="0"/>
                        </a:spcBef>
                        <a:spcAft>
                          <a:spcPts val="0"/>
                        </a:spcAft>
                        <a:buClr>
                          <a:srgbClr val="000000"/>
                        </a:buClr>
                        <a:buSzPts val="1100"/>
                        <a:buFont typeface="Arial"/>
                        <a:buNone/>
                      </a:pPr>
                      <a:r>
                        <a:rPr lang="en-US">
                          <a:solidFill>
                            <a:srgbClr val="000000"/>
                          </a:solidFill>
                          <a:latin typeface="Calibri"/>
                          <a:ea typeface="Calibri"/>
                          <a:cs typeface="Calibri"/>
                          <a:sym typeface="Calibri"/>
                        </a:rPr>
                        <a:t>ARMAX(p=4,d=0,q=1, trend=’t’, exog=[‘Relative Humidity’,’Wind Direction’])</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rgbClr val="000000"/>
                        </a:buClr>
                        <a:buSzPts val="1100"/>
                        <a:buFont typeface="Arial"/>
                        <a:buNone/>
                      </a:pPr>
                      <a:r>
                        <a:rPr lang="en-US">
                          <a:solidFill>
                            <a:srgbClr val="000000"/>
                          </a:solidFill>
                          <a:latin typeface="Calibri"/>
                          <a:ea typeface="Calibri"/>
                          <a:cs typeface="Calibri"/>
                          <a:sym typeface="Calibri"/>
                        </a:rPr>
                        <a:t>176.463</a:t>
                      </a:r>
                      <a:endParaRPr>
                        <a:latin typeface="Calibri"/>
                        <a:ea typeface="Calibri"/>
                        <a:cs typeface="Calibri"/>
                        <a:sym typeface="Calibri"/>
                      </a:endParaRPr>
                    </a:p>
                  </a:txBody>
                  <a:tcPr marT="91425" marB="91425" marR="91425" marL="91425"/>
                </a:tc>
              </a:tr>
              <a:tr h="854875">
                <a:tc>
                  <a:txBody>
                    <a:bodyPr/>
                    <a:lstStyle/>
                    <a:p>
                      <a:pPr indent="0" lvl="0" marL="0" rtl="0" algn="l">
                        <a:spcBef>
                          <a:spcPts val="0"/>
                        </a:spcBef>
                        <a:spcAft>
                          <a:spcPts val="0"/>
                        </a:spcAft>
                        <a:buClr>
                          <a:srgbClr val="000000"/>
                        </a:buClr>
                        <a:buSzPts val="1100"/>
                        <a:buFont typeface="Arial"/>
                        <a:buNone/>
                      </a:pPr>
                      <a:r>
                        <a:rPr lang="en-US">
                          <a:solidFill>
                            <a:srgbClr val="000000"/>
                          </a:solidFill>
                          <a:latin typeface="Calibri"/>
                          <a:ea typeface="Calibri"/>
                          <a:cs typeface="Calibri"/>
                          <a:sym typeface="Calibri"/>
                        </a:rPr>
                        <a:t>ARMAX(p=4,d=0,q=1, trend=’t’, exog=[‘Average Temperature’,’Diwali’,‘Relative Humidity’,’Wind Direction’,’Barometric Pressure’])</a:t>
                      </a:r>
                      <a:endParaRPr>
                        <a:solidFill>
                          <a:srgbClr val="000000"/>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rgbClr val="000000"/>
                        </a:buClr>
                        <a:buSzPts val="1100"/>
                        <a:buFont typeface="Arial"/>
                        <a:buNone/>
                      </a:pPr>
                      <a:r>
                        <a:rPr lang="en-US">
                          <a:solidFill>
                            <a:srgbClr val="000000"/>
                          </a:solidFill>
                          <a:latin typeface="Calibri"/>
                          <a:ea typeface="Calibri"/>
                          <a:cs typeface="Calibri"/>
                          <a:sym typeface="Calibri"/>
                        </a:rPr>
                        <a:t>145.075</a:t>
                      </a:r>
                      <a:endParaRPr>
                        <a:solidFill>
                          <a:srgbClr val="000000"/>
                        </a:solidFill>
                        <a:latin typeface="Calibri"/>
                        <a:ea typeface="Calibri"/>
                        <a:cs typeface="Calibri"/>
                        <a:sym typeface="Calibri"/>
                      </a:endParaRPr>
                    </a:p>
                  </a:txBody>
                  <a:tcPr marT="91425" marB="91425" marR="91425" marL="91425"/>
                </a:tc>
              </a:tr>
              <a:tr h="633225">
                <a:tc>
                  <a:txBody>
                    <a:bodyPr/>
                    <a:lstStyle/>
                    <a:p>
                      <a:pPr indent="0" lvl="0" marL="0" rtl="0" algn="l">
                        <a:spcBef>
                          <a:spcPts val="0"/>
                        </a:spcBef>
                        <a:spcAft>
                          <a:spcPts val="0"/>
                        </a:spcAft>
                        <a:buClr>
                          <a:srgbClr val="000000"/>
                        </a:buClr>
                        <a:buSzPts val="1100"/>
                        <a:buFont typeface="Arial"/>
                        <a:buNone/>
                      </a:pPr>
                      <a:r>
                        <a:rPr lang="en-US">
                          <a:solidFill>
                            <a:srgbClr val="000000"/>
                          </a:solidFill>
                          <a:latin typeface="Calibri"/>
                          <a:ea typeface="Calibri"/>
                          <a:cs typeface="Calibri"/>
                          <a:sym typeface="Calibri"/>
                        </a:rPr>
                        <a:t>ARMAX(p=4,d=0,q=1, trend=’t’, exog=[‘Average Temperature’,’Diwali’,‘Relative Humidity’])</a:t>
                      </a:r>
                      <a:endParaRPr>
                        <a:solidFill>
                          <a:srgbClr val="000000"/>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rgbClr val="000000"/>
                        </a:buClr>
                        <a:buSzPts val="1100"/>
                        <a:buFont typeface="Arial"/>
                        <a:buNone/>
                      </a:pPr>
                      <a:r>
                        <a:rPr b="1" lang="en-US">
                          <a:solidFill>
                            <a:srgbClr val="000000"/>
                          </a:solidFill>
                          <a:latin typeface="Calibri"/>
                          <a:ea typeface="Calibri"/>
                          <a:cs typeface="Calibri"/>
                          <a:sym typeface="Calibri"/>
                        </a:rPr>
                        <a:t>125.52</a:t>
                      </a:r>
                      <a:endParaRPr>
                        <a:solidFill>
                          <a:srgbClr val="000000"/>
                        </a:solidFill>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2"/>
          <p:cNvSpPr txBox="1"/>
          <p:nvPr>
            <p:ph idx="1" type="body"/>
          </p:nvPr>
        </p:nvSpPr>
        <p:spPr>
          <a:xfrm>
            <a:off x="688585" y="161097"/>
            <a:ext cx="75381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Results</a:t>
            </a:r>
            <a:endParaRPr sz="3600">
              <a:solidFill>
                <a:schemeClr val="dk2"/>
              </a:solidFill>
              <a:latin typeface="Libre Franklin"/>
              <a:ea typeface="Libre Franklin"/>
              <a:cs typeface="Libre Franklin"/>
              <a:sym typeface="Libre Franklin"/>
            </a:endParaRPr>
          </a:p>
        </p:txBody>
      </p:sp>
      <p:sp>
        <p:nvSpPr>
          <p:cNvPr id="379" name="Google Shape;379;p42"/>
          <p:cNvSpPr txBox="1"/>
          <p:nvPr>
            <p:ph idx="3" type="body"/>
          </p:nvPr>
        </p:nvSpPr>
        <p:spPr>
          <a:xfrm>
            <a:off x="511175" y="370250"/>
            <a:ext cx="7538100" cy="49059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Clr>
                <a:srgbClr val="000000"/>
              </a:buClr>
              <a:buSzPts val="1400"/>
              <a:buFont typeface="Arial"/>
              <a:buNone/>
            </a:pPr>
            <a:r>
              <a:t/>
            </a:r>
            <a:endParaRPr sz="1400">
              <a:latin typeface="Times New Roman"/>
              <a:ea typeface="Times New Roman"/>
              <a:cs typeface="Times New Roman"/>
              <a:sym typeface="Times New Roman"/>
            </a:endParaRPr>
          </a:p>
          <a:p>
            <a:pPr indent="-228600" lvl="0" marL="457200" rtl="0" algn="l">
              <a:lnSpc>
                <a:spcPct val="100000"/>
              </a:lnSpc>
              <a:spcBef>
                <a:spcPts val="0"/>
              </a:spcBef>
              <a:spcAft>
                <a:spcPts val="0"/>
              </a:spcAft>
              <a:buClr>
                <a:srgbClr val="000000"/>
              </a:buClr>
              <a:buSzPts val="1400"/>
              <a:buFont typeface="Arial"/>
              <a:buNone/>
            </a:pPr>
            <a:r>
              <a:rPr lang="en-US" sz="1400">
                <a:latin typeface="Times New Roman"/>
                <a:ea typeface="Times New Roman"/>
                <a:cs typeface="Times New Roman"/>
                <a:sym typeface="Times New Roman"/>
              </a:rPr>
              <a:t>Model Results: </a:t>
            </a:r>
            <a:endParaRPr sz="1400">
              <a:latin typeface="Times New Roman"/>
              <a:ea typeface="Times New Roman"/>
              <a:cs typeface="Times New Roman"/>
              <a:sym typeface="Times New Roman"/>
            </a:endParaRPr>
          </a:p>
          <a:p>
            <a:pPr indent="-228600" lvl="0" marL="457200" rtl="0" algn="l">
              <a:lnSpc>
                <a:spcPct val="100000"/>
              </a:lnSpc>
              <a:spcBef>
                <a:spcPts val="0"/>
              </a:spcBef>
              <a:spcAft>
                <a:spcPts val="0"/>
              </a:spcAft>
              <a:buClr>
                <a:srgbClr val="000000"/>
              </a:buClr>
              <a:buSzPts val="1400"/>
              <a:buFont typeface="Arial"/>
              <a:buNone/>
            </a:pPr>
            <a:r>
              <a:t/>
            </a:r>
            <a:endParaRPr sz="1400">
              <a:latin typeface="Times New Roman"/>
              <a:ea typeface="Times New Roman"/>
              <a:cs typeface="Times New Roman"/>
              <a:sym typeface="Times New Roman"/>
            </a:endParaRPr>
          </a:p>
        </p:txBody>
      </p:sp>
      <p:sp>
        <p:nvSpPr>
          <p:cNvPr id="380" name="Google Shape;380;p42"/>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pic>
        <p:nvPicPr>
          <p:cNvPr id="381" name="Google Shape;381;p42"/>
          <p:cNvPicPr preferRelativeResize="0"/>
          <p:nvPr/>
        </p:nvPicPr>
        <p:blipFill>
          <a:blip r:embed="rId3">
            <a:alphaModFix/>
          </a:blip>
          <a:stretch>
            <a:fillRect/>
          </a:stretch>
        </p:blipFill>
        <p:spPr>
          <a:xfrm>
            <a:off x="247612" y="1318475"/>
            <a:ext cx="8648783" cy="4549800"/>
          </a:xfrm>
          <a:prstGeom prst="rect">
            <a:avLst/>
          </a:prstGeom>
          <a:noFill/>
          <a:ln>
            <a:noFill/>
          </a:ln>
        </p:spPr>
      </p:pic>
      <p:sp>
        <p:nvSpPr>
          <p:cNvPr id="382" name="Google Shape;382;p42"/>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383" name="Google Shape;383;p42"/>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3"/>
          <p:cNvSpPr txBox="1"/>
          <p:nvPr>
            <p:ph idx="1" type="body"/>
          </p:nvPr>
        </p:nvSpPr>
        <p:spPr>
          <a:xfrm>
            <a:off x="688585" y="161097"/>
            <a:ext cx="75381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2800"/>
              <a:buNone/>
            </a:pPr>
            <a:r>
              <a:rPr lang="en-US" sz="3600">
                <a:solidFill>
                  <a:schemeClr val="dk2"/>
                </a:solidFill>
                <a:latin typeface="Libre Franklin"/>
                <a:ea typeface="Libre Franklin"/>
                <a:cs typeface="Libre Franklin"/>
                <a:sym typeface="Libre Franklin"/>
              </a:rPr>
              <a:t>Results</a:t>
            </a:r>
            <a:endParaRPr sz="3600">
              <a:solidFill>
                <a:schemeClr val="dk2"/>
              </a:solidFill>
              <a:latin typeface="Libre Franklin"/>
              <a:ea typeface="Libre Franklin"/>
              <a:cs typeface="Libre Franklin"/>
              <a:sym typeface="Libre Franklin"/>
            </a:endParaRPr>
          </a:p>
        </p:txBody>
      </p:sp>
      <p:sp>
        <p:nvSpPr>
          <p:cNvPr id="389" name="Google Shape;389;p43"/>
          <p:cNvSpPr txBox="1"/>
          <p:nvPr>
            <p:ph idx="3" type="body"/>
          </p:nvPr>
        </p:nvSpPr>
        <p:spPr>
          <a:xfrm>
            <a:off x="511175" y="370250"/>
            <a:ext cx="7538100" cy="49059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Clr>
                <a:srgbClr val="000000"/>
              </a:buClr>
              <a:buSzPts val="1400"/>
              <a:buFont typeface="Arial"/>
              <a:buNone/>
            </a:pPr>
            <a:r>
              <a:t/>
            </a:r>
            <a:endParaRPr sz="1400">
              <a:latin typeface="Times New Roman"/>
              <a:ea typeface="Times New Roman"/>
              <a:cs typeface="Times New Roman"/>
              <a:sym typeface="Times New Roman"/>
            </a:endParaRPr>
          </a:p>
          <a:p>
            <a:pPr indent="-228600" lvl="0" marL="457200" rtl="0" algn="l">
              <a:lnSpc>
                <a:spcPct val="100000"/>
              </a:lnSpc>
              <a:spcBef>
                <a:spcPts val="0"/>
              </a:spcBef>
              <a:spcAft>
                <a:spcPts val="0"/>
              </a:spcAft>
              <a:buClr>
                <a:srgbClr val="000000"/>
              </a:buClr>
              <a:buSzPts val="1400"/>
              <a:buFont typeface="Arial"/>
              <a:buNone/>
            </a:pPr>
            <a:r>
              <a:rPr lang="en-US" sz="1400">
                <a:latin typeface="Times New Roman"/>
                <a:ea typeface="Times New Roman"/>
                <a:cs typeface="Times New Roman"/>
                <a:sym typeface="Times New Roman"/>
              </a:rPr>
              <a:t> </a:t>
            </a:r>
            <a:endParaRPr sz="1400">
              <a:latin typeface="Times New Roman"/>
              <a:ea typeface="Times New Roman"/>
              <a:cs typeface="Times New Roman"/>
              <a:sym typeface="Times New Roman"/>
            </a:endParaRPr>
          </a:p>
          <a:p>
            <a:pPr indent="-228600" lvl="0" marL="457200" rtl="0" algn="l">
              <a:lnSpc>
                <a:spcPct val="100000"/>
              </a:lnSpc>
              <a:spcBef>
                <a:spcPts val="0"/>
              </a:spcBef>
              <a:spcAft>
                <a:spcPts val="0"/>
              </a:spcAft>
              <a:buClr>
                <a:srgbClr val="000000"/>
              </a:buClr>
              <a:buSzPts val="1400"/>
              <a:buFont typeface="Arial"/>
              <a:buNone/>
            </a:pPr>
            <a:r>
              <a:t/>
            </a:r>
            <a:endParaRPr sz="1400">
              <a:latin typeface="Times New Roman"/>
              <a:ea typeface="Times New Roman"/>
              <a:cs typeface="Times New Roman"/>
              <a:sym typeface="Times New Roman"/>
            </a:endParaRPr>
          </a:p>
        </p:txBody>
      </p:sp>
      <p:sp>
        <p:nvSpPr>
          <p:cNvPr id="390" name="Google Shape;390;p43"/>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graphicFrame>
        <p:nvGraphicFramePr>
          <p:cNvPr id="391" name="Google Shape;391;p43"/>
          <p:cNvGraphicFramePr/>
          <p:nvPr/>
        </p:nvGraphicFramePr>
        <p:xfrm>
          <a:off x="987675" y="1861300"/>
          <a:ext cx="3000000" cy="3000000"/>
        </p:xfrm>
        <a:graphic>
          <a:graphicData uri="http://schemas.openxmlformats.org/drawingml/2006/table">
            <a:tbl>
              <a:tblPr>
                <a:noFill/>
                <a:tableStyleId>{8F89D18D-C526-4453-AF8D-DFCF61797091}</a:tableStyleId>
              </a:tblPr>
              <a:tblGrid>
                <a:gridCol w="1809750"/>
                <a:gridCol w="1809750"/>
                <a:gridCol w="1809750"/>
                <a:gridCol w="1809750"/>
              </a:tblGrid>
              <a:tr h="381000">
                <a:tc>
                  <a:txBody>
                    <a:bodyPr/>
                    <a:lstStyle/>
                    <a:p>
                      <a:pPr indent="0" lvl="0" marL="0" rtl="0" algn="l">
                        <a:spcBef>
                          <a:spcPts val="0"/>
                        </a:spcBef>
                        <a:spcAft>
                          <a:spcPts val="0"/>
                        </a:spcAft>
                        <a:buNone/>
                      </a:pPr>
                      <a:r>
                        <a:rPr lang="en-US"/>
                        <a:t>Date</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Forecasted AQI(by model)</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Actual AQI (from CPCB)</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Difference</a:t>
                      </a:r>
                      <a:endParaRPr/>
                    </a:p>
                  </a:txBody>
                  <a:tcPr marT="91425" marB="91425" marR="91425" marL="91425"/>
                </a:tc>
              </a:tr>
              <a:tr h="381000">
                <a:tc>
                  <a:txBody>
                    <a:bodyPr/>
                    <a:lstStyle/>
                    <a:p>
                      <a:pPr indent="0" lvl="0" marL="0" rtl="0" algn="l">
                        <a:spcBef>
                          <a:spcPts val="0"/>
                        </a:spcBef>
                        <a:spcAft>
                          <a:spcPts val="0"/>
                        </a:spcAft>
                        <a:buNone/>
                      </a:pPr>
                      <a:r>
                        <a:rPr lang="en-US"/>
                        <a:t>12/06/2023</a:t>
                      </a:r>
                      <a:endParaRPr/>
                    </a:p>
                  </a:txBody>
                  <a:tcPr marT="91425" marB="91425" marR="91425" marL="91425"/>
                </a:tc>
                <a:tc>
                  <a:txBody>
                    <a:bodyPr/>
                    <a:lstStyle/>
                    <a:p>
                      <a:pPr indent="0" lvl="0" marL="0" rtl="0" algn="l">
                        <a:spcBef>
                          <a:spcPts val="0"/>
                        </a:spcBef>
                        <a:spcAft>
                          <a:spcPts val="0"/>
                        </a:spcAft>
                        <a:buNone/>
                      </a:pPr>
                      <a:r>
                        <a:rPr lang="en-US"/>
                        <a:t>33</a:t>
                      </a:r>
                      <a:endParaRPr/>
                    </a:p>
                  </a:txBody>
                  <a:tcPr marT="91425" marB="91425" marR="91425" marL="91425"/>
                </a:tc>
                <a:tc>
                  <a:txBody>
                    <a:bodyPr/>
                    <a:lstStyle/>
                    <a:p>
                      <a:pPr indent="0" lvl="0" marL="0" rtl="0" algn="l">
                        <a:spcBef>
                          <a:spcPts val="0"/>
                        </a:spcBef>
                        <a:spcAft>
                          <a:spcPts val="0"/>
                        </a:spcAft>
                        <a:buNone/>
                      </a:pPr>
                      <a:r>
                        <a:rPr lang="en-US"/>
                        <a:t>35</a:t>
                      </a:r>
                      <a:endParaRPr/>
                    </a:p>
                  </a:txBody>
                  <a:tcPr marT="91425" marB="91425" marR="91425" marL="91425"/>
                </a:tc>
                <a:tc>
                  <a:txBody>
                    <a:bodyPr/>
                    <a:lstStyle/>
                    <a:p>
                      <a:pPr indent="0" lvl="0" marL="0" rtl="0" algn="l">
                        <a:spcBef>
                          <a:spcPts val="0"/>
                        </a:spcBef>
                        <a:spcAft>
                          <a:spcPts val="0"/>
                        </a:spcAft>
                        <a:buNone/>
                      </a:pPr>
                      <a:r>
                        <a:rPr lang="en-US"/>
                        <a:t>2</a:t>
                      </a:r>
                      <a:endParaRPr/>
                    </a:p>
                  </a:txBody>
                  <a:tcPr marT="91425" marB="91425" marR="91425" marL="91425"/>
                </a:tc>
              </a:tr>
              <a:tr h="381000">
                <a:tc>
                  <a:txBody>
                    <a:bodyPr/>
                    <a:lstStyle/>
                    <a:p>
                      <a:pPr indent="0" lvl="0" marL="0" rtl="0" algn="l">
                        <a:spcBef>
                          <a:spcPts val="0"/>
                        </a:spcBef>
                        <a:spcAft>
                          <a:spcPts val="0"/>
                        </a:spcAft>
                        <a:buNone/>
                      </a:pPr>
                      <a:r>
                        <a:rPr lang="en-US"/>
                        <a:t>13/06/2023</a:t>
                      </a:r>
                      <a:endParaRPr/>
                    </a:p>
                  </a:txBody>
                  <a:tcPr marT="91425" marB="91425" marR="91425" marL="91425"/>
                </a:tc>
                <a:tc>
                  <a:txBody>
                    <a:bodyPr/>
                    <a:lstStyle/>
                    <a:p>
                      <a:pPr indent="0" lvl="0" marL="0" rtl="0" algn="l">
                        <a:spcBef>
                          <a:spcPts val="0"/>
                        </a:spcBef>
                        <a:spcAft>
                          <a:spcPts val="0"/>
                        </a:spcAft>
                        <a:buNone/>
                      </a:pPr>
                      <a:r>
                        <a:rPr lang="en-US"/>
                        <a:t>33</a:t>
                      </a:r>
                      <a:endParaRPr/>
                    </a:p>
                  </a:txBody>
                  <a:tcPr marT="91425" marB="91425" marR="91425" marL="91425"/>
                </a:tc>
                <a:tc>
                  <a:txBody>
                    <a:bodyPr/>
                    <a:lstStyle/>
                    <a:p>
                      <a:pPr indent="0" lvl="0" marL="0" rtl="0" algn="l">
                        <a:spcBef>
                          <a:spcPts val="0"/>
                        </a:spcBef>
                        <a:spcAft>
                          <a:spcPts val="0"/>
                        </a:spcAft>
                        <a:buNone/>
                      </a:pPr>
                      <a:r>
                        <a:rPr lang="en-US"/>
                        <a:t>34</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r>
              <a:tr h="381000">
                <a:tc>
                  <a:txBody>
                    <a:bodyPr/>
                    <a:lstStyle/>
                    <a:p>
                      <a:pPr indent="0" lvl="0" marL="0" rtl="0" algn="l">
                        <a:spcBef>
                          <a:spcPts val="0"/>
                        </a:spcBef>
                        <a:spcAft>
                          <a:spcPts val="0"/>
                        </a:spcAft>
                        <a:buNone/>
                      </a:pPr>
                      <a:r>
                        <a:rPr lang="en-US"/>
                        <a:t>14/606/2023</a:t>
                      </a:r>
                      <a:endParaRPr/>
                    </a:p>
                  </a:txBody>
                  <a:tcPr marT="91425" marB="91425" marR="91425" marL="91425"/>
                </a:tc>
                <a:tc>
                  <a:txBody>
                    <a:bodyPr/>
                    <a:lstStyle/>
                    <a:p>
                      <a:pPr indent="0" lvl="0" marL="0" rtl="0" algn="l">
                        <a:spcBef>
                          <a:spcPts val="0"/>
                        </a:spcBef>
                        <a:spcAft>
                          <a:spcPts val="0"/>
                        </a:spcAft>
                        <a:buNone/>
                      </a:pPr>
                      <a:r>
                        <a:rPr lang="en-US"/>
                        <a:t>36</a:t>
                      </a:r>
                      <a:endParaRPr/>
                    </a:p>
                  </a:txBody>
                  <a:tcPr marT="91425" marB="91425" marR="91425" marL="91425"/>
                </a:tc>
                <a:tc>
                  <a:txBody>
                    <a:bodyPr/>
                    <a:lstStyle/>
                    <a:p>
                      <a:pPr indent="0" lvl="0" marL="0" rtl="0" algn="l">
                        <a:spcBef>
                          <a:spcPts val="0"/>
                        </a:spcBef>
                        <a:spcAft>
                          <a:spcPts val="0"/>
                        </a:spcAft>
                        <a:buNone/>
                      </a:pPr>
                      <a:r>
                        <a:rPr lang="en-US"/>
                        <a:t>40</a:t>
                      </a:r>
                      <a:endParaRPr/>
                    </a:p>
                  </a:txBody>
                  <a:tcPr marT="91425" marB="91425" marR="91425" marL="91425"/>
                </a:tc>
                <a:tc>
                  <a:txBody>
                    <a:bodyPr/>
                    <a:lstStyle/>
                    <a:p>
                      <a:pPr indent="0" lvl="0" marL="0" rtl="0" algn="l">
                        <a:spcBef>
                          <a:spcPts val="0"/>
                        </a:spcBef>
                        <a:spcAft>
                          <a:spcPts val="0"/>
                        </a:spcAft>
                        <a:buNone/>
                      </a:pPr>
                      <a:r>
                        <a:rPr lang="en-US"/>
                        <a:t>4</a:t>
                      </a:r>
                      <a:endParaRPr/>
                    </a:p>
                  </a:txBody>
                  <a:tcPr marT="91425" marB="91425" marR="91425" marL="91425"/>
                </a:tc>
              </a:tr>
              <a:tr h="381000">
                <a:tc>
                  <a:txBody>
                    <a:bodyPr/>
                    <a:lstStyle/>
                    <a:p>
                      <a:pPr indent="0" lvl="0" marL="0" rtl="0" algn="l">
                        <a:spcBef>
                          <a:spcPts val="0"/>
                        </a:spcBef>
                        <a:spcAft>
                          <a:spcPts val="0"/>
                        </a:spcAft>
                        <a:buNone/>
                      </a:pPr>
                      <a:r>
                        <a:rPr lang="en-US"/>
                        <a:t>15/06/2023</a:t>
                      </a:r>
                      <a:endParaRPr/>
                    </a:p>
                  </a:txBody>
                  <a:tcPr marT="91425" marB="91425" marR="91425" marL="91425"/>
                </a:tc>
                <a:tc>
                  <a:txBody>
                    <a:bodyPr/>
                    <a:lstStyle/>
                    <a:p>
                      <a:pPr indent="0" lvl="0" marL="0" rtl="0" algn="l">
                        <a:spcBef>
                          <a:spcPts val="0"/>
                        </a:spcBef>
                        <a:spcAft>
                          <a:spcPts val="0"/>
                        </a:spcAft>
                        <a:buNone/>
                      </a:pPr>
                      <a:r>
                        <a:rPr lang="en-US"/>
                        <a:t>41</a:t>
                      </a:r>
                      <a:endParaRPr/>
                    </a:p>
                  </a:txBody>
                  <a:tcPr marT="91425" marB="91425" marR="91425" marL="91425"/>
                </a:tc>
                <a:tc>
                  <a:txBody>
                    <a:bodyPr/>
                    <a:lstStyle/>
                    <a:p>
                      <a:pPr indent="0" lvl="0" marL="0" rtl="0" algn="l">
                        <a:spcBef>
                          <a:spcPts val="0"/>
                        </a:spcBef>
                        <a:spcAft>
                          <a:spcPts val="0"/>
                        </a:spcAft>
                        <a:buNone/>
                      </a:pPr>
                      <a:r>
                        <a:rPr lang="en-US"/>
                        <a:t>45</a:t>
                      </a:r>
                      <a:endParaRPr/>
                    </a:p>
                  </a:txBody>
                  <a:tcPr marT="91425" marB="91425" marR="91425" marL="91425"/>
                </a:tc>
                <a:tc>
                  <a:txBody>
                    <a:bodyPr/>
                    <a:lstStyle/>
                    <a:p>
                      <a:pPr indent="0" lvl="0" marL="0" rtl="0" algn="l">
                        <a:spcBef>
                          <a:spcPts val="0"/>
                        </a:spcBef>
                        <a:spcAft>
                          <a:spcPts val="0"/>
                        </a:spcAft>
                        <a:buNone/>
                      </a:pPr>
                      <a:r>
                        <a:rPr lang="en-US"/>
                        <a:t>4</a:t>
                      </a:r>
                      <a:endParaRPr/>
                    </a:p>
                  </a:txBody>
                  <a:tcPr marT="91425" marB="91425" marR="91425" marL="91425"/>
                </a:tc>
              </a:tr>
            </a:tbl>
          </a:graphicData>
        </a:graphic>
      </p:graphicFrame>
      <p:sp>
        <p:nvSpPr>
          <p:cNvPr id="392" name="Google Shape;392;p43"/>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393" name="Google Shape;393;p43"/>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4"/>
          <p:cNvSpPr txBox="1"/>
          <p:nvPr>
            <p:ph idx="1" type="body"/>
          </p:nvPr>
        </p:nvSpPr>
        <p:spPr>
          <a:xfrm>
            <a:off x="688623" y="404664"/>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Future Enhancement</a:t>
            </a:r>
            <a:endParaRPr sz="3600">
              <a:solidFill>
                <a:schemeClr val="dk2"/>
              </a:solidFill>
              <a:latin typeface="Libre Franklin"/>
              <a:ea typeface="Libre Franklin"/>
              <a:cs typeface="Libre Franklin"/>
              <a:sym typeface="Libre Franklin"/>
            </a:endParaRPr>
          </a:p>
        </p:txBody>
      </p:sp>
      <p:sp>
        <p:nvSpPr>
          <p:cNvPr id="399" name="Google Shape;399;p44"/>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400" name="Google Shape;400;p44"/>
          <p:cNvSpPr txBox="1"/>
          <p:nvPr/>
        </p:nvSpPr>
        <p:spPr>
          <a:xfrm>
            <a:off x="595025" y="1936375"/>
            <a:ext cx="8037900" cy="2798400"/>
          </a:xfrm>
          <a:prstGeom prst="rect">
            <a:avLst/>
          </a:prstGeom>
          <a:noFill/>
          <a:ln>
            <a:noFill/>
          </a:ln>
        </p:spPr>
        <p:txBody>
          <a:bodyPr anchorCtr="0" anchor="t" bIns="91425" lIns="91425" spcFirstLastPara="1" rIns="91425" wrap="square" tIns="91425">
            <a:spAutoFit/>
          </a:bodyPr>
          <a:lstStyle/>
          <a:p>
            <a:pPr indent="-330200" lvl="0" marL="457200" rtl="0" algn="just">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Integrating the AQI forecast into Google Maps. Just like how Google gives push notifications of the weather rain forecast, it should give AQI forecasts as well.</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Automating the complete line of work, the device and model should work without any human interference, except for maintenance.</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10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We have built only one IoT device and have implemented it in only one location. Once we have established the proof of concept with this one location, we hope we can implement this on a much larger scale, covering much larger areas. </a:t>
            </a:r>
            <a:endParaRPr sz="1600">
              <a:solidFill>
                <a:schemeClr val="dk1"/>
              </a:solidFill>
              <a:latin typeface="Times New Roman"/>
              <a:ea typeface="Times New Roman"/>
              <a:cs typeface="Times New Roman"/>
              <a:sym typeface="Times New Roman"/>
            </a:endParaRPr>
          </a:p>
          <a:p>
            <a:pPr indent="-330200" lvl="0" marL="457200" rtl="0" algn="just">
              <a:lnSpc>
                <a:spcPct val="115000"/>
              </a:lnSpc>
              <a:spcBef>
                <a:spcPts val="1000"/>
              </a:spcBef>
              <a:spcAft>
                <a:spcPts val="100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Usage of Traffic Density and Industrial Emissions as Exogenous Features.</a:t>
            </a:r>
            <a:endParaRPr sz="1600">
              <a:solidFill>
                <a:schemeClr val="dk1"/>
              </a:solidFill>
              <a:latin typeface="Times New Roman"/>
              <a:ea typeface="Times New Roman"/>
              <a:cs typeface="Times New Roman"/>
              <a:sym typeface="Times New Roman"/>
            </a:endParaRPr>
          </a:p>
        </p:txBody>
      </p:sp>
      <p:sp>
        <p:nvSpPr>
          <p:cNvPr id="401" name="Google Shape;401;p44"/>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402" name="Google Shape;402;p44"/>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5"/>
          <p:cNvSpPr txBox="1"/>
          <p:nvPr>
            <p:ph idx="1" type="body"/>
          </p:nvPr>
        </p:nvSpPr>
        <p:spPr>
          <a:xfrm>
            <a:off x="688623" y="404664"/>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Project outcome</a:t>
            </a:r>
            <a:endParaRPr sz="3600">
              <a:solidFill>
                <a:schemeClr val="dk2"/>
              </a:solidFill>
              <a:latin typeface="Libre Franklin"/>
              <a:ea typeface="Libre Franklin"/>
              <a:cs typeface="Libre Franklin"/>
              <a:sym typeface="Libre Franklin"/>
            </a:endParaRPr>
          </a:p>
        </p:txBody>
      </p:sp>
      <p:sp>
        <p:nvSpPr>
          <p:cNvPr id="408" name="Google Shape;408;p45"/>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409" name="Google Shape;409;p45"/>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410" name="Google Shape;410;p45"/>
          <p:cNvSpPr txBox="1"/>
          <p:nvPr/>
        </p:nvSpPr>
        <p:spPr>
          <a:xfrm>
            <a:off x="755575" y="1565150"/>
            <a:ext cx="7255200" cy="3863400"/>
          </a:xfrm>
          <a:prstGeom prst="rect">
            <a:avLst/>
          </a:prstGeom>
          <a:noFill/>
          <a:ln>
            <a:noFill/>
          </a:ln>
        </p:spPr>
        <p:txBody>
          <a:bodyPr anchorCtr="0" anchor="t" bIns="45700" lIns="91425" spcFirstLastPara="1" rIns="91425" wrap="square" tIns="45700">
            <a:spAutoFit/>
          </a:bodyPr>
          <a:lstStyle/>
          <a:p>
            <a:pPr indent="-330200" lvl="0" marL="457200" rtl="0" algn="l">
              <a:lnSpc>
                <a:spcPct val="115000"/>
              </a:lnSpc>
              <a:spcBef>
                <a:spcPts val="0"/>
              </a:spcBef>
              <a:spcAft>
                <a:spcPts val="0"/>
              </a:spcAft>
              <a:buClr>
                <a:schemeClr val="dk1"/>
              </a:buClr>
              <a:buSzPts val="1600"/>
              <a:buFont typeface="Times New Roman"/>
              <a:buChar char="●"/>
            </a:pPr>
            <a:r>
              <a:rPr b="1" lang="en-US" sz="1600">
                <a:solidFill>
                  <a:schemeClr val="dk1"/>
                </a:solidFill>
                <a:latin typeface="Times New Roman"/>
                <a:ea typeface="Times New Roman"/>
                <a:cs typeface="Times New Roman"/>
                <a:sym typeface="Times New Roman"/>
              </a:rPr>
              <a:t>Competition</a:t>
            </a:r>
            <a:br>
              <a:rPr lang="en-US" sz="1600">
                <a:solidFill>
                  <a:schemeClr val="dk1"/>
                </a:solidFill>
                <a:latin typeface="Times New Roman"/>
                <a:ea typeface="Times New Roman"/>
                <a:cs typeface="Times New Roman"/>
                <a:sym typeface="Times New Roman"/>
              </a:rPr>
            </a:br>
            <a:r>
              <a:rPr lang="en-US" sz="1600">
                <a:solidFill>
                  <a:schemeClr val="dk1"/>
                </a:solidFill>
                <a:latin typeface="Times New Roman"/>
                <a:ea typeface="Times New Roman"/>
                <a:cs typeface="Times New Roman"/>
                <a:sym typeface="Times New Roman"/>
              </a:rPr>
              <a:t>KSCST: Selected for ‘Student Project Programme (SPP)’ and received funding</a:t>
            </a:r>
            <a:br>
              <a:rPr lang="en-US" sz="1600">
                <a:solidFill>
                  <a:schemeClr val="dk1"/>
                </a:solidFill>
                <a:latin typeface="Times New Roman"/>
                <a:ea typeface="Times New Roman"/>
                <a:cs typeface="Times New Roman"/>
                <a:sym typeface="Times New Roman"/>
              </a:rPr>
            </a:br>
            <a:r>
              <a:rPr lang="en-US" sz="1600">
                <a:solidFill>
                  <a:schemeClr val="dk1"/>
                </a:solidFill>
                <a:latin typeface="Times New Roman"/>
                <a:ea typeface="Times New Roman"/>
                <a:cs typeface="Times New Roman"/>
                <a:sym typeface="Times New Roman"/>
              </a:rPr>
              <a:t>Status: Completed Mid-term evaluation on 5th June 2023.</a:t>
            </a:r>
            <a:br>
              <a:rPr lang="en-US" sz="1600">
                <a:solidFill>
                  <a:schemeClr val="dk1"/>
                </a:solidFill>
                <a:latin typeface="Times New Roman"/>
                <a:ea typeface="Times New Roman"/>
                <a:cs typeface="Times New Roman"/>
                <a:sym typeface="Times New Roman"/>
              </a:rPr>
            </a:br>
            <a:r>
              <a:rPr lang="en-US" sz="1600">
                <a:solidFill>
                  <a:schemeClr val="dk1"/>
                </a:solidFill>
                <a:latin typeface="Times New Roman"/>
                <a:ea typeface="Times New Roman"/>
                <a:cs typeface="Times New Roman"/>
                <a:sym typeface="Times New Roman"/>
              </a:rPr>
              <a:t>Selected for final round to be held on August 11th.</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1000"/>
              </a:spcBef>
              <a:spcAft>
                <a:spcPts val="0"/>
              </a:spcAft>
              <a:buClr>
                <a:schemeClr val="dk1"/>
              </a:buClr>
              <a:buSzPts val="1600"/>
              <a:buFont typeface="Times New Roman"/>
              <a:buChar char="●"/>
            </a:pPr>
            <a:r>
              <a:rPr b="1" lang="en-US" sz="1600">
                <a:solidFill>
                  <a:schemeClr val="dk1"/>
                </a:solidFill>
                <a:latin typeface="Times New Roman"/>
                <a:ea typeface="Times New Roman"/>
                <a:cs typeface="Times New Roman"/>
                <a:sym typeface="Times New Roman"/>
              </a:rPr>
              <a:t>Research Paper</a:t>
            </a:r>
            <a:br>
              <a:rPr lang="en-US" sz="1600">
                <a:solidFill>
                  <a:schemeClr val="dk1"/>
                </a:solidFill>
                <a:latin typeface="Times New Roman"/>
                <a:ea typeface="Times New Roman"/>
                <a:cs typeface="Times New Roman"/>
                <a:sym typeface="Times New Roman"/>
              </a:rPr>
            </a:br>
            <a:r>
              <a:rPr lang="en-US" sz="1600">
                <a:solidFill>
                  <a:schemeClr val="dk1"/>
                </a:solidFill>
                <a:latin typeface="Times New Roman"/>
                <a:ea typeface="Times New Roman"/>
                <a:cs typeface="Times New Roman"/>
                <a:sym typeface="Times New Roman"/>
              </a:rPr>
              <a:t>Survey</a:t>
            </a:r>
            <a:r>
              <a:rPr lang="en-US" sz="1600">
                <a:solidFill>
                  <a:schemeClr val="dk1"/>
                </a:solidFill>
                <a:latin typeface="Times New Roman"/>
                <a:ea typeface="Times New Roman"/>
                <a:cs typeface="Times New Roman"/>
                <a:sym typeface="Times New Roman"/>
              </a:rPr>
              <a:t> Paper accepted in the International Journal of Novel Research and Development (IJNRD)</a:t>
            </a:r>
            <a:br>
              <a:rPr lang="en-US" sz="1600">
                <a:solidFill>
                  <a:schemeClr val="dk1"/>
                </a:solidFill>
                <a:latin typeface="Times New Roman"/>
                <a:ea typeface="Times New Roman"/>
                <a:cs typeface="Times New Roman"/>
                <a:sym typeface="Times New Roman"/>
              </a:rPr>
            </a:br>
            <a:r>
              <a:rPr lang="en-US" sz="1600">
                <a:solidFill>
                  <a:schemeClr val="dk1"/>
                </a:solidFill>
                <a:latin typeface="Times New Roman"/>
                <a:ea typeface="Times New Roman"/>
                <a:cs typeface="Times New Roman"/>
                <a:sym typeface="Times New Roman"/>
              </a:rPr>
              <a:t>Awaiting to </a:t>
            </a:r>
            <a:r>
              <a:rPr lang="en-US" sz="1600">
                <a:solidFill>
                  <a:schemeClr val="dk1"/>
                </a:solidFill>
                <a:latin typeface="Times New Roman"/>
                <a:ea typeface="Times New Roman"/>
                <a:cs typeface="Times New Roman"/>
                <a:sym typeface="Times New Roman"/>
              </a:rPr>
              <a:t>publish</a:t>
            </a:r>
            <a:r>
              <a:rPr lang="en-US" sz="1600">
                <a:solidFill>
                  <a:schemeClr val="dk1"/>
                </a:solidFill>
                <a:latin typeface="Times New Roman"/>
                <a:ea typeface="Times New Roman"/>
                <a:cs typeface="Times New Roman"/>
                <a:sym typeface="Times New Roman"/>
              </a:rPr>
              <a:t> </a:t>
            </a:r>
            <a:r>
              <a:rPr lang="en-US" sz="1600">
                <a:solidFill>
                  <a:schemeClr val="dk1"/>
                </a:solidFill>
                <a:latin typeface="Times New Roman"/>
                <a:ea typeface="Times New Roman"/>
                <a:cs typeface="Times New Roman"/>
                <a:sym typeface="Times New Roman"/>
              </a:rPr>
              <a:t>main</a:t>
            </a:r>
            <a:r>
              <a:rPr lang="en-US" sz="1600">
                <a:solidFill>
                  <a:schemeClr val="dk1"/>
                </a:solidFill>
                <a:latin typeface="Times New Roman"/>
                <a:ea typeface="Times New Roman"/>
                <a:cs typeface="Times New Roman"/>
                <a:sym typeface="Times New Roman"/>
              </a:rPr>
              <a:t> </a:t>
            </a:r>
            <a:r>
              <a:rPr lang="en-US" sz="1600">
                <a:solidFill>
                  <a:schemeClr val="dk1"/>
                </a:solidFill>
                <a:latin typeface="Times New Roman"/>
                <a:ea typeface="Times New Roman"/>
                <a:cs typeface="Times New Roman"/>
                <a:sym typeface="Times New Roman"/>
              </a:rPr>
              <a:t>research</a:t>
            </a:r>
            <a:r>
              <a:rPr lang="en-US" sz="1600">
                <a:solidFill>
                  <a:schemeClr val="dk1"/>
                </a:solidFill>
                <a:latin typeface="Times New Roman"/>
                <a:ea typeface="Times New Roman"/>
                <a:cs typeface="Times New Roman"/>
                <a:sym typeface="Times New Roman"/>
              </a:rPr>
              <a:t> paper in IEEE. </a:t>
            </a:r>
            <a:endParaRPr sz="1600">
              <a:solidFill>
                <a:schemeClr val="dk1"/>
              </a:solidFill>
              <a:latin typeface="Times New Roman"/>
              <a:ea typeface="Times New Roman"/>
              <a:cs typeface="Times New Roman"/>
              <a:sym typeface="Times New Roman"/>
            </a:endParaRPr>
          </a:p>
          <a:p>
            <a:pPr indent="-330200" lvl="0" marL="457200" rtl="0" algn="l">
              <a:lnSpc>
                <a:spcPct val="115000"/>
              </a:lnSpc>
              <a:spcBef>
                <a:spcPts val="1000"/>
              </a:spcBef>
              <a:spcAft>
                <a:spcPts val="0"/>
              </a:spcAft>
              <a:buClr>
                <a:schemeClr val="dk1"/>
              </a:buClr>
              <a:buSzPts val="1600"/>
              <a:buFont typeface="Times New Roman"/>
              <a:buChar char="●"/>
            </a:pPr>
            <a:r>
              <a:rPr b="1" lang="en-US" sz="1600">
                <a:solidFill>
                  <a:schemeClr val="dk1"/>
                </a:solidFill>
                <a:latin typeface="Times New Roman"/>
                <a:ea typeface="Times New Roman"/>
                <a:cs typeface="Times New Roman"/>
                <a:sym typeface="Times New Roman"/>
              </a:rPr>
              <a:t>Best Project Award</a:t>
            </a:r>
            <a:br>
              <a:rPr lang="en-US" sz="1600">
                <a:solidFill>
                  <a:schemeClr val="dk1"/>
                </a:solidFill>
                <a:latin typeface="Times New Roman"/>
                <a:ea typeface="Times New Roman"/>
                <a:cs typeface="Times New Roman"/>
                <a:sym typeface="Times New Roman"/>
              </a:rPr>
            </a:br>
            <a:r>
              <a:rPr lang="en-US" sz="1600">
                <a:solidFill>
                  <a:schemeClr val="dk1"/>
                </a:solidFill>
                <a:latin typeface="Times New Roman"/>
                <a:ea typeface="Times New Roman"/>
                <a:cs typeface="Times New Roman"/>
                <a:sym typeface="Times New Roman"/>
              </a:rPr>
              <a:t>Department of Information Science and Engineering, BMSCE.</a:t>
            </a:r>
            <a:endParaRPr sz="1600">
              <a:solidFill>
                <a:schemeClr val="dk1"/>
              </a:solidFill>
              <a:latin typeface="Times New Roman"/>
              <a:ea typeface="Times New Roman"/>
              <a:cs typeface="Times New Roman"/>
              <a:sym typeface="Times New Roman"/>
            </a:endParaRPr>
          </a:p>
          <a:p>
            <a:pPr indent="0" lvl="0" marL="0" marR="0" rtl="0" algn="l">
              <a:lnSpc>
                <a:spcPct val="100000"/>
              </a:lnSpc>
              <a:spcBef>
                <a:spcPts val="100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ibre Baskerville"/>
              <a:ea typeface="Libre Baskerville"/>
              <a:cs typeface="Libre Baskerville"/>
              <a:sym typeface="Libre Baskerville"/>
            </a:endParaRPr>
          </a:p>
        </p:txBody>
      </p:sp>
      <p:sp>
        <p:nvSpPr>
          <p:cNvPr id="411" name="Google Shape;411;p45"/>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412" name="Google Shape;412;p45"/>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6"/>
          <p:cNvSpPr txBox="1"/>
          <p:nvPr>
            <p:ph idx="1" type="body"/>
          </p:nvPr>
        </p:nvSpPr>
        <p:spPr>
          <a:xfrm>
            <a:off x="688623" y="404664"/>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Conclusion</a:t>
            </a:r>
            <a:endParaRPr sz="3600">
              <a:solidFill>
                <a:schemeClr val="dk2"/>
              </a:solidFill>
              <a:latin typeface="Libre Franklin"/>
              <a:ea typeface="Libre Franklin"/>
              <a:cs typeface="Libre Franklin"/>
              <a:sym typeface="Libre Franklin"/>
            </a:endParaRPr>
          </a:p>
        </p:txBody>
      </p:sp>
      <p:sp>
        <p:nvSpPr>
          <p:cNvPr id="418" name="Google Shape;418;p46"/>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419" name="Google Shape;419;p46"/>
          <p:cNvSpPr txBox="1"/>
          <p:nvPr/>
        </p:nvSpPr>
        <p:spPr>
          <a:xfrm>
            <a:off x="297325" y="1570750"/>
            <a:ext cx="8241900" cy="2413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000"/>
              </a:spcAft>
              <a:buNone/>
            </a:pPr>
            <a:r>
              <a:rPr lang="en-US" sz="1600">
                <a:solidFill>
                  <a:schemeClr val="dk1"/>
                </a:solidFill>
                <a:latin typeface="Times New Roman"/>
                <a:ea typeface="Times New Roman"/>
                <a:cs typeface="Times New Roman"/>
                <a:sym typeface="Times New Roman"/>
              </a:rPr>
              <a:t>Air pollution is a very challenging and complex problem that requires a multifaceted solution. To tackle this complex issue, we are proposing the implementation of a holistic approach to tackle air pollution. Through the proposed system,  we not only aim to reduce the levels of air pollution, but also positively impact the lives of people by helping them change their lifestyle in such a way that it will encourage them to adopt some habits that will help reduce air pollution, which will help them, their pets and their environment to be healthier. We are leveraging the capabilities of powerful technologies like IoT and ML to build a system that will fight against the harmful effects of air pollution and make the world a better place to live in.</a:t>
            </a:r>
            <a:endParaRPr sz="1700"/>
          </a:p>
        </p:txBody>
      </p:sp>
      <p:sp>
        <p:nvSpPr>
          <p:cNvPr id="420" name="Google Shape;420;p46"/>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421" name="Google Shape;421;p46"/>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7"/>
          <p:cNvSpPr txBox="1"/>
          <p:nvPr>
            <p:ph idx="1" type="body"/>
          </p:nvPr>
        </p:nvSpPr>
        <p:spPr>
          <a:xfrm>
            <a:off x="688623" y="404664"/>
            <a:ext cx="7538184" cy="88231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References </a:t>
            </a:r>
            <a:endParaRPr sz="3600">
              <a:solidFill>
                <a:schemeClr val="dk2"/>
              </a:solidFill>
              <a:latin typeface="Libre Franklin"/>
              <a:ea typeface="Libre Franklin"/>
              <a:cs typeface="Libre Franklin"/>
              <a:sym typeface="Libre Franklin"/>
            </a:endParaRPr>
          </a:p>
        </p:txBody>
      </p:sp>
      <p:sp>
        <p:nvSpPr>
          <p:cNvPr id="427" name="Google Shape;427;p47"/>
          <p:cNvSpPr txBox="1"/>
          <p:nvPr>
            <p:ph idx="3" type="body"/>
          </p:nvPr>
        </p:nvSpPr>
        <p:spPr>
          <a:xfrm>
            <a:off x="485562" y="1459801"/>
            <a:ext cx="7944300" cy="4503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[1] Temesegan Walelign Ayele, et. al “Air pollution monitoring and prediction using IoT'', Inventive Communication and Computational Technologies, 2018.</a:t>
            </a:r>
            <a:endParaRPr sz="12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1100"/>
              <a:buFont typeface="Arial"/>
              <a:buNone/>
            </a:pPr>
            <a:r>
              <a:rPr lang="en-US" sz="1200">
                <a:latin typeface="Times New Roman"/>
                <a:ea typeface="Times New Roman"/>
                <a:cs typeface="Times New Roman"/>
                <a:sym typeface="Times New Roman"/>
              </a:rPr>
              <a:t>[2] Ssneha Balasubramanian et al. “Air Pollution Monitoring and Prediction Using IoT and Machine Learning”, IJCSIT, 2021.</a:t>
            </a:r>
            <a:endParaRPr sz="12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1100"/>
              <a:buFont typeface="Arial"/>
              <a:buNone/>
            </a:pPr>
            <a:r>
              <a:rPr lang="en-US" sz="1200">
                <a:latin typeface="Times New Roman"/>
                <a:ea typeface="Times New Roman"/>
                <a:cs typeface="Times New Roman"/>
                <a:sym typeface="Times New Roman"/>
              </a:rPr>
              <a:t>[3] T.S. Kitchilan,  M.D.B.C.K. Abeyratne et al. “Air Quality Monitoring And Prediction Using IOT And Machine Learning Approaches”, IJSRP, 2022.</a:t>
            </a:r>
            <a:endParaRPr sz="12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1100"/>
              <a:buFont typeface="Arial"/>
              <a:buNone/>
            </a:pPr>
            <a:r>
              <a:rPr lang="en-US" sz="1200">
                <a:latin typeface="Times New Roman"/>
                <a:ea typeface="Times New Roman"/>
                <a:cs typeface="Times New Roman"/>
                <a:sym typeface="Times New Roman"/>
              </a:rPr>
              <a:t>[4] Sachin Bhimrao Bhoite et al. “Air Quality Prediction using Machine Learning Algorithms”, International Journal of Computer Applications Technology and Research, 2019.</a:t>
            </a:r>
            <a:endParaRPr sz="12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1100"/>
              <a:buFont typeface="Arial"/>
              <a:buNone/>
            </a:pPr>
            <a:r>
              <a:rPr lang="en-US" sz="1200">
                <a:latin typeface="Times New Roman"/>
                <a:ea typeface="Times New Roman"/>
                <a:cs typeface="Times New Roman"/>
                <a:sym typeface="Times New Roman"/>
              </a:rPr>
              <a:t>[5] Saverio De Vito, et al. “Adaptive machine learning strategies for network calibration of IoT smart air quality monitoring devices”, Pattern Recognition Letters, 2020.</a:t>
            </a:r>
            <a:endParaRPr sz="12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1100"/>
              <a:buFont typeface="Arial"/>
              <a:buNone/>
            </a:pPr>
            <a:r>
              <a:rPr lang="en-US" sz="1200">
                <a:latin typeface="Times New Roman"/>
                <a:ea typeface="Times New Roman"/>
                <a:cs typeface="Times New Roman"/>
                <a:sym typeface="Times New Roman"/>
              </a:rPr>
              <a:t>[6] Gaganjot Kaur, et. al “Air Quality Prediction: Big Data and Machine Learning Approaches”, International Journal of Environmental Science and Development, 2018.</a:t>
            </a:r>
            <a:endParaRPr sz="12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1100"/>
              <a:buFont typeface="Arial"/>
              <a:buNone/>
            </a:pPr>
            <a:r>
              <a:rPr lang="en-US" sz="1200">
                <a:latin typeface="Times New Roman"/>
                <a:ea typeface="Times New Roman"/>
                <a:cs typeface="Times New Roman"/>
                <a:sym typeface="Times New Roman"/>
              </a:rPr>
              <a:t>[7] Dan Zhang, et al. “Real Time Localized Air Quality Monitoring and Prediction Through Mobile and Fixed IoT Sensing Network”, IEEE Access, 2020.</a:t>
            </a:r>
            <a:endParaRPr sz="12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1100"/>
              <a:buFont typeface="Arial"/>
              <a:buNone/>
            </a:pPr>
            <a:r>
              <a:t/>
            </a:r>
            <a:endParaRPr sz="1200">
              <a:latin typeface="Times New Roman"/>
              <a:ea typeface="Times New Roman"/>
              <a:cs typeface="Times New Roman"/>
              <a:sym typeface="Times New Roman"/>
            </a:endParaRPr>
          </a:p>
          <a:p>
            <a:pPr indent="0" lvl="0" marL="0" rtl="0" algn="just">
              <a:lnSpc>
                <a:spcPct val="150000"/>
              </a:lnSpc>
              <a:spcBef>
                <a:spcPts val="1000"/>
              </a:spcBef>
              <a:spcAft>
                <a:spcPts val="0"/>
              </a:spcAft>
              <a:buSzPts val="1400"/>
              <a:buNone/>
            </a:pPr>
            <a:r>
              <a:t/>
            </a:r>
            <a:endParaRPr sz="1400">
              <a:solidFill>
                <a:srgbClr val="000000"/>
              </a:solidFill>
              <a:latin typeface="Times New Roman"/>
              <a:ea typeface="Times New Roman"/>
              <a:cs typeface="Times New Roman"/>
              <a:sym typeface="Times New Roman"/>
            </a:endParaRPr>
          </a:p>
          <a:p>
            <a:pPr indent="0" lvl="0" marL="0" rtl="0" algn="just">
              <a:lnSpc>
                <a:spcPct val="150000"/>
              </a:lnSpc>
              <a:spcBef>
                <a:spcPts val="600"/>
              </a:spcBef>
              <a:spcAft>
                <a:spcPts val="600"/>
              </a:spcAft>
              <a:buSzPts val="1400"/>
              <a:buNone/>
            </a:pPr>
            <a:r>
              <a:t/>
            </a:r>
            <a:endParaRPr>
              <a:latin typeface="Times New Roman"/>
              <a:ea typeface="Times New Roman"/>
              <a:cs typeface="Times New Roman"/>
              <a:sym typeface="Times New Roman"/>
            </a:endParaRPr>
          </a:p>
        </p:txBody>
      </p:sp>
      <p:sp>
        <p:nvSpPr>
          <p:cNvPr id="428" name="Google Shape;428;p47"/>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429" name="Google Shape;429;p47"/>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430" name="Google Shape;430;p47"/>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8"/>
          <p:cNvSpPr txBox="1"/>
          <p:nvPr>
            <p:ph idx="1" type="body"/>
          </p:nvPr>
        </p:nvSpPr>
        <p:spPr>
          <a:xfrm>
            <a:off x="688623" y="404664"/>
            <a:ext cx="75381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References </a:t>
            </a:r>
            <a:endParaRPr sz="3600">
              <a:solidFill>
                <a:schemeClr val="dk2"/>
              </a:solidFill>
              <a:latin typeface="Libre Franklin"/>
              <a:ea typeface="Libre Franklin"/>
              <a:cs typeface="Libre Franklin"/>
              <a:sym typeface="Libre Franklin"/>
            </a:endParaRPr>
          </a:p>
        </p:txBody>
      </p:sp>
      <p:sp>
        <p:nvSpPr>
          <p:cNvPr id="436" name="Google Shape;436;p48"/>
          <p:cNvSpPr txBox="1"/>
          <p:nvPr>
            <p:ph idx="3" type="body"/>
          </p:nvPr>
        </p:nvSpPr>
        <p:spPr>
          <a:xfrm>
            <a:off x="485562" y="1459801"/>
            <a:ext cx="7944300" cy="4503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US" sz="1200">
                <a:latin typeface="Times New Roman"/>
                <a:ea typeface="Times New Roman"/>
                <a:cs typeface="Times New Roman"/>
                <a:sym typeface="Times New Roman"/>
              </a:rPr>
              <a:t>[8] Leeban Moses, et al. “IoT enabled Environmental Air Pollution Monitoring and Rerouting system using Machine learning algorithms”, IOP Conference Series, 2020.</a:t>
            </a:r>
            <a:endParaRPr sz="1200">
              <a:latin typeface="Times New Roman"/>
              <a:ea typeface="Times New Roman"/>
              <a:cs typeface="Times New Roman"/>
              <a:sym typeface="Times New Roman"/>
            </a:endParaRPr>
          </a:p>
          <a:p>
            <a:pPr indent="0" lvl="0" marL="0" rtl="0" algn="l">
              <a:lnSpc>
                <a:spcPct val="150000"/>
              </a:lnSpc>
              <a:spcBef>
                <a:spcPts val="1000"/>
              </a:spcBef>
              <a:spcAft>
                <a:spcPts val="0"/>
              </a:spcAft>
              <a:buSzPts val="1100"/>
              <a:buNone/>
            </a:pPr>
            <a:r>
              <a:rPr lang="en-US" sz="1200">
                <a:latin typeface="Times New Roman"/>
                <a:ea typeface="Times New Roman"/>
                <a:cs typeface="Times New Roman"/>
                <a:sym typeface="Times New Roman"/>
              </a:rPr>
              <a:t>[9] Safae Sossi Alaoui et al, “Air pollution prediction through internet of things technology and big data analytics” ,International Journal of Computational Intelligence Studies, 2019.</a:t>
            </a:r>
            <a:endParaRPr sz="1200">
              <a:latin typeface="Times New Roman"/>
              <a:ea typeface="Times New Roman"/>
              <a:cs typeface="Times New Roman"/>
              <a:sym typeface="Times New Roman"/>
            </a:endParaRPr>
          </a:p>
          <a:p>
            <a:pPr indent="0" lvl="0" marL="0" rtl="0" algn="l">
              <a:lnSpc>
                <a:spcPct val="150000"/>
              </a:lnSpc>
              <a:spcBef>
                <a:spcPts val="1000"/>
              </a:spcBef>
              <a:spcAft>
                <a:spcPts val="0"/>
              </a:spcAft>
              <a:buSzPts val="1100"/>
              <a:buNone/>
            </a:pPr>
            <a:r>
              <a:rPr lang="en-US" sz="1200">
                <a:latin typeface="Times New Roman"/>
                <a:ea typeface="Times New Roman"/>
                <a:cs typeface="Times New Roman"/>
                <a:sym typeface="Times New Roman"/>
              </a:rPr>
              <a:t>[10] Tze Wai Wong, et al. “Developing a risk-based air quality health index”, Elesevire, 2012.</a:t>
            </a:r>
            <a:endParaRPr sz="1200">
              <a:latin typeface="Times New Roman"/>
              <a:ea typeface="Times New Roman"/>
              <a:cs typeface="Times New Roman"/>
              <a:sym typeface="Times New Roman"/>
            </a:endParaRPr>
          </a:p>
          <a:p>
            <a:pPr indent="0" lvl="0" marL="0" rtl="0" algn="l">
              <a:lnSpc>
                <a:spcPct val="150000"/>
              </a:lnSpc>
              <a:spcBef>
                <a:spcPts val="1000"/>
              </a:spcBef>
              <a:spcAft>
                <a:spcPts val="0"/>
              </a:spcAft>
              <a:buSzPts val="1100"/>
              <a:buNone/>
            </a:pPr>
            <a:r>
              <a:rPr lang="en-US" sz="1200">
                <a:latin typeface="Times New Roman"/>
                <a:ea typeface="Times New Roman"/>
                <a:cs typeface="Times New Roman"/>
                <a:sym typeface="Times New Roman"/>
              </a:rPr>
              <a:t>[11] Meivel S, et. al “Air pollution monitoring system using IoT and Artificial Intelligence”, International Journal of Modern Agriculture, 2021.</a:t>
            </a:r>
            <a:endParaRPr sz="1200">
              <a:latin typeface="Times New Roman"/>
              <a:ea typeface="Times New Roman"/>
              <a:cs typeface="Times New Roman"/>
              <a:sym typeface="Times New Roman"/>
            </a:endParaRPr>
          </a:p>
          <a:p>
            <a:pPr indent="0" lvl="0" marL="0" rtl="0" algn="l">
              <a:lnSpc>
                <a:spcPct val="150000"/>
              </a:lnSpc>
              <a:spcBef>
                <a:spcPts val="1000"/>
              </a:spcBef>
              <a:spcAft>
                <a:spcPts val="0"/>
              </a:spcAft>
              <a:buSzPts val="1100"/>
              <a:buNone/>
            </a:pPr>
            <a:r>
              <a:rPr lang="en-US" sz="1200">
                <a:latin typeface="Times New Roman"/>
                <a:ea typeface="Times New Roman"/>
                <a:cs typeface="Times New Roman"/>
                <a:sym typeface="Times New Roman"/>
              </a:rPr>
              <a:t>[12] Wenjing Mao, Weilin Wang, Limin Jiao, Suli Zhao, Anbao Liu, “Modeling air quality prediction using a deep learning approach: Method optimization and evaluation”, Elsevier, 2020.</a:t>
            </a:r>
            <a:endParaRPr sz="1200">
              <a:latin typeface="Times New Roman"/>
              <a:ea typeface="Times New Roman"/>
              <a:cs typeface="Times New Roman"/>
              <a:sym typeface="Times New Roman"/>
            </a:endParaRPr>
          </a:p>
          <a:p>
            <a:pPr indent="0" lvl="0" marL="0" rtl="0" algn="l">
              <a:lnSpc>
                <a:spcPct val="150000"/>
              </a:lnSpc>
              <a:spcBef>
                <a:spcPts val="1000"/>
              </a:spcBef>
              <a:spcAft>
                <a:spcPts val="0"/>
              </a:spcAft>
              <a:buSzPts val="1100"/>
              <a:buNone/>
            </a:pPr>
            <a:r>
              <a:rPr lang="en-US" sz="1200">
                <a:latin typeface="Times New Roman"/>
                <a:ea typeface="Times New Roman"/>
                <a:cs typeface="Times New Roman"/>
                <a:sym typeface="Times New Roman"/>
              </a:rPr>
              <a:t>[13] Ramesh P. Singh, et al. “Impact of lockdown on air quality in India during COVID-19 pandemic”, Springer Nature B.V., 2020.</a:t>
            </a:r>
            <a:endParaRPr sz="1200">
              <a:latin typeface="Times New Roman"/>
              <a:ea typeface="Times New Roman"/>
              <a:cs typeface="Times New Roman"/>
              <a:sym typeface="Times New Roman"/>
            </a:endParaRPr>
          </a:p>
          <a:p>
            <a:pPr indent="0" lvl="0" marL="0" rtl="0" algn="l">
              <a:lnSpc>
                <a:spcPct val="150000"/>
              </a:lnSpc>
              <a:spcBef>
                <a:spcPts val="1000"/>
              </a:spcBef>
              <a:spcAft>
                <a:spcPts val="0"/>
              </a:spcAft>
              <a:buSzPts val="1100"/>
              <a:buNone/>
            </a:pPr>
            <a:r>
              <a:rPr lang="en-US" sz="1200">
                <a:latin typeface="Times New Roman"/>
                <a:ea typeface="Times New Roman"/>
                <a:cs typeface="Times New Roman"/>
                <a:sym typeface="Times New Roman"/>
              </a:rPr>
              <a:t>[14] Anindya Ananda Hapsari, et al. “A Review on Indoor Air Quality Monitoring using IoT at Campus Environment”, International Journal of Engineering and Technology, 2018.</a:t>
            </a:r>
            <a:endParaRPr sz="1200">
              <a:latin typeface="Times New Roman"/>
              <a:ea typeface="Times New Roman"/>
              <a:cs typeface="Times New Roman"/>
              <a:sym typeface="Times New Roman"/>
            </a:endParaRPr>
          </a:p>
          <a:p>
            <a:pPr indent="0" lvl="0" marL="0" rtl="0" algn="l">
              <a:spcBef>
                <a:spcPts val="1000"/>
              </a:spcBef>
              <a:spcAft>
                <a:spcPts val="0"/>
              </a:spcAft>
              <a:buSzPts val="1100"/>
              <a:buNone/>
            </a:pPr>
            <a:r>
              <a:t/>
            </a:r>
            <a:endParaRPr/>
          </a:p>
          <a:p>
            <a:pPr indent="0" lvl="0" marL="0" rtl="0" algn="l">
              <a:lnSpc>
                <a:spcPct val="150000"/>
              </a:lnSpc>
              <a:spcBef>
                <a:spcPts val="0"/>
              </a:spcBef>
              <a:spcAft>
                <a:spcPts val="0"/>
              </a:spcAft>
              <a:buSzPts val="1100"/>
              <a:buNone/>
            </a:pPr>
            <a:r>
              <a:t/>
            </a:r>
            <a:endParaRPr sz="1200">
              <a:latin typeface="Times New Roman"/>
              <a:ea typeface="Times New Roman"/>
              <a:cs typeface="Times New Roman"/>
              <a:sym typeface="Times New Roman"/>
            </a:endParaRPr>
          </a:p>
          <a:p>
            <a:pPr indent="0" lvl="0" marL="0" rtl="0" algn="just">
              <a:lnSpc>
                <a:spcPct val="150000"/>
              </a:lnSpc>
              <a:spcBef>
                <a:spcPts val="1000"/>
              </a:spcBef>
              <a:spcAft>
                <a:spcPts val="0"/>
              </a:spcAft>
              <a:buSzPts val="1400"/>
              <a:buNone/>
            </a:pPr>
            <a:r>
              <a:t/>
            </a:r>
            <a:endParaRPr sz="1400">
              <a:solidFill>
                <a:srgbClr val="000000"/>
              </a:solidFill>
              <a:latin typeface="Times New Roman"/>
              <a:ea typeface="Times New Roman"/>
              <a:cs typeface="Times New Roman"/>
              <a:sym typeface="Times New Roman"/>
            </a:endParaRPr>
          </a:p>
          <a:p>
            <a:pPr indent="0" lvl="0" marL="0" rtl="0" algn="just">
              <a:lnSpc>
                <a:spcPct val="150000"/>
              </a:lnSpc>
              <a:spcBef>
                <a:spcPts val="600"/>
              </a:spcBef>
              <a:spcAft>
                <a:spcPts val="600"/>
              </a:spcAft>
              <a:buSzPts val="1400"/>
              <a:buNone/>
            </a:pPr>
            <a:r>
              <a:t/>
            </a:r>
            <a:endParaRPr>
              <a:latin typeface="Times New Roman"/>
              <a:ea typeface="Times New Roman"/>
              <a:cs typeface="Times New Roman"/>
              <a:sym typeface="Times New Roman"/>
            </a:endParaRPr>
          </a:p>
        </p:txBody>
      </p:sp>
      <p:sp>
        <p:nvSpPr>
          <p:cNvPr id="437" name="Google Shape;437;p48"/>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438" name="Google Shape;438;p48"/>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439" name="Google Shape;439;p48"/>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9"/>
          <p:cNvSpPr txBox="1"/>
          <p:nvPr>
            <p:ph idx="1" type="body"/>
          </p:nvPr>
        </p:nvSpPr>
        <p:spPr>
          <a:xfrm>
            <a:off x="688623" y="404664"/>
            <a:ext cx="7538100" cy="88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References </a:t>
            </a:r>
            <a:endParaRPr sz="3600">
              <a:solidFill>
                <a:schemeClr val="dk2"/>
              </a:solidFill>
              <a:latin typeface="Libre Franklin"/>
              <a:ea typeface="Libre Franklin"/>
              <a:cs typeface="Libre Franklin"/>
              <a:sym typeface="Libre Franklin"/>
            </a:endParaRPr>
          </a:p>
        </p:txBody>
      </p:sp>
      <p:sp>
        <p:nvSpPr>
          <p:cNvPr id="445" name="Google Shape;445;p49"/>
          <p:cNvSpPr txBox="1"/>
          <p:nvPr>
            <p:ph idx="3" type="body"/>
          </p:nvPr>
        </p:nvSpPr>
        <p:spPr>
          <a:xfrm>
            <a:off x="485562" y="1459801"/>
            <a:ext cx="7944300" cy="4503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US" sz="1200">
                <a:latin typeface="Times New Roman"/>
                <a:ea typeface="Times New Roman"/>
                <a:cs typeface="Times New Roman"/>
                <a:sym typeface="Times New Roman"/>
              </a:rPr>
              <a:t>[15] Somansh Kumar, “Air Quality Monitoring System Based on IoT using Raspberry Pi”, IEEE, 2017.</a:t>
            </a:r>
            <a:endParaRPr sz="1200">
              <a:latin typeface="Times New Roman"/>
              <a:ea typeface="Times New Roman"/>
              <a:cs typeface="Times New Roman"/>
              <a:sym typeface="Times New Roman"/>
            </a:endParaRPr>
          </a:p>
          <a:p>
            <a:pPr indent="0" lvl="0" marL="0" rtl="0" algn="l">
              <a:lnSpc>
                <a:spcPct val="150000"/>
              </a:lnSpc>
              <a:spcBef>
                <a:spcPts val="1000"/>
              </a:spcBef>
              <a:spcAft>
                <a:spcPts val="0"/>
              </a:spcAft>
              <a:buSzPts val="1100"/>
              <a:buNone/>
            </a:pPr>
            <a:r>
              <a:rPr lang="en-US" sz="1200">
                <a:latin typeface="Times New Roman"/>
                <a:ea typeface="Times New Roman"/>
                <a:cs typeface="Times New Roman"/>
                <a:sym typeface="Times New Roman"/>
              </a:rPr>
              <a:t>[16] Nimisha Tomar, et al., “Air Quality Index Forecasting using Auto-regression Models”, IEEE, 2020.</a:t>
            </a:r>
            <a:endParaRPr sz="1200">
              <a:latin typeface="Times New Roman"/>
              <a:ea typeface="Times New Roman"/>
              <a:cs typeface="Times New Roman"/>
              <a:sym typeface="Times New Roman"/>
            </a:endParaRPr>
          </a:p>
          <a:p>
            <a:pPr indent="0" lvl="0" marL="0" rtl="0" algn="l">
              <a:lnSpc>
                <a:spcPct val="150000"/>
              </a:lnSpc>
              <a:spcBef>
                <a:spcPts val="1000"/>
              </a:spcBef>
              <a:spcAft>
                <a:spcPts val="0"/>
              </a:spcAft>
              <a:buSzPts val="1100"/>
              <a:buNone/>
            </a:pPr>
            <a:r>
              <a:rPr lang="en-US" sz="1200">
                <a:latin typeface="Times New Roman"/>
                <a:ea typeface="Times New Roman"/>
                <a:cs typeface="Times New Roman"/>
                <a:sym typeface="Times New Roman"/>
              </a:rPr>
              <a:t>[17] Anikendar Kumar, et al.“Forecasting of daily Air Quality Index in Delhi”, Elsevier, 2012.</a:t>
            </a:r>
            <a:endParaRPr sz="1200">
              <a:latin typeface="Times New Roman"/>
              <a:ea typeface="Times New Roman"/>
              <a:cs typeface="Times New Roman"/>
              <a:sym typeface="Times New Roman"/>
            </a:endParaRPr>
          </a:p>
          <a:p>
            <a:pPr indent="0" lvl="0" marL="0" rtl="0" algn="l">
              <a:lnSpc>
                <a:spcPct val="150000"/>
              </a:lnSpc>
              <a:spcBef>
                <a:spcPts val="0"/>
              </a:spcBef>
              <a:spcAft>
                <a:spcPts val="0"/>
              </a:spcAft>
              <a:buSzPts val="1100"/>
              <a:buNone/>
            </a:pPr>
            <a:r>
              <a:t/>
            </a:r>
            <a:endParaRPr sz="1200">
              <a:latin typeface="Times New Roman"/>
              <a:ea typeface="Times New Roman"/>
              <a:cs typeface="Times New Roman"/>
              <a:sym typeface="Times New Roman"/>
            </a:endParaRPr>
          </a:p>
          <a:p>
            <a:pPr indent="0" lvl="0" marL="0" rtl="0" algn="l">
              <a:lnSpc>
                <a:spcPct val="150000"/>
              </a:lnSpc>
              <a:spcBef>
                <a:spcPts val="0"/>
              </a:spcBef>
              <a:spcAft>
                <a:spcPts val="0"/>
              </a:spcAft>
              <a:buSzPts val="1100"/>
              <a:buNone/>
            </a:pPr>
            <a:r>
              <a:rPr lang="en-US" sz="1200">
                <a:latin typeface="Times New Roman"/>
                <a:ea typeface="Times New Roman"/>
                <a:cs typeface="Times New Roman"/>
                <a:sym typeface="Times New Roman"/>
              </a:rPr>
              <a:t>[18] Suling Zhu, et al.,  “Daily Air Quality Index forecasting with hybrid models: A Case in China”, Elsevier, 2017.</a:t>
            </a:r>
            <a:endParaRPr sz="1200">
              <a:latin typeface="Times New Roman"/>
              <a:ea typeface="Times New Roman"/>
              <a:cs typeface="Times New Roman"/>
              <a:sym typeface="Times New Roman"/>
            </a:endParaRPr>
          </a:p>
          <a:p>
            <a:pPr indent="0" lvl="0" marL="0" rtl="0" algn="l">
              <a:spcBef>
                <a:spcPts val="0"/>
              </a:spcBef>
              <a:spcAft>
                <a:spcPts val="0"/>
              </a:spcAft>
              <a:buSzPts val="1100"/>
              <a:buNone/>
            </a:pPr>
            <a:r>
              <a:t/>
            </a:r>
            <a:endParaRPr/>
          </a:p>
          <a:p>
            <a:pPr indent="0" lvl="0" marL="0" rtl="0" algn="l">
              <a:lnSpc>
                <a:spcPct val="150000"/>
              </a:lnSpc>
              <a:spcBef>
                <a:spcPts val="0"/>
              </a:spcBef>
              <a:spcAft>
                <a:spcPts val="0"/>
              </a:spcAft>
              <a:buSzPts val="1100"/>
              <a:buNone/>
            </a:pPr>
            <a:r>
              <a:t/>
            </a:r>
            <a:endParaRPr sz="1200">
              <a:latin typeface="Times New Roman"/>
              <a:ea typeface="Times New Roman"/>
              <a:cs typeface="Times New Roman"/>
              <a:sym typeface="Times New Roman"/>
            </a:endParaRPr>
          </a:p>
          <a:p>
            <a:pPr indent="0" lvl="0" marL="0" rtl="0" algn="just">
              <a:lnSpc>
                <a:spcPct val="150000"/>
              </a:lnSpc>
              <a:spcBef>
                <a:spcPts val="1000"/>
              </a:spcBef>
              <a:spcAft>
                <a:spcPts val="0"/>
              </a:spcAft>
              <a:buSzPts val="1400"/>
              <a:buNone/>
            </a:pPr>
            <a:r>
              <a:t/>
            </a:r>
            <a:endParaRPr sz="1400">
              <a:solidFill>
                <a:srgbClr val="000000"/>
              </a:solidFill>
              <a:latin typeface="Times New Roman"/>
              <a:ea typeface="Times New Roman"/>
              <a:cs typeface="Times New Roman"/>
              <a:sym typeface="Times New Roman"/>
            </a:endParaRPr>
          </a:p>
          <a:p>
            <a:pPr indent="0" lvl="0" marL="0" rtl="0" algn="just">
              <a:lnSpc>
                <a:spcPct val="150000"/>
              </a:lnSpc>
              <a:spcBef>
                <a:spcPts val="600"/>
              </a:spcBef>
              <a:spcAft>
                <a:spcPts val="600"/>
              </a:spcAft>
              <a:buSzPts val="1400"/>
              <a:buNone/>
            </a:pPr>
            <a:r>
              <a:t/>
            </a:r>
            <a:endParaRPr>
              <a:latin typeface="Times New Roman"/>
              <a:ea typeface="Times New Roman"/>
              <a:cs typeface="Times New Roman"/>
              <a:sym typeface="Times New Roman"/>
            </a:endParaRPr>
          </a:p>
        </p:txBody>
      </p:sp>
      <p:sp>
        <p:nvSpPr>
          <p:cNvPr id="446" name="Google Shape;446;p49"/>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447" name="Google Shape;447;p49"/>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448" name="Google Shape;448;p49"/>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pic>
        <p:nvPicPr>
          <p:cNvPr descr="Icon&#10;&#10;Description automatically generated" id="453" name="Google Shape;453;p50"/>
          <p:cNvPicPr preferRelativeResize="0"/>
          <p:nvPr/>
        </p:nvPicPr>
        <p:blipFill rotWithShape="1">
          <a:blip r:embed="rId3">
            <a:alphaModFix/>
          </a:blip>
          <a:srcRect b="0" l="0" r="0" t="0"/>
          <a:stretch/>
        </p:blipFill>
        <p:spPr>
          <a:xfrm>
            <a:off x="2409695" y="1587674"/>
            <a:ext cx="3612192" cy="3212926"/>
          </a:xfrm>
          <a:prstGeom prst="rect">
            <a:avLst/>
          </a:prstGeom>
          <a:noFill/>
          <a:ln>
            <a:noFill/>
          </a:ln>
        </p:spPr>
      </p:pic>
      <p:sp>
        <p:nvSpPr>
          <p:cNvPr id="454" name="Google Shape;454;p50"/>
          <p:cNvSpPr txBox="1"/>
          <p:nvPr/>
        </p:nvSpPr>
        <p:spPr>
          <a:xfrm>
            <a:off x="564062" y="5597960"/>
            <a:ext cx="57463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chemeClr val="lt1"/>
                </a:solidFill>
                <a:latin typeface="Century Gothic"/>
                <a:ea typeface="Century Gothic"/>
                <a:cs typeface="Century Gothic"/>
                <a:sym typeface="Century Gothic"/>
              </a:rPr>
              <a:t>12</a:t>
            </a:r>
            <a:endParaRPr b="0" i="1" sz="2000" u="none" cap="none" strike="noStrike">
              <a:solidFill>
                <a:schemeClr val="lt1"/>
              </a:solidFill>
              <a:latin typeface="Century Gothic"/>
              <a:ea typeface="Century Gothic"/>
              <a:cs typeface="Century Gothic"/>
              <a:sym typeface="Century Gothic"/>
            </a:endParaRPr>
          </a:p>
        </p:txBody>
      </p:sp>
      <p:sp>
        <p:nvSpPr>
          <p:cNvPr id="455" name="Google Shape;455;p50"/>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456" name="Google Shape;456;p50"/>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1"/>
          <p:cNvSpPr txBox="1"/>
          <p:nvPr/>
        </p:nvSpPr>
        <p:spPr>
          <a:xfrm>
            <a:off x="650081" y="5600700"/>
            <a:ext cx="64293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chemeClr val="lt1"/>
                </a:solidFill>
                <a:latin typeface="Century Gothic"/>
                <a:ea typeface="Century Gothic"/>
                <a:cs typeface="Century Gothic"/>
                <a:sym typeface="Century Gothic"/>
              </a:rPr>
              <a:t>13</a:t>
            </a:r>
            <a:endParaRPr b="1" i="1" sz="2000" u="none" cap="none" strike="noStrike">
              <a:solidFill>
                <a:schemeClr val="lt1"/>
              </a:solidFill>
              <a:latin typeface="Century Gothic"/>
              <a:ea typeface="Century Gothic"/>
              <a:cs typeface="Century Gothic"/>
              <a:sym typeface="Century Gothic"/>
            </a:endParaRPr>
          </a:p>
        </p:txBody>
      </p:sp>
      <p:sp>
        <p:nvSpPr>
          <p:cNvPr id="462" name="Google Shape;462;p51"/>
          <p:cNvSpPr txBox="1"/>
          <p:nvPr/>
        </p:nvSpPr>
        <p:spPr>
          <a:xfrm>
            <a:off x="3200400" y="3200401"/>
            <a:ext cx="27432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picture containing text, stationary, writing implement, pen&#10;&#10;Description automatically generated" id="463" name="Google Shape;463;p51"/>
          <p:cNvPicPr preferRelativeResize="0"/>
          <p:nvPr/>
        </p:nvPicPr>
        <p:blipFill rotWithShape="1">
          <a:blip r:embed="rId3">
            <a:alphaModFix/>
          </a:blip>
          <a:srcRect b="0" l="0" r="0" t="0"/>
          <a:stretch/>
        </p:blipFill>
        <p:spPr>
          <a:xfrm>
            <a:off x="1131454" y="1987851"/>
            <a:ext cx="7017705" cy="3247121"/>
          </a:xfrm>
          <a:prstGeom prst="rect">
            <a:avLst/>
          </a:prstGeom>
          <a:noFill/>
          <a:ln>
            <a:noFill/>
          </a:ln>
        </p:spPr>
      </p:pic>
      <p:sp>
        <p:nvSpPr>
          <p:cNvPr id="464" name="Google Shape;464;p51"/>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2"/>
              </a:buClr>
              <a:buSzPts val="1400"/>
              <a:buFont typeface="Libre Baskerville"/>
              <a:buNone/>
            </a:pPr>
            <a:r>
              <a:rPr lang="en-US"/>
              <a:t>Department of ISE, BMSCE</a:t>
            </a:r>
            <a:endParaRPr/>
          </a:p>
        </p:txBody>
      </p:sp>
      <p:sp>
        <p:nvSpPr>
          <p:cNvPr id="465" name="Google Shape;465;p51"/>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US"/>
              <a:t>09-06-2023</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