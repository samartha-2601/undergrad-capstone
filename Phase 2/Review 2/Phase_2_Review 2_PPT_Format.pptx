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9144000"/>
  <p:notesSz cx="6858000" cy="9144000"/>
  <p:embeddedFontLst>
    <p:embeddedFont>
      <p:font typeface="Libre Franklin"/>
      <p:regular r:id="rId28"/>
      <p:bold r:id="rId29"/>
      <p:italic r:id="rId30"/>
      <p:boldItalic r:id="rId31"/>
    </p:embeddedFont>
    <p:embeddedFont>
      <p:font typeface="Libre Baskerville"/>
      <p:regular r:id="rId32"/>
      <p:bold r:id="rId33"/>
      <p:italic r:id="rId34"/>
    </p:embeddedFont>
    <p:embeddedFont>
      <p:font typeface="Century Gothic"/>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89ADCC-6216-4C3C-BEE4-4C55780F2B7D}">
  <a:tblStyle styleId="{2589ADCC-6216-4C3C-BEE4-4C55780F2B7D}"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ibreFranklin-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ibreFranklin-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ibreFranklin-boldItalic.fntdata"/><Relationship Id="rId30" Type="http://schemas.openxmlformats.org/officeDocument/2006/relationships/font" Target="fonts/LibreFranklin-italic.fntdata"/><Relationship Id="rId11" Type="http://schemas.openxmlformats.org/officeDocument/2006/relationships/slide" Target="slides/slide5.xml"/><Relationship Id="rId33" Type="http://schemas.openxmlformats.org/officeDocument/2006/relationships/font" Target="fonts/LibreBaskerville-bold.fntdata"/><Relationship Id="rId10" Type="http://schemas.openxmlformats.org/officeDocument/2006/relationships/slide" Target="slides/slide4.xml"/><Relationship Id="rId32" Type="http://schemas.openxmlformats.org/officeDocument/2006/relationships/font" Target="fonts/LibreBaskerville-regular.fntdata"/><Relationship Id="rId13" Type="http://schemas.openxmlformats.org/officeDocument/2006/relationships/slide" Target="slides/slide7.xml"/><Relationship Id="rId35" Type="http://schemas.openxmlformats.org/officeDocument/2006/relationships/font" Target="fonts/CenturyGothic-regular.fntdata"/><Relationship Id="rId12" Type="http://schemas.openxmlformats.org/officeDocument/2006/relationships/slide" Target="slides/slide6.xml"/><Relationship Id="rId34" Type="http://schemas.openxmlformats.org/officeDocument/2006/relationships/font" Target="fonts/LibreBaskerville-italic.fntdata"/><Relationship Id="rId15" Type="http://schemas.openxmlformats.org/officeDocument/2006/relationships/slide" Target="slides/slide9.xml"/><Relationship Id="rId37" Type="http://schemas.openxmlformats.org/officeDocument/2006/relationships/font" Target="fonts/CenturyGothic-italic.fntdata"/><Relationship Id="rId14" Type="http://schemas.openxmlformats.org/officeDocument/2006/relationships/slide" Target="slides/slide8.xml"/><Relationship Id="rId36" Type="http://schemas.openxmlformats.org/officeDocument/2006/relationships/font" Target="fonts/CenturyGothic-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CenturyGothic-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2603182589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28" name="Google Shape;128;g22603182589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2603182589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36" name="Google Shape;136;g22603182589_0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2603182589_0_2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45" name="Google Shape;145;g22603182589_0_2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2603182589_0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54" name="Google Shape;154;g22603182589_0_4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2603182589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63" name="Google Shape;163;g22603182589_0_3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3" name="Google Shape;17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2" name="Google Shape;18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2603182589_0_5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91" name="Google Shape;191;g22603182589_0_5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2603182589_0_6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01" name="Google Shape;201;g22603182589_0_6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2603182589_0_7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11" name="Google Shape;211;g22603182589_0_7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20" name="Google Shape;22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29" name="Google Shape;22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37" name="Google Shape;23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46" name="Google Shape;24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55" name="Google Shape;25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64" name="Google Shape;26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2603182589_0_8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73" name="Google Shape;273;g22603182589_0_8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82" name="Google Shape;28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91" name="Google Shape;29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9" name="Google Shape;19;p2"/>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0" name="Google Shape;20;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580"/>
              </a:spcBef>
              <a:spcAft>
                <a:spcPts val="0"/>
              </a:spcAft>
              <a:buSzPts val="2210"/>
              <a:buNone/>
              <a:defRPr sz="2600">
                <a:solidFill>
                  <a:schemeClr val="dk2"/>
                </a:solidFill>
              </a:defRPr>
            </a:lvl1pPr>
            <a:lvl2pPr lvl="1" algn="ctr">
              <a:lnSpc>
                <a:spcPct val="100000"/>
              </a:lnSpc>
              <a:spcBef>
                <a:spcPts val="370"/>
              </a:spcBef>
              <a:spcAft>
                <a:spcPts val="0"/>
              </a:spcAft>
              <a:buSzPts val="1530"/>
              <a:buNone/>
              <a:defRPr/>
            </a:lvl2pPr>
            <a:lvl3pPr lvl="2" algn="ctr">
              <a:lnSpc>
                <a:spcPct val="100000"/>
              </a:lnSpc>
              <a:spcBef>
                <a:spcPts val="370"/>
              </a:spcBef>
              <a:spcAft>
                <a:spcPts val="0"/>
              </a:spcAft>
              <a:buSzPts val="1530"/>
              <a:buNone/>
              <a:defRPr/>
            </a:lvl3pPr>
            <a:lvl4pPr lvl="3" algn="ctr">
              <a:lnSpc>
                <a:spcPct val="100000"/>
              </a:lnSpc>
              <a:spcBef>
                <a:spcPts val="370"/>
              </a:spcBef>
              <a:spcAft>
                <a:spcPts val="0"/>
              </a:spcAft>
              <a:buSzPts val="1440"/>
              <a:buNone/>
              <a:defRPr/>
            </a:lvl4pPr>
            <a:lvl5pPr lvl="4" algn="ctr">
              <a:lnSpc>
                <a:spcPct val="100000"/>
              </a:lnSpc>
              <a:spcBef>
                <a:spcPts val="370"/>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p:txBody>
      </p:sp>
      <p:sp>
        <p:nvSpPr>
          <p:cNvPr id="21" name="Google Shape;21;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2"/>
          <p:cNvSpPr/>
          <p:nvPr/>
        </p:nvSpPr>
        <p:spPr>
          <a:xfrm>
            <a:off x="62931" y="1449303"/>
            <a:ext cx="9021537" cy="152734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5" name="Google Shape;25;p2"/>
          <p:cNvSpPr/>
          <p:nvPr/>
        </p:nvSpPr>
        <p:spPr>
          <a:xfrm>
            <a:off x="62931" y="1396720"/>
            <a:ext cx="9021537" cy="12058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6" name="Google Shape;26;p2"/>
          <p:cNvSpPr/>
          <p:nvPr/>
        </p:nvSpPr>
        <p:spPr>
          <a:xfrm>
            <a:off x="62931" y="2976649"/>
            <a:ext cx="9021537" cy="11053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7" name="Google Shape;27;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a:bodyPr>
          <a:lstStyle>
            <a:lvl1pPr lvl="0" algn="ctr">
              <a:lnSpc>
                <a:spcPct val="100000"/>
              </a:lnSpc>
              <a:spcBef>
                <a:spcPts val="0"/>
              </a:spcBef>
              <a:spcAft>
                <a:spcPts val="0"/>
              </a:spcAft>
              <a:buClr>
                <a:srgbClr val="FFFFFF"/>
              </a:buClr>
              <a:buSzPts val="4000"/>
              <a:buFont typeface="Libre Franklin"/>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34" name="Shape 34"/>
        <p:cNvGrpSpPr/>
        <p:nvPr/>
      </p:nvGrpSpPr>
      <p:grpSpPr>
        <a:xfrm>
          <a:off x="0" y="0"/>
          <a:ext cx="0" cy="0"/>
          <a:chOff x="0" y="0"/>
          <a:chExt cx="0" cy="0"/>
        </a:xfrm>
      </p:grpSpPr>
      <p:sp>
        <p:nvSpPr>
          <p:cNvPr id="35" name="Google Shape;35;p4"/>
          <p:cNvSpPr/>
          <p:nvPr>
            <p:ph idx="2" type="pic"/>
          </p:nvPr>
        </p:nvSpPr>
        <p:spPr>
          <a:xfrm>
            <a:off x="3429000" y="1295400"/>
            <a:ext cx="2362200" cy="4267200"/>
          </a:xfrm>
          <a:prstGeom prst="rect">
            <a:avLst/>
          </a:prstGeom>
          <a:noFill/>
          <a:ln>
            <a:noFill/>
          </a:ln>
        </p:spPr>
      </p:sp>
      <p:sp>
        <p:nvSpPr>
          <p:cNvPr id="36" name="Google Shape;36;p4"/>
          <p:cNvSpPr txBox="1"/>
          <p:nvPr>
            <p:ph idx="1" type="body"/>
          </p:nvPr>
        </p:nvSpPr>
        <p:spPr>
          <a:xfrm>
            <a:off x="381000" y="76200"/>
            <a:ext cx="4191000" cy="10160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000000"/>
              </a:buClr>
              <a:buSzPts val="1400"/>
              <a:buFont typeface="Arial"/>
              <a:buNone/>
              <a:defRPr/>
            </a:lvl1pPr>
            <a:lvl2pPr indent="-342900" lvl="1" marL="914400" algn="l">
              <a:lnSpc>
                <a:spcPct val="100000"/>
              </a:lnSpc>
              <a:spcBef>
                <a:spcPts val="0"/>
              </a:spcBef>
              <a:spcAft>
                <a:spcPts val="0"/>
              </a:spcAft>
              <a:buClr>
                <a:srgbClr val="000000"/>
              </a:buClr>
              <a:buSzPts val="1800"/>
              <a:buChar char="–"/>
              <a:defRPr/>
            </a:lvl2pPr>
            <a:lvl3pPr indent="-342900" lvl="2" marL="1371600" algn="l">
              <a:lnSpc>
                <a:spcPct val="100000"/>
              </a:lnSpc>
              <a:spcBef>
                <a:spcPts val="0"/>
              </a:spcBef>
              <a:spcAft>
                <a:spcPts val="0"/>
              </a:spcAft>
              <a:buClr>
                <a:srgbClr val="000000"/>
              </a:buClr>
              <a:buSzPts val="1800"/>
              <a:buChar char="•"/>
              <a:defRPr/>
            </a:lvl3pPr>
            <a:lvl4pPr indent="-342900" lvl="3" marL="1828800" algn="l">
              <a:lnSpc>
                <a:spcPct val="100000"/>
              </a:lnSpc>
              <a:spcBef>
                <a:spcPts val="0"/>
              </a:spcBef>
              <a:spcAft>
                <a:spcPts val="0"/>
              </a:spcAft>
              <a:buClr>
                <a:srgbClr val="000000"/>
              </a:buClr>
              <a:buSzPts val="1800"/>
              <a:buChar char="–"/>
              <a:defRPr/>
            </a:lvl4pPr>
            <a:lvl5pPr indent="-342900" lvl="4" marL="2286000" algn="l">
              <a:lnSpc>
                <a:spcPct val="100000"/>
              </a:lnSpc>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7" name="Google Shape;37;p4"/>
          <p:cNvSpPr txBox="1"/>
          <p:nvPr>
            <p:ph idx="3" type="body"/>
          </p:nvPr>
        </p:nvSpPr>
        <p:spPr>
          <a:xfrm>
            <a:off x="4800600" y="76200"/>
            <a:ext cx="3276600" cy="10160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000000"/>
              </a:buClr>
              <a:buSzPts val="1400"/>
              <a:buFont typeface="Arial"/>
              <a:buNone/>
              <a:defRPr/>
            </a:lvl1pPr>
            <a:lvl2pPr indent="-342900" lvl="1" marL="914400" algn="l">
              <a:lnSpc>
                <a:spcPct val="100000"/>
              </a:lnSpc>
              <a:spcBef>
                <a:spcPts val="0"/>
              </a:spcBef>
              <a:spcAft>
                <a:spcPts val="0"/>
              </a:spcAft>
              <a:buClr>
                <a:srgbClr val="000000"/>
              </a:buClr>
              <a:buSzPts val="1800"/>
              <a:buChar char="–"/>
              <a:defRPr/>
            </a:lvl2pPr>
            <a:lvl3pPr indent="-342900" lvl="2" marL="1371600" algn="l">
              <a:lnSpc>
                <a:spcPct val="100000"/>
              </a:lnSpc>
              <a:spcBef>
                <a:spcPts val="0"/>
              </a:spcBef>
              <a:spcAft>
                <a:spcPts val="0"/>
              </a:spcAft>
              <a:buClr>
                <a:srgbClr val="000000"/>
              </a:buClr>
              <a:buSzPts val="1800"/>
              <a:buChar char="•"/>
              <a:defRPr/>
            </a:lvl3pPr>
            <a:lvl4pPr indent="-342900" lvl="3" marL="1828800" algn="l">
              <a:lnSpc>
                <a:spcPct val="100000"/>
              </a:lnSpc>
              <a:spcBef>
                <a:spcPts val="0"/>
              </a:spcBef>
              <a:spcAft>
                <a:spcPts val="0"/>
              </a:spcAft>
              <a:buClr>
                <a:srgbClr val="000000"/>
              </a:buClr>
              <a:buSzPts val="1800"/>
              <a:buChar char="–"/>
              <a:defRPr/>
            </a:lvl4pPr>
            <a:lvl5pPr indent="-342900" lvl="4" marL="2286000" algn="l">
              <a:lnSpc>
                <a:spcPct val="100000"/>
              </a:lnSpc>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8" name="Google Shape;38;p4"/>
          <p:cNvSpPr txBox="1"/>
          <p:nvPr>
            <p:ph idx="10" type="dt"/>
          </p:nvPr>
        </p:nvSpPr>
        <p:spPr>
          <a:xfrm>
            <a:off x="7772401" y="6136218"/>
            <a:ext cx="766763" cy="368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1400"/>
              <a:buFont typeface="Libre Baskerville"/>
              <a:buNone/>
              <a:defRPr/>
            </a:lvl1pPr>
            <a:lvl2pPr lvl="1" algn="l">
              <a:lnSpc>
                <a:spcPct val="100000"/>
              </a:lnSpc>
              <a:spcBef>
                <a:spcPts val="0"/>
              </a:spcBef>
              <a:spcAft>
                <a:spcPts val="0"/>
              </a:spcAft>
              <a:buClr>
                <a:schemeClr val="dk1"/>
              </a:buClr>
              <a:buSzPts val="1400"/>
              <a:buFont typeface="Libre Baskerville"/>
              <a:buNone/>
              <a:defRPr/>
            </a:lvl2pPr>
            <a:lvl3pPr lvl="2" algn="l">
              <a:lnSpc>
                <a:spcPct val="100000"/>
              </a:lnSpc>
              <a:spcBef>
                <a:spcPts val="0"/>
              </a:spcBef>
              <a:spcAft>
                <a:spcPts val="0"/>
              </a:spcAft>
              <a:buClr>
                <a:schemeClr val="dk1"/>
              </a:buClr>
              <a:buSzPts val="1400"/>
              <a:buFont typeface="Libre Baskerville"/>
              <a:buNone/>
              <a:defRPr/>
            </a:lvl3pPr>
            <a:lvl4pPr lvl="3" algn="l">
              <a:lnSpc>
                <a:spcPct val="100000"/>
              </a:lnSpc>
              <a:spcBef>
                <a:spcPts val="0"/>
              </a:spcBef>
              <a:spcAft>
                <a:spcPts val="0"/>
              </a:spcAft>
              <a:buClr>
                <a:schemeClr val="dk1"/>
              </a:buClr>
              <a:buSzPts val="1400"/>
              <a:buFont typeface="Libre Baskerville"/>
              <a:buNone/>
              <a:defRPr/>
            </a:lvl4pPr>
            <a:lvl5pPr lvl="4" algn="l">
              <a:lnSpc>
                <a:spcPct val="100000"/>
              </a:lnSpc>
              <a:spcBef>
                <a:spcPts val="0"/>
              </a:spcBef>
              <a:spcAft>
                <a:spcPts val="0"/>
              </a:spcAft>
              <a:buClr>
                <a:schemeClr val="dk1"/>
              </a:buClr>
              <a:buSzPts val="1400"/>
              <a:buFont typeface="Libre Baskerville"/>
              <a:buNone/>
              <a:defRPr/>
            </a:lvl5pPr>
            <a:lvl6pPr lvl="5" algn="l">
              <a:lnSpc>
                <a:spcPct val="100000"/>
              </a:lnSpc>
              <a:spcBef>
                <a:spcPts val="0"/>
              </a:spcBef>
              <a:spcAft>
                <a:spcPts val="0"/>
              </a:spcAft>
              <a:buClr>
                <a:schemeClr val="dk1"/>
              </a:buClr>
              <a:buSzPts val="1400"/>
              <a:buFont typeface="Libre Baskerville"/>
              <a:buNone/>
              <a:defRPr/>
            </a:lvl6pPr>
            <a:lvl7pPr lvl="6" algn="l">
              <a:lnSpc>
                <a:spcPct val="100000"/>
              </a:lnSpc>
              <a:spcBef>
                <a:spcPts val="0"/>
              </a:spcBef>
              <a:spcAft>
                <a:spcPts val="0"/>
              </a:spcAft>
              <a:buClr>
                <a:schemeClr val="dk1"/>
              </a:buClr>
              <a:buSzPts val="1400"/>
              <a:buFont typeface="Libre Baskerville"/>
              <a:buNone/>
              <a:defRPr/>
            </a:lvl7pPr>
            <a:lvl8pPr lvl="7" algn="l">
              <a:lnSpc>
                <a:spcPct val="100000"/>
              </a:lnSpc>
              <a:spcBef>
                <a:spcPts val="0"/>
              </a:spcBef>
              <a:spcAft>
                <a:spcPts val="0"/>
              </a:spcAft>
              <a:buClr>
                <a:schemeClr val="dk1"/>
              </a:buClr>
              <a:buSzPts val="1400"/>
              <a:buFont typeface="Libre Baskerville"/>
              <a:buNone/>
              <a:defRPr/>
            </a:lvl8pPr>
            <a:lvl9pPr lvl="8" algn="l">
              <a:lnSpc>
                <a:spcPct val="100000"/>
              </a:lnSpc>
              <a:spcBef>
                <a:spcPts val="0"/>
              </a:spcBef>
              <a:spcAft>
                <a:spcPts val="0"/>
              </a:spcAft>
              <a:buClr>
                <a:schemeClr val="dk1"/>
              </a:buClr>
              <a:buSzPts val="1400"/>
              <a:buFont typeface="Libre Baskerville"/>
              <a:buNone/>
              <a:defRPr/>
            </a:lvl9pPr>
          </a:lstStyle>
          <a:p/>
        </p:txBody>
      </p:sp>
      <p:sp>
        <p:nvSpPr>
          <p:cNvPr id="39" name="Google Shape;39;p4"/>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2"/>
              </a:buClr>
              <a:buSzPts val="1400"/>
              <a:buFont typeface="Libre Baskerville"/>
              <a:buNone/>
              <a:defRPr/>
            </a:lvl1pPr>
            <a:lvl2pPr lvl="1" algn="l">
              <a:lnSpc>
                <a:spcPct val="100000"/>
              </a:lnSpc>
              <a:spcBef>
                <a:spcPts val="0"/>
              </a:spcBef>
              <a:spcAft>
                <a:spcPts val="0"/>
              </a:spcAft>
              <a:buClr>
                <a:schemeClr val="dk1"/>
              </a:buClr>
              <a:buSzPts val="1400"/>
              <a:buFont typeface="Libre Baskerville"/>
              <a:buNone/>
              <a:defRPr/>
            </a:lvl2pPr>
            <a:lvl3pPr lvl="2" algn="l">
              <a:lnSpc>
                <a:spcPct val="100000"/>
              </a:lnSpc>
              <a:spcBef>
                <a:spcPts val="0"/>
              </a:spcBef>
              <a:spcAft>
                <a:spcPts val="0"/>
              </a:spcAft>
              <a:buClr>
                <a:schemeClr val="dk1"/>
              </a:buClr>
              <a:buSzPts val="1400"/>
              <a:buFont typeface="Libre Baskerville"/>
              <a:buNone/>
              <a:defRPr/>
            </a:lvl3pPr>
            <a:lvl4pPr lvl="3" algn="l">
              <a:lnSpc>
                <a:spcPct val="100000"/>
              </a:lnSpc>
              <a:spcBef>
                <a:spcPts val="0"/>
              </a:spcBef>
              <a:spcAft>
                <a:spcPts val="0"/>
              </a:spcAft>
              <a:buClr>
                <a:schemeClr val="dk1"/>
              </a:buClr>
              <a:buSzPts val="1400"/>
              <a:buFont typeface="Libre Baskerville"/>
              <a:buNone/>
              <a:defRPr/>
            </a:lvl4pPr>
            <a:lvl5pPr lvl="4" algn="l">
              <a:lnSpc>
                <a:spcPct val="100000"/>
              </a:lnSpc>
              <a:spcBef>
                <a:spcPts val="0"/>
              </a:spcBef>
              <a:spcAft>
                <a:spcPts val="0"/>
              </a:spcAft>
              <a:buClr>
                <a:schemeClr val="dk1"/>
              </a:buClr>
              <a:buSzPts val="1400"/>
              <a:buFont typeface="Libre Baskerville"/>
              <a:buNone/>
              <a:defRPr/>
            </a:lvl5pPr>
            <a:lvl6pPr lvl="5" algn="l">
              <a:lnSpc>
                <a:spcPct val="100000"/>
              </a:lnSpc>
              <a:spcBef>
                <a:spcPts val="0"/>
              </a:spcBef>
              <a:spcAft>
                <a:spcPts val="0"/>
              </a:spcAft>
              <a:buClr>
                <a:schemeClr val="dk1"/>
              </a:buClr>
              <a:buSzPts val="1400"/>
              <a:buFont typeface="Libre Baskerville"/>
              <a:buNone/>
              <a:defRPr/>
            </a:lvl6pPr>
            <a:lvl7pPr lvl="6" algn="l">
              <a:lnSpc>
                <a:spcPct val="100000"/>
              </a:lnSpc>
              <a:spcBef>
                <a:spcPts val="0"/>
              </a:spcBef>
              <a:spcAft>
                <a:spcPts val="0"/>
              </a:spcAft>
              <a:buClr>
                <a:schemeClr val="dk1"/>
              </a:buClr>
              <a:buSzPts val="1400"/>
              <a:buFont typeface="Libre Baskerville"/>
              <a:buNone/>
              <a:defRPr/>
            </a:lvl7pPr>
            <a:lvl8pPr lvl="7" algn="l">
              <a:lnSpc>
                <a:spcPct val="100000"/>
              </a:lnSpc>
              <a:spcBef>
                <a:spcPts val="0"/>
              </a:spcBef>
              <a:spcAft>
                <a:spcPts val="0"/>
              </a:spcAft>
              <a:buClr>
                <a:schemeClr val="dk1"/>
              </a:buClr>
              <a:buSzPts val="1400"/>
              <a:buFont typeface="Libre Baskerville"/>
              <a:buNone/>
              <a:defRPr/>
            </a:lvl8pPr>
            <a:lvl9pPr lvl="8" algn="l">
              <a:lnSpc>
                <a:spcPct val="100000"/>
              </a:lnSpc>
              <a:spcBef>
                <a:spcPts val="0"/>
              </a:spcBef>
              <a:spcAft>
                <a:spcPts val="0"/>
              </a:spcAft>
              <a:buClr>
                <a:schemeClr val="dk1"/>
              </a:buClr>
              <a:buSzPts val="1400"/>
              <a:buFont typeface="Libre Baskerville"/>
              <a:buNone/>
              <a:defRPr/>
            </a:lvl9pPr>
          </a:lstStyle>
          <a:p/>
        </p:txBody>
      </p:sp>
      <p:sp>
        <p:nvSpPr>
          <p:cNvPr id="40" name="Google Shape;40;p4"/>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r>
              <a:rPr lang="en-US"/>
              <a:t>1</a:t>
            </a:r>
            <a:endParaRPr b="0" i="0" sz="1400">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5" name="Shape 45"/>
        <p:cNvGrpSpPr/>
        <p:nvPr/>
      </p:nvGrpSpPr>
      <p:grpSpPr>
        <a:xfrm>
          <a:off x="0" y="0"/>
          <a:ext cx="0" cy="0"/>
          <a:chOff x="0" y="0"/>
          <a:chExt cx="0" cy="0"/>
        </a:xfrm>
      </p:grpSpPr>
      <p:sp>
        <p:nvSpPr>
          <p:cNvPr id="46" name="Google Shape;46;p6"/>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47" name="Google Shape;47;p6"/>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48" name="Google Shape;48;p6"/>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2040"/>
              <a:buNone/>
              <a:defRPr sz="2400">
                <a:solidFill>
                  <a:srgbClr val="888888"/>
                </a:solidFill>
              </a:defRPr>
            </a:lvl1pPr>
            <a:lvl2pPr indent="-228600" lvl="1" marL="914400" algn="l">
              <a:lnSpc>
                <a:spcPct val="100000"/>
              </a:lnSpc>
              <a:spcBef>
                <a:spcPts val="370"/>
              </a:spcBef>
              <a:spcAft>
                <a:spcPts val="0"/>
              </a:spcAft>
              <a:buSzPts val="1530"/>
              <a:buNone/>
              <a:defRPr sz="1800">
                <a:solidFill>
                  <a:srgbClr val="888888"/>
                </a:solidFill>
              </a:defRPr>
            </a:lvl2pPr>
            <a:lvl3pPr indent="-228600" lvl="2" marL="1371600" algn="l">
              <a:lnSpc>
                <a:spcPct val="100000"/>
              </a:lnSpc>
              <a:spcBef>
                <a:spcPts val="370"/>
              </a:spcBef>
              <a:spcAft>
                <a:spcPts val="0"/>
              </a:spcAft>
              <a:buSzPts val="1360"/>
              <a:buNone/>
              <a:defRPr sz="1600">
                <a:solidFill>
                  <a:srgbClr val="888888"/>
                </a:solidFill>
              </a:defRPr>
            </a:lvl3pPr>
            <a:lvl4pPr indent="-228600" lvl="3" marL="1828800" algn="l">
              <a:lnSpc>
                <a:spcPct val="100000"/>
              </a:lnSpc>
              <a:spcBef>
                <a:spcPts val="370"/>
              </a:spcBef>
              <a:spcAft>
                <a:spcPts val="0"/>
              </a:spcAft>
              <a:buSzPts val="1120"/>
              <a:buNone/>
              <a:defRPr sz="1400">
                <a:solidFill>
                  <a:srgbClr val="888888"/>
                </a:solidFill>
              </a:defRPr>
            </a:lvl4pPr>
            <a:lvl5pPr indent="-228600" lvl="4" marL="2286000" algn="l">
              <a:lnSpc>
                <a:spcPct val="100000"/>
              </a:lnSpc>
              <a:spcBef>
                <a:spcPts val="370"/>
              </a:spcBef>
              <a:spcAft>
                <a:spcPts val="0"/>
              </a:spcAft>
              <a:buSzPts val="1400"/>
              <a:buFont typeface="Libre Baskerville"/>
              <a:buNone/>
              <a:defRPr sz="1400">
                <a:solidFill>
                  <a:srgbClr val="888888"/>
                </a:solidFill>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50" name="Google Shape;50;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p:nvPr/>
        </p:nvSpPr>
        <p:spPr>
          <a:xfrm flipH="1" rot="10800000">
            <a:off x="69412" y="2376830"/>
            <a:ext cx="9013515"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53" name="Google Shape;53;p6"/>
          <p:cNvSpPr/>
          <p:nvPr/>
        </p:nvSpPr>
        <p:spPr>
          <a:xfrm>
            <a:off x="69146" y="2341475"/>
            <a:ext cx="9013781"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54" name="Google Shape;54;p6"/>
          <p:cNvSpPr/>
          <p:nvPr/>
        </p:nvSpPr>
        <p:spPr>
          <a:xfrm>
            <a:off x="68306" y="2468880"/>
            <a:ext cx="9014621" cy="4572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55" name="Google Shape;55;p6"/>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7"/>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2" name="Google Shape;62;p7"/>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8"/>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6" name="Google Shape;66;p8"/>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71" name="Google Shape;71;p8"/>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10"/>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79" name="Google Shape;79;p10"/>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80" name="Google Shape;80;p10"/>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530"/>
              <a:buNone/>
              <a:defRPr sz="1800"/>
            </a:lvl1pPr>
            <a:lvl2pPr indent="-228600" lvl="1" marL="914400" algn="l">
              <a:lnSpc>
                <a:spcPct val="100000"/>
              </a:lnSpc>
              <a:spcBef>
                <a:spcPts val="370"/>
              </a:spcBef>
              <a:spcAft>
                <a:spcPts val="0"/>
              </a:spcAft>
              <a:buSzPts val="1020"/>
              <a:buNone/>
              <a:defRPr sz="1200"/>
            </a:lvl2pPr>
            <a:lvl3pPr indent="-228600" lvl="2" marL="1371600" algn="l">
              <a:lnSpc>
                <a:spcPct val="100000"/>
              </a:lnSpc>
              <a:spcBef>
                <a:spcPts val="370"/>
              </a:spcBef>
              <a:spcAft>
                <a:spcPts val="0"/>
              </a:spcAft>
              <a:buSzPts val="850"/>
              <a:buNone/>
              <a:defRPr sz="1000"/>
            </a:lvl3pPr>
            <a:lvl4pPr indent="-228600" lvl="3" marL="1828800" algn="l">
              <a:lnSpc>
                <a:spcPct val="100000"/>
              </a:lnSpc>
              <a:spcBef>
                <a:spcPts val="370"/>
              </a:spcBef>
              <a:spcAft>
                <a:spcPts val="0"/>
              </a:spcAft>
              <a:buSzPts val="720"/>
              <a:buNone/>
              <a:defRPr sz="900"/>
            </a:lvl4pPr>
            <a:lvl5pPr indent="-228600" lvl="4" marL="2286000" algn="l">
              <a:lnSpc>
                <a:spcPct val="100000"/>
              </a:lnSpc>
              <a:spcBef>
                <a:spcPts val="370"/>
              </a:spcBef>
              <a:spcAft>
                <a:spcPts val="0"/>
              </a:spcAft>
              <a:buSzPts val="900"/>
              <a:buFont typeface="Libre Baskerville"/>
              <a:buNone/>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82" name="Google Shape;82;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85" name="Google Shape;85;p10"/>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11"/>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lnSpc>
                <a:spcPct val="100000"/>
              </a:lnSpc>
              <a:spcBef>
                <a:spcPts val="0"/>
              </a:spcBef>
              <a:spcAft>
                <a:spcPts val="0"/>
              </a:spcAft>
              <a:buClr>
                <a:schemeClr val="dk2"/>
              </a:buClr>
              <a:buSzPts val="2800"/>
              <a:buFont typeface="Libre Franklin"/>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1"/>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360"/>
              <a:buFont typeface="Libre Baskerville"/>
              <a:buNone/>
              <a:defRPr sz="1600"/>
            </a:lvl1pPr>
            <a:lvl2pPr indent="-293369" lvl="1" marL="914400" algn="l">
              <a:lnSpc>
                <a:spcPct val="100000"/>
              </a:lnSpc>
              <a:spcBef>
                <a:spcPts val="370"/>
              </a:spcBef>
              <a:spcAft>
                <a:spcPts val="0"/>
              </a:spcAft>
              <a:buSzPts val="1020"/>
              <a:buChar char="⚫"/>
              <a:defRPr sz="1200"/>
            </a:lvl2pPr>
            <a:lvl3pPr indent="-282575" lvl="2" marL="1371600" algn="l">
              <a:lnSpc>
                <a:spcPct val="100000"/>
              </a:lnSpc>
              <a:spcBef>
                <a:spcPts val="370"/>
              </a:spcBef>
              <a:spcAft>
                <a:spcPts val="0"/>
              </a:spcAft>
              <a:buSzPts val="850"/>
              <a:buChar char="⚫"/>
              <a:defRPr sz="1000"/>
            </a:lvl3pPr>
            <a:lvl4pPr indent="-274319" lvl="3" marL="1828800" algn="l">
              <a:lnSpc>
                <a:spcPct val="100000"/>
              </a:lnSpc>
              <a:spcBef>
                <a:spcPts val="370"/>
              </a:spcBef>
              <a:spcAft>
                <a:spcPts val="0"/>
              </a:spcAft>
              <a:buSzPts val="720"/>
              <a:buChar char="⚫"/>
              <a:defRPr sz="900"/>
            </a:lvl4pPr>
            <a:lvl5pPr indent="-285750" lvl="4" marL="2286000" algn="l">
              <a:lnSpc>
                <a:spcPct val="100000"/>
              </a:lnSpc>
              <a:spcBef>
                <a:spcPts val="370"/>
              </a:spcBef>
              <a:spcAft>
                <a:spcPts val="0"/>
              </a:spcAft>
              <a:buSzPts val="900"/>
              <a:buFont typeface="Libre Baskerville"/>
              <a:buChar char="o"/>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89" name="Google Shape;89;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1"/>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92" name="Google Shape;92;p11"/>
          <p:cNvSpPr/>
          <p:nvPr/>
        </p:nvSpPr>
        <p:spPr>
          <a:xfrm flipH="1" rot="10800000">
            <a:off x="68307" y="4683555"/>
            <a:ext cx="9006840"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93" name="Google Shape;93;p11"/>
          <p:cNvSpPr/>
          <p:nvPr/>
        </p:nvSpPr>
        <p:spPr>
          <a:xfrm>
            <a:off x="68508" y="4650474"/>
            <a:ext cx="9006639"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94" name="Google Shape;94;p11"/>
          <p:cNvSpPr/>
          <p:nvPr/>
        </p:nvSpPr>
        <p:spPr>
          <a:xfrm>
            <a:off x="68510" y="4773224"/>
            <a:ext cx="9006637" cy="48807"/>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95" name="Google Shape;95;p11"/>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1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2"/>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99" name="Google Shape;99;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13"/>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3"/>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05" name="Google Shape;105;p1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 name="Google Shape;11;p1"/>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marR="0" rtl="0" algn="l">
              <a:lnSpc>
                <a:spcPct val="100000"/>
              </a:lnSpc>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68935" lvl="0" marL="457200" marR="0" rtl="0" algn="l">
              <a:lnSpc>
                <a:spcPct val="100000"/>
              </a:lnSpc>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6" name="Google Shape;16;p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www.investopedia.com/terms/a/autoregressive.asp" TargetMode="External"/><Relationship Id="rId4" Type="http://schemas.openxmlformats.org/officeDocument/2006/relationships/hyperlink" Target="https://www.investopedia.com/terms/m/movingaverage.as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8.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ph type="ctrTitle"/>
          </p:nvPr>
        </p:nvSpPr>
        <p:spPr>
          <a:xfrm>
            <a:off x="536925" y="1742980"/>
            <a:ext cx="8229600" cy="1470000"/>
          </a:xfrm>
          <a:prstGeom prst="rect">
            <a:avLst/>
          </a:prstGeom>
          <a:noFill/>
          <a:ln>
            <a:noFill/>
          </a:ln>
        </p:spPr>
        <p:txBody>
          <a:bodyPr anchorCtr="0" anchor="ctr" bIns="91425" lIns="91425" spcFirstLastPara="1" rIns="91425" wrap="square" tIns="45700">
            <a:normAutofit fontScale="90000"/>
          </a:bodyPr>
          <a:lstStyle/>
          <a:p>
            <a:pPr indent="0" lvl="0" marL="0" rtl="0" algn="ctr">
              <a:lnSpc>
                <a:spcPct val="80000"/>
              </a:lnSpc>
              <a:spcBef>
                <a:spcPts val="0"/>
              </a:spcBef>
              <a:spcAft>
                <a:spcPts val="0"/>
              </a:spcAft>
              <a:buClr>
                <a:schemeClr val="lt1"/>
              </a:buClr>
              <a:buSzPct val="100000"/>
              <a:buFont typeface="Libre Franklin"/>
              <a:buNone/>
            </a:pPr>
            <a:r>
              <a:rPr b="1" lang="en-US">
                <a:solidFill>
                  <a:schemeClr val="lt1"/>
                </a:solidFill>
              </a:rPr>
              <a:t>Air pollution monitoring, forecasting and controlling system</a:t>
            </a:r>
            <a:endParaRPr b="1">
              <a:solidFill>
                <a:schemeClr val="lt1"/>
              </a:solidFill>
            </a:endParaRPr>
          </a:p>
          <a:p>
            <a:pPr indent="0" lvl="0" marL="0" rtl="0" algn="ctr">
              <a:lnSpc>
                <a:spcPct val="100000"/>
              </a:lnSpc>
              <a:spcBef>
                <a:spcPts val="0"/>
              </a:spcBef>
              <a:spcAft>
                <a:spcPts val="0"/>
              </a:spcAft>
              <a:buClr>
                <a:srgbClr val="FFFFFF"/>
              </a:buClr>
              <a:buSzPct val="100000"/>
              <a:buFont typeface="Libre Franklin"/>
              <a:buNone/>
            </a:pPr>
            <a:r>
              <a:t/>
            </a:r>
            <a:endParaRPr/>
          </a:p>
        </p:txBody>
      </p:sp>
      <p:sp>
        <p:nvSpPr>
          <p:cNvPr id="113" name="Google Shape;113;p14"/>
          <p:cNvSpPr txBox="1"/>
          <p:nvPr/>
        </p:nvSpPr>
        <p:spPr>
          <a:xfrm>
            <a:off x="1403648" y="188640"/>
            <a:ext cx="7488832" cy="1224136"/>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00000"/>
              </a:lnSpc>
              <a:spcBef>
                <a:spcPts val="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BMS College of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Department of Information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CAPSTONE PROJECT PHASE -2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Review - II</a:t>
            </a:r>
            <a:endParaRPr b="1" i="0" sz="2600" u="none" cap="none" strike="noStrike">
              <a:solidFill>
                <a:schemeClr val="dk2"/>
              </a:solidFill>
              <a:latin typeface="Libre Baskerville"/>
              <a:ea typeface="Libre Baskerville"/>
              <a:cs typeface="Libre Baskerville"/>
              <a:sym typeface="Libre Baskerville"/>
            </a:endParaRPr>
          </a:p>
        </p:txBody>
      </p:sp>
      <p:pic>
        <p:nvPicPr>
          <p:cNvPr descr="Related image" id="114" name="Google Shape;114;p14"/>
          <p:cNvPicPr preferRelativeResize="0"/>
          <p:nvPr/>
        </p:nvPicPr>
        <p:blipFill rotWithShape="1">
          <a:blip r:embed="rId3">
            <a:alphaModFix/>
          </a:blip>
          <a:srcRect b="0" l="0" r="0" t="0"/>
          <a:stretch/>
        </p:blipFill>
        <p:spPr>
          <a:xfrm>
            <a:off x="456134" y="195450"/>
            <a:ext cx="1019522" cy="992334"/>
          </a:xfrm>
          <a:prstGeom prst="rect">
            <a:avLst/>
          </a:prstGeom>
          <a:noFill/>
          <a:ln>
            <a:noFill/>
          </a:ln>
        </p:spPr>
      </p:pic>
      <p:sp>
        <p:nvSpPr>
          <p:cNvPr id="115" name="Google Shape;115;p14"/>
          <p:cNvSpPr/>
          <p:nvPr/>
        </p:nvSpPr>
        <p:spPr>
          <a:xfrm>
            <a:off x="179500" y="3074525"/>
            <a:ext cx="4665600" cy="229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Batch No:-</a:t>
            </a:r>
            <a:r>
              <a:rPr b="0" i="0" lang="en-US" sz="1800" u="none" cap="none" strike="noStrike">
                <a:solidFill>
                  <a:srgbClr val="000000"/>
                </a:solidFill>
                <a:latin typeface="Arial"/>
                <a:ea typeface="Arial"/>
                <a:cs typeface="Arial"/>
                <a:sym typeface="Arial"/>
              </a:rPr>
              <a:t> 25</a:t>
            </a:r>
            <a:endParaRPr b="0" i="0" sz="1800" u="none" cap="none" strike="noStrike">
              <a:solidFill>
                <a:srgbClr val="000000"/>
              </a:solidFill>
              <a:latin typeface="Libre Baskerville"/>
              <a:ea typeface="Libre Baskerville"/>
              <a:cs typeface="Libre Baskerville"/>
              <a:sym typeface="Libre Baskerville"/>
            </a:endParaRPr>
          </a:p>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Project Team  Members: </a:t>
            </a:r>
            <a:endParaRPr b="0" i="0" sz="1800" u="none" cap="none" strike="noStrike">
              <a:solidFill>
                <a:srgbClr val="000000"/>
              </a:solidFill>
              <a:latin typeface="Libre Baskerville"/>
              <a:ea typeface="Libre Baskerville"/>
              <a:cs typeface="Libre Baskerville"/>
              <a:sym typeface="Libre Baskerville"/>
            </a:endParaRPr>
          </a:p>
          <a:p>
            <a:pPr indent="0" lvl="0" marL="0" marR="0" rtl="0" algn="l">
              <a:lnSpc>
                <a:spcPct val="150000"/>
              </a:lnSpc>
              <a:spcBef>
                <a:spcPts val="0"/>
              </a:spcBef>
              <a:spcAft>
                <a:spcPts val="0"/>
              </a:spcAft>
              <a:buClr>
                <a:srgbClr val="000000"/>
              </a:buClr>
              <a:buSzPts val="1800"/>
              <a:buFont typeface="Libre Baskerville"/>
              <a:buNone/>
            </a:pPr>
            <a:r>
              <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3F3F3F"/>
              </a:buClr>
              <a:buSzPts val="1800"/>
              <a:buFont typeface="Calibri"/>
              <a:buNone/>
            </a:pPr>
            <a:r>
              <a:rPr b="1" lang="en-US" sz="2000">
                <a:solidFill>
                  <a:srgbClr val="000000"/>
                </a:solidFill>
                <a:latin typeface="Calibri"/>
                <a:ea typeface="Calibri"/>
                <a:cs typeface="Calibri"/>
                <a:sym typeface="Calibri"/>
              </a:rPr>
              <a:t>Prateek M Gummaraju </a:t>
            </a:r>
            <a:r>
              <a:rPr b="1" i="0" lang="en-US" sz="2000" u="none" cap="none" strike="noStrike">
                <a:solidFill>
                  <a:srgbClr val="000000"/>
                </a:solidFill>
                <a:latin typeface="Calibri"/>
                <a:ea typeface="Calibri"/>
                <a:cs typeface="Calibri"/>
                <a:sym typeface="Calibri"/>
              </a:rPr>
              <a:t>(</a:t>
            </a:r>
            <a:r>
              <a:rPr b="1" lang="en-US" sz="2000">
                <a:solidFill>
                  <a:srgbClr val="000000"/>
                </a:solidFill>
                <a:latin typeface="Calibri"/>
                <a:ea typeface="Calibri"/>
                <a:cs typeface="Calibri"/>
                <a:sym typeface="Calibri"/>
              </a:rPr>
              <a:t>1BM19IS117</a:t>
            </a:r>
            <a:r>
              <a:rPr b="1" i="0" lang="en-US" sz="2000" u="none" cap="none" strike="noStrike">
                <a:solidFill>
                  <a:srgbClr val="000000"/>
                </a:solidFill>
                <a:latin typeface="Calibri"/>
                <a:ea typeface="Calibri"/>
                <a:cs typeface="Calibri"/>
                <a:sym typeface="Calibri"/>
              </a:rPr>
              <a:t>)</a:t>
            </a:r>
            <a:endParaRPr sz="1600">
              <a:solidFill>
                <a:srgbClr val="000000"/>
              </a:solidFill>
            </a:endParaRPr>
          </a:p>
          <a:p>
            <a:pPr indent="0" lvl="0" marL="0" marR="0" rtl="0" algn="l">
              <a:lnSpc>
                <a:spcPct val="150000"/>
              </a:lnSpc>
              <a:spcBef>
                <a:spcPts val="0"/>
              </a:spcBef>
              <a:spcAft>
                <a:spcPts val="0"/>
              </a:spcAft>
              <a:buClr>
                <a:srgbClr val="3F3F3F"/>
              </a:buClr>
              <a:buSzPts val="1800"/>
              <a:buFont typeface="Calibri"/>
              <a:buNone/>
            </a:pPr>
            <a:r>
              <a:rPr b="1" lang="en-US" sz="2000">
                <a:solidFill>
                  <a:srgbClr val="000000"/>
                </a:solidFill>
                <a:latin typeface="Calibri"/>
                <a:ea typeface="Calibri"/>
                <a:cs typeface="Calibri"/>
                <a:sym typeface="Calibri"/>
              </a:rPr>
              <a:t>Ruchi Agarwal </a:t>
            </a:r>
            <a:r>
              <a:rPr b="1" i="0" lang="en-US" sz="2000" u="none" cap="none" strike="noStrike">
                <a:solidFill>
                  <a:srgbClr val="000000"/>
                </a:solidFill>
                <a:latin typeface="Calibri"/>
                <a:ea typeface="Calibri"/>
                <a:cs typeface="Calibri"/>
                <a:sym typeface="Calibri"/>
              </a:rPr>
              <a:t>(</a:t>
            </a:r>
            <a:r>
              <a:rPr b="1" lang="en-US" sz="2000">
                <a:solidFill>
                  <a:srgbClr val="000000"/>
                </a:solidFill>
                <a:latin typeface="Calibri"/>
                <a:ea typeface="Calibri"/>
                <a:cs typeface="Calibri"/>
                <a:sym typeface="Calibri"/>
              </a:rPr>
              <a:t>1BM19IS133</a:t>
            </a:r>
            <a:r>
              <a:rPr b="1" i="0" lang="en-US" sz="2000" u="none" cap="none" strike="noStrike">
                <a:solidFill>
                  <a:srgbClr val="000000"/>
                </a:solidFill>
                <a:latin typeface="Calibri"/>
                <a:ea typeface="Calibri"/>
                <a:cs typeface="Calibri"/>
                <a:sym typeface="Calibri"/>
              </a:rPr>
              <a:t>)</a:t>
            </a:r>
            <a:endParaRPr sz="1600">
              <a:solidFill>
                <a:srgbClr val="000000"/>
              </a:solidFill>
            </a:endParaRPr>
          </a:p>
          <a:p>
            <a:pPr indent="0" lvl="0" marL="0" marR="0" rtl="0" algn="l">
              <a:lnSpc>
                <a:spcPct val="150000"/>
              </a:lnSpc>
              <a:spcBef>
                <a:spcPts val="0"/>
              </a:spcBef>
              <a:spcAft>
                <a:spcPts val="0"/>
              </a:spcAft>
              <a:buNone/>
            </a:pPr>
            <a:r>
              <a:rPr b="1" lang="en-US" sz="2000">
                <a:solidFill>
                  <a:srgbClr val="000000"/>
                </a:solidFill>
                <a:latin typeface="Calibri"/>
                <a:ea typeface="Calibri"/>
                <a:cs typeface="Calibri"/>
                <a:sym typeface="Calibri"/>
              </a:rPr>
              <a:t>Samartha S</a:t>
            </a:r>
            <a:r>
              <a:rPr b="1" i="0" lang="en-US" sz="2000" u="none" cap="none" strike="noStrike">
                <a:solidFill>
                  <a:srgbClr val="000000"/>
                </a:solidFill>
                <a:latin typeface="Calibri"/>
                <a:ea typeface="Calibri"/>
                <a:cs typeface="Calibri"/>
                <a:sym typeface="Calibri"/>
              </a:rPr>
              <a:t> (</a:t>
            </a:r>
            <a:r>
              <a:rPr b="1" lang="en-US" sz="2000">
                <a:solidFill>
                  <a:srgbClr val="000000"/>
                </a:solidFill>
                <a:latin typeface="Calibri"/>
                <a:ea typeface="Calibri"/>
                <a:cs typeface="Calibri"/>
                <a:sym typeface="Calibri"/>
              </a:rPr>
              <a:t>1BM19IS219</a:t>
            </a:r>
            <a:r>
              <a:rPr b="1" i="0" lang="en-US" sz="2000" u="none" cap="none" strike="noStrike">
                <a:solidFill>
                  <a:srgbClr val="000000"/>
                </a:solidFill>
                <a:latin typeface="Calibri"/>
                <a:ea typeface="Calibri"/>
                <a:cs typeface="Calibri"/>
                <a:sym typeface="Calibri"/>
              </a:rPr>
              <a:t>)</a:t>
            </a:r>
            <a:endParaRPr sz="1600">
              <a:solidFill>
                <a:srgbClr val="000000"/>
              </a:solidFill>
            </a:endParaRPr>
          </a:p>
          <a:p>
            <a:pPr indent="0" lvl="0" marL="0" marR="0" rtl="0" algn="l">
              <a:spcBef>
                <a:spcPts val="0"/>
              </a:spcBef>
              <a:spcAft>
                <a:spcPts val="0"/>
              </a:spcAft>
              <a:buClr>
                <a:srgbClr val="000000"/>
              </a:buClr>
              <a:buSzPts val="1800"/>
              <a:buFont typeface="Libre Baskerville"/>
              <a:buNone/>
            </a:pPr>
            <a:r>
              <a:t/>
            </a:r>
            <a:endParaRPr b="0" i="0" sz="1800" u="none" cap="none" strike="noStrike">
              <a:solidFill>
                <a:srgbClr val="404040"/>
              </a:solidFill>
              <a:latin typeface="Century Gothic"/>
              <a:ea typeface="Century Gothic"/>
              <a:cs typeface="Century Gothic"/>
              <a:sym typeface="Century Gothic"/>
            </a:endParaRPr>
          </a:p>
        </p:txBody>
      </p:sp>
      <p:sp>
        <p:nvSpPr>
          <p:cNvPr id="116" name="Google Shape;116;p14"/>
          <p:cNvSpPr txBox="1"/>
          <p:nvPr/>
        </p:nvSpPr>
        <p:spPr>
          <a:xfrm>
            <a:off x="5652120" y="3212976"/>
            <a:ext cx="3024300" cy="194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34817"/>
              </a:buClr>
              <a:buSzPts val="1530"/>
              <a:buFont typeface="Noto Sans Symbols"/>
              <a:buNone/>
            </a:pPr>
            <a:r>
              <a:rPr b="1" i="0" lang="en-US" sz="1800" u="none" cap="none" strike="noStrike">
                <a:solidFill>
                  <a:srgbClr val="000000"/>
                </a:solidFill>
                <a:latin typeface="Arial"/>
                <a:ea typeface="Arial"/>
                <a:cs typeface="Arial"/>
                <a:sym typeface="Arial"/>
              </a:rPr>
              <a:t>Under the Guidance of</a:t>
            </a:r>
            <a:endParaRPr/>
          </a:p>
          <a:p>
            <a:pPr indent="0" lvl="0" marL="0" marR="0" rtl="0" algn="l">
              <a:spcBef>
                <a:spcPts val="580"/>
              </a:spcBef>
              <a:spcAft>
                <a:spcPts val="0"/>
              </a:spcAft>
              <a:buClr>
                <a:srgbClr val="D34817"/>
              </a:buClr>
              <a:buSzPts val="153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ctr">
              <a:spcBef>
                <a:spcPts val="580"/>
              </a:spcBef>
              <a:spcAft>
                <a:spcPts val="0"/>
              </a:spcAft>
              <a:buClr>
                <a:srgbClr val="D34817"/>
              </a:buClr>
              <a:buSzPts val="1530"/>
              <a:buFont typeface="Noto Sans Symbols"/>
              <a:buNone/>
            </a:pPr>
            <a:r>
              <a:rPr b="1" lang="en-US" sz="1800"/>
              <a:t>Prof. Pallavi B</a:t>
            </a:r>
            <a:endParaRPr/>
          </a:p>
          <a:p>
            <a:pPr indent="0" lvl="0" marL="0" marR="0" rtl="0" algn="ctr">
              <a:spcBef>
                <a:spcPts val="580"/>
              </a:spcBef>
              <a:spcAft>
                <a:spcPts val="0"/>
              </a:spcAft>
              <a:buClr>
                <a:srgbClr val="D34817"/>
              </a:buClr>
              <a:buSzPts val="1530"/>
              <a:buFont typeface="Noto Sans Symbols"/>
              <a:buNone/>
            </a:pPr>
            <a:r>
              <a:rPr lang="en-US" sz="1800"/>
              <a:t>Assistant Professor</a:t>
            </a:r>
            <a:endParaRPr/>
          </a:p>
          <a:p>
            <a:pPr indent="0" lvl="0" marL="0" marR="0" rtl="0" algn="ctr">
              <a:spcBef>
                <a:spcPts val="580"/>
              </a:spcBef>
              <a:spcAft>
                <a:spcPts val="0"/>
              </a:spcAft>
              <a:buClr>
                <a:srgbClr val="D34817"/>
              </a:buClr>
              <a:buSzPts val="1530"/>
              <a:buFont typeface="Noto Sans Symbols"/>
              <a:buNone/>
            </a:pPr>
            <a:r>
              <a:rPr b="0" i="0" lang="en-US" sz="1800" u="none" cap="none" strike="noStrike">
                <a:solidFill>
                  <a:srgbClr val="000000"/>
                </a:solidFill>
                <a:latin typeface="Arial"/>
                <a:ea typeface="Arial"/>
                <a:cs typeface="Arial"/>
                <a:sym typeface="Arial"/>
              </a:rPr>
              <a:t>Department of ISE</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type="title"/>
          </p:nvPr>
        </p:nvSpPr>
        <p:spPr>
          <a:xfrm>
            <a:off x="611560" y="116632"/>
            <a:ext cx="7772400" cy="720080"/>
          </a:xfrm>
          <a:prstGeom prst="rect">
            <a:avLst/>
          </a:prstGeom>
          <a:noFill/>
          <a:ln>
            <a:noFill/>
          </a:ln>
        </p:spPr>
        <p:txBody>
          <a:bodyPr anchorCtr="0" anchor="b" bIns="91425" lIns="91425" spcFirstLastPara="1" rIns="91425" wrap="square" tIns="45700">
            <a:normAutofit fontScale="90000"/>
          </a:bodyPr>
          <a:lstStyle/>
          <a:p>
            <a:pPr indent="0" lvl="0" marL="0" rtl="0" algn="ctr">
              <a:lnSpc>
                <a:spcPct val="100000"/>
              </a:lnSpc>
              <a:spcBef>
                <a:spcPts val="0"/>
              </a:spcBef>
              <a:spcAft>
                <a:spcPts val="0"/>
              </a:spcAft>
              <a:buClr>
                <a:schemeClr val="dk2"/>
              </a:buClr>
              <a:buSzPct val="100000"/>
              <a:buFont typeface="Libre Franklin"/>
              <a:buNone/>
            </a:pPr>
            <a:r>
              <a:rPr lang="en-US"/>
              <a:t>Agenda</a:t>
            </a:r>
            <a:endParaRPr/>
          </a:p>
        </p:txBody>
      </p:sp>
      <p:sp>
        <p:nvSpPr>
          <p:cNvPr id="122" name="Google Shape;122;p15"/>
          <p:cNvSpPr txBox="1"/>
          <p:nvPr>
            <p:ph idx="1" type="body"/>
          </p:nvPr>
        </p:nvSpPr>
        <p:spPr>
          <a:xfrm>
            <a:off x="251520" y="980728"/>
            <a:ext cx="8784976" cy="5039072"/>
          </a:xfrm>
          <a:prstGeom prst="rect">
            <a:avLst/>
          </a:prstGeom>
          <a:noFill/>
          <a:ln>
            <a:noFill/>
          </a:ln>
        </p:spPr>
        <p:txBody>
          <a:bodyPr anchorCtr="0" anchor="t" bIns="45700" lIns="91425" spcFirstLastPara="1" rIns="91425" wrap="square" tIns="45700">
            <a:normAutofit fontScale="47500" lnSpcReduction="20000"/>
          </a:bodyPr>
          <a:lstStyle/>
          <a:p>
            <a:pPr indent="-207660" lvl="0" marL="274320" rtl="0" algn="l">
              <a:lnSpc>
                <a:spcPct val="100000"/>
              </a:lnSpc>
              <a:spcBef>
                <a:spcPts val="0"/>
              </a:spcBef>
              <a:spcAft>
                <a:spcPts val="0"/>
              </a:spcAft>
              <a:buSzPct val="85000"/>
              <a:buNone/>
            </a:pPr>
            <a:r>
              <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Introduction</a:t>
            </a:r>
            <a:endParaRPr sz="2800">
              <a:latin typeface="Times New Roman"/>
              <a:ea typeface="Times New Roman"/>
              <a:cs typeface="Times New Roman"/>
              <a:sym typeface="Times New Roman"/>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Problem Statement</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Proposed System</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System Design</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Methodology</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Technology Stack</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Implementation</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Testing</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Results </a:t>
            </a:r>
            <a:endParaRPr sz="2800">
              <a:latin typeface="Times New Roman"/>
              <a:ea typeface="Times New Roman"/>
              <a:cs typeface="Times New Roman"/>
              <a:sym typeface="Times New Roman"/>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Conclusion</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Future Enhancement</a:t>
            </a:r>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Project Outcome</a:t>
            </a:r>
            <a:endParaRPr sz="2800">
              <a:latin typeface="Times New Roman"/>
              <a:ea typeface="Times New Roman"/>
              <a:cs typeface="Times New Roman"/>
              <a:sym typeface="Times New Roman"/>
            </a:endParaRPr>
          </a:p>
          <a:p>
            <a:pPr indent="-457189" lvl="0" marL="457189" rtl="0" algn="l">
              <a:lnSpc>
                <a:spcPct val="150000"/>
              </a:lnSpc>
              <a:spcBef>
                <a:spcPts val="580"/>
              </a:spcBef>
              <a:spcAft>
                <a:spcPts val="0"/>
              </a:spcAft>
              <a:buSzPct val="85000"/>
              <a:buFont typeface="Noto Sans Symbols"/>
              <a:buChar char="⮚"/>
            </a:pPr>
            <a:r>
              <a:rPr lang="en-US" sz="2800">
                <a:latin typeface="Times New Roman"/>
                <a:ea typeface="Times New Roman"/>
                <a:cs typeface="Times New Roman"/>
                <a:sym typeface="Times New Roman"/>
              </a:rPr>
              <a:t>References</a:t>
            </a:r>
            <a:endParaRPr sz="2800">
              <a:latin typeface="Times New Roman"/>
              <a:ea typeface="Times New Roman"/>
              <a:cs typeface="Times New Roman"/>
              <a:sym typeface="Times New Roman"/>
            </a:endParaRPr>
          </a:p>
        </p:txBody>
      </p:sp>
      <p:sp>
        <p:nvSpPr>
          <p:cNvPr id="123" name="Google Shape;123;p1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30-05-2022</a:t>
            </a:r>
            <a:endParaRPr/>
          </a:p>
        </p:txBody>
      </p:sp>
      <p:sp>
        <p:nvSpPr>
          <p:cNvPr id="124" name="Google Shape;124;p1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Department of ISE, BMSCE</a:t>
            </a:r>
            <a:endParaRPr/>
          </a:p>
        </p:txBody>
      </p:sp>
      <p:sp>
        <p:nvSpPr>
          <p:cNvPr id="125" name="Google Shape;125;p1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txBox="1"/>
          <p:nvPr>
            <p:ph idx="1" type="body"/>
          </p:nvPr>
        </p:nvSpPr>
        <p:spPr>
          <a:xfrm>
            <a:off x="1096964" y="404664"/>
            <a:ext cx="6909000" cy="6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b="1" lang="en-US"/>
              <a:t>Introduction</a:t>
            </a:r>
            <a:endParaRPr sz="3600">
              <a:solidFill>
                <a:schemeClr val="dk2"/>
              </a:solidFill>
              <a:latin typeface="Libre Franklin"/>
              <a:ea typeface="Libre Franklin"/>
              <a:cs typeface="Libre Franklin"/>
              <a:sym typeface="Libre Franklin"/>
            </a:endParaRPr>
          </a:p>
        </p:txBody>
      </p:sp>
      <p:sp>
        <p:nvSpPr>
          <p:cNvPr id="131" name="Google Shape;131;p16"/>
          <p:cNvSpPr txBox="1"/>
          <p:nvPr/>
        </p:nvSpPr>
        <p:spPr>
          <a:xfrm>
            <a:off x="812800" y="1013821"/>
            <a:ext cx="7263000" cy="6419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Air pollution is defined as the presence of compounds in the atmosphere that are harmful to human beings and other living organisms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Has severe effects on human health - Respiratory issues, lungs and heart problems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Offering a holistic approach to tackle the issue of air pollution by building a device that can monitor air pollution, predict future levels of pollution and also suggest precautionary actions and methods to reduce air pollution</a:t>
            </a:r>
            <a:endParaRPr sz="1800">
              <a:solidFill>
                <a:schemeClr val="dk1"/>
              </a:solidFill>
              <a:latin typeface="Times New Roman"/>
              <a:ea typeface="Times New Roman"/>
              <a:cs typeface="Times New Roman"/>
              <a:sym typeface="Times New Roman"/>
            </a:endParaRPr>
          </a:p>
          <a:p>
            <a:pPr indent="0" lvl="0" marL="457200" marR="0" rtl="0" algn="just">
              <a:lnSpc>
                <a:spcPct val="115000"/>
              </a:lnSpc>
              <a:spcBef>
                <a:spcPts val="100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marR="0" rtl="0" algn="l">
              <a:spcBef>
                <a:spcPts val="100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sp>
        <p:nvSpPr>
          <p:cNvPr id="132" name="Google Shape;132;p16"/>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133" name="Google Shape;133;p16"/>
          <p:cNvPicPr preferRelativeResize="0"/>
          <p:nvPr/>
        </p:nvPicPr>
        <p:blipFill>
          <a:blip r:embed="rId3">
            <a:alphaModFix/>
          </a:blip>
          <a:stretch>
            <a:fillRect/>
          </a:stretch>
        </p:blipFill>
        <p:spPr>
          <a:xfrm>
            <a:off x="2764975" y="3944850"/>
            <a:ext cx="6270174" cy="26083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ph idx="1" type="body"/>
          </p:nvPr>
        </p:nvSpPr>
        <p:spPr>
          <a:xfrm>
            <a:off x="1096964" y="404664"/>
            <a:ext cx="6909000" cy="609300"/>
          </a:xfrm>
          <a:prstGeom prst="rect">
            <a:avLst/>
          </a:prstGeom>
          <a:noFill/>
          <a:ln>
            <a:noFill/>
          </a:ln>
        </p:spPr>
        <p:txBody>
          <a:bodyPr anchorCtr="0" anchor="t" bIns="91425" lIns="91425" spcFirstLastPara="1" rIns="91425" wrap="square" tIns="91425">
            <a:noAutofit/>
          </a:bodyPr>
          <a:lstStyle/>
          <a:p>
            <a:pPr indent="0" lvl="0" marL="228600" rtl="0" algn="ctr">
              <a:spcBef>
                <a:spcPts val="0"/>
              </a:spcBef>
              <a:spcAft>
                <a:spcPts val="0"/>
              </a:spcAft>
              <a:buSzPts val="1400"/>
              <a:buNone/>
            </a:pPr>
            <a:r>
              <a:rPr b="1" lang="en-US"/>
              <a:t>Problem Statement</a:t>
            </a:r>
            <a:endParaRPr/>
          </a:p>
        </p:txBody>
      </p:sp>
      <p:sp>
        <p:nvSpPr>
          <p:cNvPr id="139" name="Google Shape;139;p17"/>
          <p:cNvSpPr txBox="1"/>
          <p:nvPr/>
        </p:nvSpPr>
        <p:spPr>
          <a:xfrm>
            <a:off x="792225" y="793175"/>
            <a:ext cx="8256300" cy="11929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just">
              <a:lnSpc>
                <a:spcPct val="150000"/>
              </a:lnSpc>
              <a:spcBef>
                <a:spcPts val="0"/>
              </a:spcBef>
              <a:spcAft>
                <a:spcPts val="100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To build an intelligent and automated device that has the ability to monitor, forecast and also control air pollution by leveraging booming technologies like IoT and Data Science</a:t>
            </a:r>
            <a:endParaRPr sz="2200">
              <a:solidFill>
                <a:schemeClr val="dk1"/>
              </a:solidFill>
              <a:latin typeface="Times New Roman"/>
              <a:ea typeface="Times New Roman"/>
              <a:cs typeface="Times New Roman"/>
              <a:sym typeface="Times New Roman"/>
            </a:endParaRPr>
          </a:p>
        </p:txBody>
      </p:sp>
      <p:sp>
        <p:nvSpPr>
          <p:cNvPr id="140" name="Google Shape;140;p17"/>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41" name="Google Shape;141;p17"/>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42" name="Google Shape;142;p1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Proposed System</a:t>
            </a:r>
            <a:endParaRPr sz="3600">
              <a:solidFill>
                <a:schemeClr val="dk2"/>
              </a:solidFill>
              <a:latin typeface="Libre Franklin"/>
              <a:ea typeface="Libre Franklin"/>
              <a:cs typeface="Libre Franklin"/>
              <a:sym typeface="Libre Franklin"/>
            </a:endParaRPr>
          </a:p>
        </p:txBody>
      </p:sp>
      <p:sp>
        <p:nvSpPr>
          <p:cNvPr id="148" name="Google Shape;148;p18"/>
          <p:cNvSpPr txBox="1"/>
          <p:nvPr>
            <p:ph idx="3" type="body"/>
          </p:nvPr>
        </p:nvSpPr>
        <p:spPr>
          <a:xfrm>
            <a:off x="742950" y="961200"/>
            <a:ext cx="7810500" cy="4935600"/>
          </a:xfrm>
          <a:prstGeom prst="rect">
            <a:avLst/>
          </a:prstGeom>
          <a:noFill/>
          <a:ln>
            <a:noFill/>
          </a:ln>
        </p:spPr>
        <p:txBody>
          <a:bodyPr anchorCtr="0" anchor="t" bIns="91425" lIns="91425" spcFirstLastPara="1" rIns="91425" wrap="square" tIns="91425">
            <a:noAutofit/>
          </a:bodyPr>
          <a:lstStyle/>
          <a:p>
            <a:pPr indent="-330200" lvl="0" marL="457200" rtl="0" algn="just">
              <a:lnSpc>
                <a:spcPct val="150000"/>
              </a:lnSpc>
              <a:spcBef>
                <a:spcPts val="0"/>
              </a:spcBef>
              <a:spcAft>
                <a:spcPts val="0"/>
              </a:spcAft>
              <a:buSzPts val="1600"/>
              <a:buFont typeface="Times New Roman"/>
              <a:buChar char="●"/>
            </a:pPr>
            <a:r>
              <a:rPr lang="en-US" sz="1200">
                <a:latin typeface="Times New Roman"/>
                <a:ea typeface="Times New Roman"/>
                <a:cs typeface="Times New Roman"/>
                <a:sym typeface="Times New Roman"/>
              </a:rPr>
              <a:t>We would like to propose a implementation with which, we hope to demonstrate the viability of a low-cost, Internet of Things based system constructed using Arduino and a variety of sensors that can not only monitor the current air quality but also predict the future and offer recommendations on how to reduce pollution and protect people from dangerous pollutants. We hope this system will help regulate and bring down the levels of air pollution and improve the quality of air, which in turn will improve the quality of lives of humans. </a:t>
            </a:r>
            <a:endParaRPr sz="1200">
              <a:latin typeface="Times New Roman"/>
              <a:ea typeface="Times New Roman"/>
              <a:cs typeface="Times New Roman"/>
              <a:sym typeface="Times New Roman"/>
            </a:endParaRPr>
          </a:p>
          <a:p>
            <a:pPr indent="-304800" lvl="0" marL="457200" rtl="0" algn="just">
              <a:lnSpc>
                <a:spcPct val="150000"/>
              </a:lnSpc>
              <a:spcBef>
                <a:spcPts val="1000"/>
              </a:spcBef>
              <a:spcAft>
                <a:spcPts val="0"/>
              </a:spcAft>
              <a:buSzPts val="1200"/>
              <a:buFont typeface="Times New Roman"/>
              <a:buChar char="●"/>
            </a:pPr>
            <a:r>
              <a:rPr lang="en-US" sz="1200">
                <a:latin typeface="Times New Roman"/>
                <a:ea typeface="Times New Roman"/>
                <a:cs typeface="Times New Roman"/>
                <a:sym typeface="Times New Roman"/>
              </a:rPr>
              <a:t>There are 3 modules: Monitoring, Forecasting and Controlling </a:t>
            </a:r>
            <a:endParaRPr sz="1200">
              <a:latin typeface="Times New Roman"/>
              <a:ea typeface="Times New Roman"/>
              <a:cs typeface="Times New Roman"/>
              <a:sym typeface="Times New Roman"/>
            </a:endParaRPr>
          </a:p>
          <a:p>
            <a:pPr indent="-304800" lvl="0" marL="457200" rtl="0" algn="just">
              <a:lnSpc>
                <a:spcPct val="150000"/>
              </a:lnSpc>
              <a:spcBef>
                <a:spcPts val="1000"/>
              </a:spcBef>
              <a:spcAft>
                <a:spcPts val="1000"/>
              </a:spcAft>
              <a:buSzPts val="1200"/>
              <a:buFont typeface="Times New Roman"/>
              <a:buChar char="●"/>
            </a:pPr>
            <a:r>
              <a:rPr lang="en-US" sz="1200">
                <a:latin typeface="Times New Roman"/>
                <a:ea typeface="Times New Roman"/>
                <a:cs typeface="Times New Roman"/>
                <a:sym typeface="Times New Roman"/>
              </a:rPr>
              <a:t>We have a web application that will be available publicly for all users to use. </a:t>
            </a:r>
            <a:endParaRPr sz="1200">
              <a:latin typeface="Times New Roman"/>
              <a:ea typeface="Times New Roman"/>
              <a:cs typeface="Times New Roman"/>
              <a:sym typeface="Times New Roman"/>
            </a:endParaRPr>
          </a:p>
        </p:txBody>
      </p:sp>
      <p:sp>
        <p:nvSpPr>
          <p:cNvPr id="149" name="Google Shape;149;p18"/>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50" name="Google Shape;150;p18"/>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51" name="Google Shape;151;p1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ph idx="1" type="body"/>
          </p:nvPr>
        </p:nvSpPr>
        <p:spPr>
          <a:xfrm>
            <a:off x="1098696" y="332656"/>
            <a:ext cx="70452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Objectives</a:t>
            </a:r>
            <a:r>
              <a:rPr lang="en-US" sz="3600">
                <a:solidFill>
                  <a:schemeClr val="dk2"/>
                </a:solidFill>
                <a:latin typeface="Libre Franklin"/>
                <a:ea typeface="Libre Franklin"/>
                <a:cs typeface="Libre Franklin"/>
                <a:sym typeface="Libre Franklin"/>
              </a:rPr>
              <a:t> </a:t>
            </a:r>
            <a:endParaRPr sz="3600">
              <a:solidFill>
                <a:schemeClr val="dk2"/>
              </a:solidFill>
              <a:latin typeface="Libre Franklin"/>
              <a:ea typeface="Libre Franklin"/>
              <a:cs typeface="Libre Franklin"/>
              <a:sym typeface="Libre Franklin"/>
            </a:endParaRPr>
          </a:p>
        </p:txBody>
      </p:sp>
      <p:sp>
        <p:nvSpPr>
          <p:cNvPr id="157" name="Google Shape;157;p19"/>
          <p:cNvSpPr txBox="1"/>
          <p:nvPr/>
        </p:nvSpPr>
        <p:spPr>
          <a:xfrm>
            <a:off x="1000042" y="1479311"/>
            <a:ext cx="7045200" cy="4245600"/>
          </a:xfrm>
          <a:prstGeom prst="rect">
            <a:avLst/>
          </a:prstGeom>
          <a:noFill/>
          <a:ln>
            <a:noFill/>
          </a:ln>
        </p:spPr>
        <p:txBody>
          <a:bodyPr anchorCtr="0" anchor="t" bIns="45700" lIns="91425" spcFirstLastPara="1" rIns="91425" wrap="square" tIns="45700">
            <a:spAutoFit/>
          </a:bodyPr>
          <a:lstStyle/>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an IoT system to monitor Air Quality:</a:t>
            </a:r>
            <a:endParaRPr sz="1500">
              <a:solidFill>
                <a:schemeClr val="dk1"/>
              </a:solidFill>
              <a:latin typeface="Times New Roman"/>
              <a:ea typeface="Times New Roman"/>
              <a:cs typeface="Times New Roman"/>
              <a:sym typeface="Times New Roman"/>
            </a:endParaRPr>
          </a:p>
          <a:p>
            <a:pPr indent="-323850" lvl="1" marL="9144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 Monitor Concentrations of  different air pollutants</a:t>
            </a:r>
            <a:endParaRPr sz="1500">
              <a:solidFill>
                <a:schemeClr val="dk1"/>
              </a:solidFill>
              <a:latin typeface="Times New Roman"/>
              <a:ea typeface="Times New Roman"/>
              <a:cs typeface="Times New Roman"/>
              <a:sym typeface="Times New Roman"/>
            </a:endParaRPr>
          </a:p>
          <a:p>
            <a:pPr indent="-323850" lvl="1" marL="9144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 Measure AQI</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 model to predict the Air Quality in the near future, using the output of the IoT system as input.</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 web application to display the real time findings.</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analytics on the website, such as the maximum recommended limit and the current concentration.</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measures to improve Air Quality.</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precautionary measures. </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Bring about air pollution awareness</a:t>
            </a:r>
            <a:endParaRPr sz="1500">
              <a:solidFill>
                <a:schemeClr val="dk1"/>
              </a:solidFill>
              <a:latin typeface="Times New Roman"/>
              <a:ea typeface="Times New Roman"/>
              <a:cs typeface="Times New Roman"/>
              <a:sym typeface="Times New Roman"/>
            </a:endParaRPr>
          </a:p>
          <a:p>
            <a:pPr indent="0" lvl="0" marL="0" marR="0" rtl="0" algn="just">
              <a:lnSpc>
                <a:spcPct val="150000"/>
              </a:lnSpc>
              <a:spcBef>
                <a:spcPts val="1000"/>
              </a:spcBef>
              <a:spcAft>
                <a:spcPts val="60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p:txBody>
      </p:sp>
      <p:sp>
        <p:nvSpPr>
          <p:cNvPr id="158" name="Google Shape;158;p19"/>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59" name="Google Shape;159;p19"/>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60" name="Google Shape;160;p1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0"/>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SYSTEM DESIGN</a:t>
            </a:r>
            <a:endParaRPr/>
          </a:p>
        </p:txBody>
      </p:sp>
      <p:sp>
        <p:nvSpPr>
          <p:cNvPr id="166" name="Google Shape;166;p20"/>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67" name="Google Shape;167;p20"/>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68" name="Google Shape;168;p20"/>
          <p:cNvSpPr txBox="1"/>
          <p:nvPr/>
        </p:nvSpPr>
        <p:spPr>
          <a:xfrm>
            <a:off x="3280650" y="13069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System Architecture</a:t>
            </a:r>
            <a:endParaRPr>
              <a:latin typeface="Libre Baskerville"/>
              <a:ea typeface="Libre Baskerville"/>
              <a:cs typeface="Libre Baskerville"/>
              <a:sym typeface="Libre Baskerville"/>
            </a:endParaRPr>
          </a:p>
        </p:txBody>
      </p:sp>
      <p:pic>
        <p:nvPicPr>
          <p:cNvPr id="169" name="Google Shape;169;p20"/>
          <p:cNvPicPr preferRelativeResize="0"/>
          <p:nvPr/>
        </p:nvPicPr>
        <p:blipFill>
          <a:blip r:embed="rId3">
            <a:alphaModFix/>
          </a:blip>
          <a:stretch>
            <a:fillRect/>
          </a:stretch>
        </p:blipFill>
        <p:spPr>
          <a:xfrm>
            <a:off x="1188350" y="1918613"/>
            <a:ext cx="6538652" cy="3657987"/>
          </a:xfrm>
          <a:prstGeom prst="rect">
            <a:avLst/>
          </a:prstGeom>
          <a:noFill/>
          <a:ln cap="flat" cmpd="sng" w="12700">
            <a:solidFill>
              <a:srgbClr val="000000"/>
            </a:solidFill>
            <a:prstDash val="solid"/>
            <a:miter lim="8000"/>
            <a:headEnd len="sm" w="sm" type="none"/>
            <a:tailEnd len="sm" w="sm" type="none"/>
          </a:ln>
        </p:spPr>
      </p:pic>
      <p:sp>
        <p:nvSpPr>
          <p:cNvPr id="170" name="Google Shape;170;p2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Methodology</a:t>
            </a:r>
            <a:endParaRPr sz="3600">
              <a:solidFill>
                <a:schemeClr val="dk2"/>
              </a:solidFill>
              <a:latin typeface="Libre Franklin"/>
              <a:ea typeface="Libre Franklin"/>
              <a:cs typeface="Libre Franklin"/>
              <a:sym typeface="Libre Franklin"/>
            </a:endParaRPr>
          </a:p>
        </p:txBody>
      </p:sp>
      <p:sp>
        <p:nvSpPr>
          <p:cNvPr id="176" name="Google Shape;176;p21"/>
          <p:cNvSpPr txBox="1"/>
          <p:nvPr>
            <p:ph idx="10" type="dt"/>
          </p:nvPr>
        </p:nvSpPr>
        <p:spPr>
          <a:xfrm>
            <a:off x="7596337" y="6136218"/>
            <a:ext cx="942828"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177" name="Google Shape;177;p21"/>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178" name="Google Shape;178;p21"/>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79" name="Google Shape;179;p21"/>
          <p:cNvSpPr txBox="1"/>
          <p:nvPr>
            <p:ph idx="3" type="body"/>
          </p:nvPr>
        </p:nvSpPr>
        <p:spPr>
          <a:xfrm>
            <a:off x="728675" y="1160550"/>
            <a:ext cx="7810500" cy="4935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US" sz="1000">
                <a:latin typeface="Arial"/>
                <a:ea typeface="Arial"/>
                <a:cs typeface="Arial"/>
                <a:sym typeface="Arial"/>
              </a:rPr>
              <a:t>Our system will have 3 parts:</a:t>
            </a:r>
            <a:endParaRPr sz="1000">
              <a:latin typeface="Arial"/>
              <a:ea typeface="Arial"/>
              <a:cs typeface="Arial"/>
              <a:sym typeface="Arial"/>
            </a:endParaRPr>
          </a:p>
          <a:p>
            <a:pPr indent="0" lvl="0" marL="0" rtl="0" algn="l">
              <a:lnSpc>
                <a:spcPct val="115000"/>
              </a:lnSpc>
              <a:spcBef>
                <a:spcPts val="1000"/>
              </a:spcBef>
              <a:spcAft>
                <a:spcPts val="0"/>
              </a:spcAft>
              <a:buClr>
                <a:schemeClr val="dk1"/>
              </a:buClr>
              <a:buSzPts val="1100"/>
              <a:buFont typeface="Arial"/>
              <a:buNone/>
            </a:pPr>
            <a:r>
              <a:rPr b="1" lang="en-US" sz="1000">
                <a:latin typeface="Arial"/>
                <a:ea typeface="Arial"/>
                <a:cs typeface="Arial"/>
                <a:sym typeface="Arial"/>
              </a:rPr>
              <a:t>1. Monitoring</a:t>
            </a:r>
            <a:endParaRPr b="1" sz="1000">
              <a:latin typeface="Arial"/>
              <a:ea typeface="Arial"/>
              <a:cs typeface="Arial"/>
              <a:sym typeface="Arial"/>
            </a:endParaRPr>
          </a:p>
          <a:p>
            <a:pPr indent="0" lvl="0" marL="0" rtl="0" algn="just">
              <a:lnSpc>
                <a:spcPct val="115000"/>
              </a:lnSpc>
              <a:spcBef>
                <a:spcPts val="1000"/>
              </a:spcBef>
              <a:spcAft>
                <a:spcPts val="0"/>
              </a:spcAft>
              <a:buNone/>
            </a:pPr>
            <a:r>
              <a:rPr lang="en-US" sz="1000">
                <a:latin typeface="Arial"/>
                <a:ea typeface="Arial"/>
                <a:cs typeface="Arial"/>
                <a:sym typeface="Arial"/>
              </a:rPr>
              <a:t>An IoT device will be built using Arduino as the microcontroller. We will use MQ135 Air Quality sensor, MQ131 Ozone sensor, MQ7 Carbon Monoxide sensor, </a:t>
            </a:r>
            <a:r>
              <a:rPr lang="en-US" sz="1000">
                <a:latin typeface="Arial"/>
                <a:ea typeface="Arial"/>
                <a:cs typeface="Arial"/>
                <a:sym typeface="Arial"/>
              </a:rPr>
              <a:t>DHT11</a:t>
            </a:r>
            <a:r>
              <a:rPr lang="en-US" sz="1000">
                <a:latin typeface="Arial"/>
                <a:ea typeface="Arial"/>
                <a:cs typeface="Arial"/>
                <a:sym typeface="Arial"/>
              </a:rPr>
              <a:t> sensor and PM2.5 dust sensor. These sensors will measure the current concentrations of the various pollutants and will output the current AQI. The values of the concentrations of the gases is to be stored in a database, which will be used to forecast the future levels of AQI.</a:t>
            </a:r>
            <a:endParaRPr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1000"/>
              </a:spcBef>
              <a:spcAft>
                <a:spcPts val="0"/>
              </a:spcAft>
              <a:buClr>
                <a:schemeClr val="dk1"/>
              </a:buClr>
              <a:buSzPts val="1100"/>
              <a:buFont typeface="Arial"/>
              <a:buNone/>
            </a:pPr>
            <a:r>
              <a:rPr b="1" lang="en-US" sz="1000">
                <a:latin typeface="Arial"/>
                <a:ea typeface="Arial"/>
                <a:cs typeface="Arial"/>
                <a:sym typeface="Arial"/>
              </a:rPr>
              <a:t>2. Forecasting</a:t>
            </a:r>
            <a:endParaRPr b="1"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rPr lang="en-US" sz="1000">
                <a:latin typeface="Arial"/>
                <a:ea typeface="Arial"/>
                <a:cs typeface="Arial"/>
                <a:sym typeface="Arial"/>
              </a:rPr>
              <a:t>Using the data collected in the previous module, an ML model is to be trained to predict the future levels of AQI. Based on the literature survey, the AutoRegression model provided the best results.</a:t>
            </a:r>
            <a:endParaRPr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rPr b="1" lang="en-US" sz="1000">
                <a:latin typeface="Arial"/>
                <a:ea typeface="Arial"/>
                <a:cs typeface="Arial"/>
                <a:sym typeface="Arial"/>
              </a:rPr>
              <a:t> </a:t>
            </a:r>
            <a:endParaRPr b="1"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rPr b="1" lang="en-US" sz="1000">
                <a:latin typeface="Arial"/>
                <a:ea typeface="Arial"/>
                <a:cs typeface="Arial"/>
                <a:sym typeface="Arial"/>
              </a:rPr>
              <a:t>3. Controlling</a:t>
            </a:r>
            <a:endParaRPr b="1" sz="1000">
              <a:latin typeface="Arial"/>
              <a:ea typeface="Arial"/>
              <a:cs typeface="Arial"/>
              <a:sym typeface="Arial"/>
            </a:endParaRPr>
          </a:p>
          <a:p>
            <a:pPr indent="0" lvl="0" marL="0" rtl="0" algn="just">
              <a:lnSpc>
                <a:spcPct val="115000"/>
              </a:lnSpc>
              <a:spcBef>
                <a:spcPts val="1000"/>
              </a:spcBef>
              <a:spcAft>
                <a:spcPts val="0"/>
              </a:spcAft>
              <a:buNone/>
            </a:pPr>
            <a:r>
              <a:rPr lang="en-US" sz="1000">
                <a:latin typeface="Arial"/>
                <a:ea typeface="Arial"/>
                <a:cs typeface="Arial"/>
                <a:sym typeface="Arial"/>
              </a:rPr>
              <a:t>AQI is categorized into 6 categories based on the value. Depending on the category of the current AQI level, suggestions are to be provided to improve the category to ‘Good’. </a:t>
            </a:r>
            <a:endParaRPr sz="1000">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t/>
            </a:r>
            <a:endParaRPr sz="1000">
              <a:latin typeface="Arial"/>
              <a:ea typeface="Arial"/>
              <a:cs typeface="Arial"/>
              <a:sym typeface="Arial"/>
            </a:endParaRPr>
          </a:p>
          <a:p>
            <a:pPr indent="0" lvl="0" marL="0" rtl="0" algn="just">
              <a:lnSpc>
                <a:spcPct val="150000"/>
              </a:lnSpc>
              <a:spcBef>
                <a:spcPts val="1000"/>
              </a:spcBef>
              <a:spcAft>
                <a:spcPts val="10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2"/>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Technology Stack</a:t>
            </a:r>
            <a:endParaRPr sz="3600">
              <a:solidFill>
                <a:schemeClr val="dk2"/>
              </a:solidFill>
              <a:latin typeface="Libre Franklin"/>
              <a:ea typeface="Libre Franklin"/>
              <a:cs typeface="Libre Franklin"/>
              <a:sym typeface="Libre Franklin"/>
            </a:endParaRPr>
          </a:p>
        </p:txBody>
      </p:sp>
      <p:sp>
        <p:nvSpPr>
          <p:cNvPr id="185" name="Google Shape;185;p22"/>
          <p:cNvSpPr txBox="1"/>
          <p:nvPr>
            <p:ph idx="10" type="dt"/>
          </p:nvPr>
        </p:nvSpPr>
        <p:spPr>
          <a:xfrm>
            <a:off x="7596337" y="6136218"/>
            <a:ext cx="942828"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186" name="Google Shape;186;p22"/>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187" name="Google Shape;187;p22"/>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88" name="Google Shape;188;p22"/>
          <p:cNvSpPr txBox="1"/>
          <p:nvPr>
            <p:ph idx="3" type="body"/>
          </p:nvPr>
        </p:nvSpPr>
        <p:spPr>
          <a:xfrm>
            <a:off x="728675" y="1160550"/>
            <a:ext cx="7810500" cy="4935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sz="1000">
              <a:latin typeface="Arial"/>
              <a:ea typeface="Arial"/>
              <a:cs typeface="Arial"/>
              <a:sym typeface="Arial"/>
            </a:endParaRPr>
          </a:p>
          <a:p>
            <a:pPr indent="0" lvl="0" marL="0" rtl="0" algn="l">
              <a:lnSpc>
                <a:spcPct val="115000"/>
              </a:lnSpc>
              <a:spcBef>
                <a:spcPts val="1000"/>
              </a:spcBef>
              <a:spcAft>
                <a:spcPts val="0"/>
              </a:spcAft>
              <a:buNone/>
            </a:pPr>
            <a:r>
              <a:rPr b="1" lang="en-US" sz="1000">
                <a:latin typeface="Arial"/>
                <a:ea typeface="Arial"/>
                <a:cs typeface="Arial"/>
                <a:sym typeface="Arial"/>
              </a:rPr>
              <a:t>1. IoT</a:t>
            </a:r>
            <a:endParaRPr b="1" sz="1000">
              <a:latin typeface="Arial"/>
              <a:ea typeface="Arial"/>
              <a:cs typeface="Arial"/>
              <a:sym typeface="Arial"/>
            </a:endParaRPr>
          </a:p>
          <a:p>
            <a:pPr indent="0" lvl="0" marL="0" rtl="0" algn="just">
              <a:lnSpc>
                <a:spcPct val="115000"/>
              </a:lnSpc>
              <a:spcBef>
                <a:spcPts val="1000"/>
              </a:spcBef>
              <a:spcAft>
                <a:spcPts val="0"/>
              </a:spcAft>
              <a:buNone/>
            </a:pPr>
            <a:r>
              <a:rPr lang="en-US" sz="1000">
                <a:latin typeface="Arial"/>
                <a:ea typeface="Arial"/>
                <a:cs typeface="Arial"/>
                <a:sym typeface="Arial"/>
              </a:rPr>
              <a:t>Arduino IDE, Physical IoT components like Arduino UNO, NodeMCU, breadboard, connecting wires, and a variety of sensors</a:t>
            </a:r>
            <a:endParaRPr sz="1000">
              <a:latin typeface="Arial"/>
              <a:ea typeface="Arial"/>
              <a:cs typeface="Arial"/>
              <a:sym typeface="Arial"/>
            </a:endParaRPr>
          </a:p>
          <a:p>
            <a:pPr indent="0" lvl="0" marL="0" rtl="0" algn="just">
              <a:lnSpc>
                <a:spcPct val="115000"/>
              </a:lnSpc>
              <a:spcBef>
                <a:spcPts val="1000"/>
              </a:spcBef>
              <a:spcAft>
                <a:spcPts val="0"/>
              </a:spcAft>
              <a:buNone/>
            </a:pPr>
            <a:r>
              <a:t/>
            </a:r>
            <a:endParaRPr sz="1000">
              <a:latin typeface="Arial"/>
              <a:ea typeface="Arial"/>
              <a:cs typeface="Arial"/>
              <a:sym typeface="Arial"/>
            </a:endParaRPr>
          </a:p>
          <a:p>
            <a:pPr indent="0" lvl="0" marL="0" rtl="0" algn="l">
              <a:lnSpc>
                <a:spcPct val="115000"/>
              </a:lnSpc>
              <a:spcBef>
                <a:spcPts val="1000"/>
              </a:spcBef>
              <a:spcAft>
                <a:spcPts val="0"/>
              </a:spcAft>
              <a:buNone/>
            </a:pPr>
            <a:r>
              <a:rPr b="1" lang="en-US" sz="1000">
                <a:latin typeface="Arial"/>
                <a:ea typeface="Arial"/>
                <a:cs typeface="Arial"/>
                <a:sym typeface="Arial"/>
              </a:rPr>
              <a:t>2. Data Science</a:t>
            </a:r>
            <a:endParaRPr b="1" sz="1000">
              <a:latin typeface="Arial"/>
              <a:ea typeface="Arial"/>
              <a:cs typeface="Arial"/>
              <a:sym typeface="Arial"/>
            </a:endParaRPr>
          </a:p>
          <a:p>
            <a:pPr indent="0" lvl="0" marL="0" rtl="0" algn="l">
              <a:lnSpc>
                <a:spcPct val="115000"/>
              </a:lnSpc>
              <a:spcBef>
                <a:spcPts val="1000"/>
              </a:spcBef>
              <a:spcAft>
                <a:spcPts val="0"/>
              </a:spcAft>
              <a:buNone/>
            </a:pPr>
            <a:r>
              <a:rPr lang="en-US" sz="1000">
                <a:latin typeface="Arial"/>
                <a:ea typeface="Arial"/>
                <a:cs typeface="Arial"/>
                <a:sym typeface="Arial"/>
              </a:rPr>
              <a:t>Google Colab, Jupiter Notebook</a:t>
            </a:r>
            <a:endParaRPr sz="1000">
              <a:latin typeface="Arial"/>
              <a:ea typeface="Arial"/>
              <a:cs typeface="Arial"/>
              <a:sym typeface="Arial"/>
            </a:endParaRPr>
          </a:p>
          <a:p>
            <a:pPr indent="0" lvl="0" marL="0" rtl="0" algn="just">
              <a:lnSpc>
                <a:spcPct val="115000"/>
              </a:lnSpc>
              <a:spcBef>
                <a:spcPts val="1000"/>
              </a:spcBef>
              <a:spcAft>
                <a:spcPts val="0"/>
              </a:spcAft>
              <a:buNone/>
            </a:pPr>
            <a:r>
              <a:t/>
            </a:r>
            <a:endParaRPr b="1" sz="1000">
              <a:latin typeface="Arial"/>
              <a:ea typeface="Arial"/>
              <a:cs typeface="Arial"/>
              <a:sym typeface="Arial"/>
            </a:endParaRPr>
          </a:p>
          <a:p>
            <a:pPr indent="0" lvl="0" marL="0" rtl="0" algn="just">
              <a:lnSpc>
                <a:spcPct val="115000"/>
              </a:lnSpc>
              <a:spcBef>
                <a:spcPts val="1000"/>
              </a:spcBef>
              <a:spcAft>
                <a:spcPts val="0"/>
              </a:spcAft>
              <a:buNone/>
            </a:pPr>
            <a:r>
              <a:rPr b="1" lang="en-US" sz="1000">
                <a:latin typeface="Arial"/>
                <a:ea typeface="Arial"/>
                <a:cs typeface="Arial"/>
                <a:sym typeface="Arial"/>
              </a:rPr>
              <a:t>3. Web Development</a:t>
            </a:r>
            <a:endParaRPr b="1" sz="1000">
              <a:latin typeface="Arial"/>
              <a:ea typeface="Arial"/>
              <a:cs typeface="Arial"/>
              <a:sym typeface="Arial"/>
            </a:endParaRPr>
          </a:p>
          <a:p>
            <a:pPr indent="0" lvl="0" marL="0" rtl="0" algn="just">
              <a:lnSpc>
                <a:spcPct val="115000"/>
              </a:lnSpc>
              <a:spcBef>
                <a:spcPts val="1000"/>
              </a:spcBef>
              <a:spcAft>
                <a:spcPts val="0"/>
              </a:spcAft>
              <a:buNone/>
            </a:pPr>
            <a:r>
              <a:rPr lang="en-US" sz="1000">
                <a:latin typeface="Arial"/>
                <a:ea typeface="Arial"/>
                <a:cs typeface="Arial"/>
                <a:sym typeface="Arial"/>
              </a:rPr>
              <a:t>HTML, CSS, JavaScript, PHP, SQL Database. </a:t>
            </a:r>
            <a:endParaRPr sz="1000">
              <a:latin typeface="Arial"/>
              <a:ea typeface="Arial"/>
              <a:cs typeface="Arial"/>
              <a:sym typeface="Arial"/>
            </a:endParaRPr>
          </a:p>
          <a:p>
            <a:pPr indent="0" lvl="0" marL="0" rtl="0" algn="just">
              <a:lnSpc>
                <a:spcPct val="115000"/>
              </a:lnSpc>
              <a:spcBef>
                <a:spcPts val="1000"/>
              </a:spcBef>
              <a:spcAft>
                <a:spcPts val="0"/>
              </a:spcAft>
              <a:buNone/>
            </a:pPr>
            <a:r>
              <a:t/>
            </a:r>
            <a:endParaRPr sz="1000">
              <a:latin typeface="Arial"/>
              <a:ea typeface="Arial"/>
              <a:cs typeface="Arial"/>
              <a:sym typeface="Arial"/>
            </a:endParaRPr>
          </a:p>
          <a:p>
            <a:pPr indent="0" lvl="0" marL="0" rtl="0" algn="just">
              <a:lnSpc>
                <a:spcPct val="150000"/>
              </a:lnSpc>
              <a:spcBef>
                <a:spcPts val="1000"/>
              </a:spcBef>
              <a:spcAft>
                <a:spcPts val="10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Implementation</a:t>
            </a:r>
            <a:endParaRPr sz="3600">
              <a:solidFill>
                <a:schemeClr val="dk2"/>
              </a:solidFill>
              <a:latin typeface="Libre Franklin"/>
              <a:ea typeface="Libre Franklin"/>
              <a:cs typeface="Libre Franklin"/>
              <a:sym typeface="Libre Franklin"/>
            </a:endParaRPr>
          </a:p>
        </p:txBody>
      </p:sp>
      <p:sp>
        <p:nvSpPr>
          <p:cNvPr id="194" name="Google Shape;194;p23"/>
          <p:cNvSpPr txBox="1"/>
          <p:nvPr>
            <p:ph idx="3" type="body"/>
          </p:nvPr>
        </p:nvSpPr>
        <p:spPr>
          <a:xfrm>
            <a:off x="742950" y="961200"/>
            <a:ext cx="7810500" cy="5047200"/>
          </a:xfrm>
          <a:prstGeom prst="rect">
            <a:avLst/>
          </a:prstGeom>
          <a:noFill/>
          <a:ln>
            <a:noFill/>
          </a:ln>
        </p:spPr>
        <p:txBody>
          <a:bodyPr anchorCtr="0" anchor="t" bIns="91425" lIns="91425" spcFirstLastPara="1" rIns="91425" wrap="square" tIns="91425">
            <a:noAutofit/>
          </a:bodyPr>
          <a:lstStyle/>
          <a:p>
            <a:pPr indent="0" lvl="0" marL="457200" rtl="0" algn="just">
              <a:lnSpc>
                <a:spcPct val="150000"/>
              </a:lnSpc>
              <a:spcBef>
                <a:spcPts val="0"/>
              </a:spcBef>
              <a:spcAft>
                <a:spcPts val="0"/>
              </a:spcAft>
              <a:buNone/>
            </a:pPr>
            <a:r>
              <a:rPr b="1" lang="en-US" sz="2400">
                <a:latin typeface="Times New Roman"/>
                <a:ea typeface="Times New Roman"/>
                <a:cs typeface="Times New Roman"/>
                <a:sym typeface="Times New Roman"/>
              </a:rPr>
              <a:t>Hardware Used:</a:t>
            </a:r>
            <a:endParaRPr b="1" sz="2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Arduino UNO</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DHT11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MQ135 Air Quality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MQ131 Ozone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MQ7 CO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GP2Y1010AU0F </a:t>
            </a:r>
            <a:br>
              <a:rPr lang="en-US" sz="1400">
                <a:latin typeface="Times New Roman"/>
                <a:ea typeface="Times New Roman"/>
                <a:cs typeface="Times New Roman"/>
                <a:sym typeface="Times New Roman"/>
              </a:rPr>
            </a:br>
            <a:r>
              <a:rPr lang="en-US" sz="1400">
                <a:latin typeface="Times New Roman"/>
                <a:ea typeface="Times New Roman"/>
                <a:cs typeface="Times New Roman"/>
                <a:sym typeface="Times New Roman"/>
              </a:rPr>
              <a:t>Dust Smoke Particle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Node MCU</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1000"/>
              </a:spcAft>
              <a:buNone/>
            </a:pPr>
            <a:r>
              <a:t/>
            </a:r>
            <a:endParaRPr sz="1400">
              <a:latin typeface="Times New Roman"/>
              <a:ea typeface="Times New Roman"/>
              <a:cs typeface="Times New Roman"/>
              <a:sym typeface="Times New Roman"/>
            </a:endParaRPr>
          </a:p>
        </p:txBody>
      </p:sp>
      <p:sp>
        <p:nvSpPr>
          <p:cNvPr id="195" name="Google Shape;195;p23"/>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96" name="Google Shape;196;p23"/>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97" name="Google Shape;197;p23"/>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pic>
        <p:nvPicPr>
          <p:cNvPr id="198" name="Google Shape;198;p23"/>
          <p:cNvPicPr preferRelativeResize="0"/>
          <p:nvPr/>
        </p:nvPicPr>
        <p:blipFill rotWithShape="1">
          <a:blip r:embed="rId3">
            <a:alphaModFix/>
          </a:blip>
          <a:srcRect b="-8719" l="12520" r="-12520" t="0"/>
          <a:stretch/>
        </p:blipFill>
        <p:spPr>
          <a:xfrm>
            <a:off x="3033600" y="2155750"/>
            <a:ext cx="6188725" cy="4511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Implementation</a:t>
            </a:r>
            <a:endParaRPr sz="3600">
              <a:solidFill>
                <a:schemeClr val="dk2"/>
              </a:solidFill>
              <a:latin typeface="Libre Franklin"/>
              <a:ea typeface="Libre Franklin"/>
              <a:cs typeface="Libre Franklin"/>
              <a:sym typeface="Libre Franklin"/>
            </a:endParaRPr>
          </a:p>
        </p:txBody>
      </p:sp>
      <p:sp>
        <p:nvSpPr>
          <p:cNvPr id="204" name="Google Shape;204;p24"/>
          <p:cNvSpPr txBox="1"/>
          <p:nvPr>
            <p:ph idx="3" type="body"/>
          </p:nvPr>
        </p:nvSpPr>
        <p:spPr>
          <a:xfrm>
            <a:off x="237350" y="736850"/>
            <a:ext cx="8316000" cy="5271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2400">
                <a:latin typeface="Times New Roman"/>
                <a:ea typeface="Times New Roman"/>
                <a:cs typeface="Times New Roman"/>
                <a:sym typeface="Times New Roman"/>
              </a:rPr>
              <a:t>Data Science Models explored:</a:t>
            </a:r>
            <a:endParaRPr b="1" sz="24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rPr lang="en-US" sz="1600">
                <a:latin typeface="Times New Roman"/>
                <a:ea typeface="Times New Roman"/>
                <a:cs typeface="Times New Roman"/>
                <a:sym typeface="Times New Roman"/>
              </a:rPr>
              <a:t>AutoRegressive(AR) models </a:t>
            </a:r>
            <a:r>
              <a:rPr lang="en-US" sz="1600">
                <a:highlight>
                  <a:srgbClr val="FFFFFF"/>
                </a:highlight>
                <a:latin typeface="Times New Roman"/>
                <a:ea typeface="Times New Roman"/>
                <a:cs typeface="Times New Roman"/>
                <a:sym typeface="Times New Roman"/>
              </a:rPr>
              <a:t>are a subset of time series models, which can be used to predict future values based on previous observations. AR models use regression techniques and rely on autocorrelation in order to make accurate predictions.</a:t>
            </a:r>
            <a:endParaRPr sz="1600">
              <a:highlight>
                <a:srgbClr val="FFFFFF"/>
              </a:highlight>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600">
              <a:highlight>
                <a:srgbClr val="FFFFFF"/>
              </a:highlight>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6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1000"/>
              </a:spcAft>
              <a:buNone/>
            </a:pPr>
            <a:r>
              <a:t/>
            </a:r>
            <a:endParaRPr sz="1400">
              <a:latin typeface="Times New Roman"/>
              <a:ea typeface="Times New Roman"/>
              <a:cs typeface="Times New Roman"/>
              <a:sym typeface="Times New Roman"/>
            </a:endParaRPr>
          </a:p>
        </p:txBody>
      </p:sp>
      <p:sp>
        <p:nvSpPr>
          <p:cNvPr id="205" name="Google Shape;205;p24"/>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06" name="Google Shape;206;p24"/>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07" name="Google Shape;207;p24"/>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pic>
        <p:nvPicPr>
          <p:cNvPr id="208" name="Google Shape;208;p24"/>
          <p:cNvPicPr preferRelativeResize="0"/>
          <p:nvPr/>
        </p:nvPicPr>
        <p:blipFill>
          <a:blip r:embed="rId3">
            <a:alphaModFix/>
          </a:blip>
          <a:stretch>
            <a:fillRect/>
          </a:stretch>
        </p:blipFill>
        <p:spPr>
          <a:xfrm>
            <a:off x="2189675" y="2634050"/>
            <a:ext cx="4781475" cy="3187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nvSpPr>
        <p:spPr>
          <a:xfrm>
            <a:off x="564062" y="5597960"/>
            <a:ext cx="574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entury Gothic"/>
                <a:ea typeface="Century Gothic"/>
                <a:cs typeface="Century Gothic"/>
                <a:sym typeface="Century Gothic"/>
              </a:rPr>
              <a:t>12</a:t>
            </a:r>
            <a:endParaRPr i="1" sz="2000">
              <a:solidFill>
                <a:schemeClr val="lt1"/>
              </a:solidFill>
              <a:latin typeface="Century Gothic"/>
              <a:ea typeface="Century Gothic"/>
              <a:cs typeface="Century Gothic"/>
              <a:sym typeface="Century Gothic"/>
            </a:endParaRPr>
          </a:p>
        </p:txBody>
      </p:sp>
      <p:sp>
        <p:nvSpPr>
          <p:cNvPr id="214" name="Google Shape;214;p2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Department of ISE, BMSCE</a:t>
            </a:r>
            <a:endParaRPr/>
          </a:p>
        </p:txBody>
      </p:sp>
      <p:sp>
        <p:nvSpPr>
          <p:cNvPr id="215" name="Google Shape;215;p2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
        <p:nvSpPr>
          <p:cNvPr id="216" name="Google Shape;216;p25"/>
          <p:cNvSpPr txBox="1"/>
          <p:nvPr>
            <p:ph idx="4294967295"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Implementation</a:t>
            </a:r>
            <a:endParaRPr sz="3600">
              <a:solidFill>
                <a:schemeClr val="dk2"/>
              </a:solidFill>
              <a:latin typeface="Libre Franklin"/>
              <a:ea typeface="Libre Franklin"/>
              <a:cs typeface="Libre Franklin"/>
              <a:sym typeface="Libre Franklin"/>
            </a:endParaRPr>
          </a:p>
        </p:txBody>
      </p:sp>
      <p:sp>
        <p:nvSpPr>
          <p:cNvPr id="217" name="Google Shape;217;p25"/>
          <p:cNvSpPr txBox="1"/>
          <p:nvPr/>
        </p:nvSpPr>
        <p:spPr>
          <a:xfrm>
            <a:off x="140750" y="979700"/>
            <a:ext cx="8776200" cy="4702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solidFill>
                  <a:schemeClr val="dk1"/>
                </a:solidFill>
                <a:latin typeface="Times New Roman"/>
                <a:ea typeface="Times New Roman"/>
                <a:cs typeface="Times New Roman"/>
                <a:sym typeface="Times New Roman"/>
              </a:rPr>
              <a:t>Data Science Models explored:</a:t>
            </a:r>
            <a:endParaRPr b="1" sz="2400">
              <a:solidFill>
                <a:schemeClr val="dk1"/>
              </a:solidFill>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rPr lang="en-US" sz="1600">
                <a:solidFill>
                  <a:schemeClr val="dk1"/>
                </a:solidFill>
                <a:latin typeface="Times New Roman"/>
                <a:ea typeface="Times New Roman"/>
                <a:cs typeface="Times New Roman"/>
                <a:sym typeface="Times New Roman"/>
              </a:rPr>
              <a:t>ARIMA:</a:t>
            </a:r>
            <a:endParaRPr sz="1600">
              <a:solidFill>
                <a:schemeClr val="dk1"/>
              </a:solidFill>
              <a:latin typeface="Times New Roman"/>
              <a:ea typeface="Times New Roman"/>
              <a:cs typeface="Times New Roman"/>
              <a:sym typeface="Times New Roman"/>
            </a:endParaRPr>
          </a:p>
          <a:p>
            <a:pPr indent="-314325" lvl="0" marL="457200" rtl="0" algn="l">
              <a:lnSpc>
                <a:spcPct val="115000"/>
              </a:lnSpc>
              <a:spcBef>
                <a:spcPts val="1000"/>
              </a:spcBef>
              <a:spcAft>
                <a:spcPts val="0"/>
              </a:spcAft>
              <a:buClr>
                <a:schemeClr val="dk1"/>
              </a:buClr>
              <a:buSzPts val="1350"/>
              <a:buChar char="●"/>
            </a:pPr>
            <a:r>
              <a:rPr b="1" lang="en-US" sz="135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Autoregression (AR)</a:t>
            </a:r>
            <a:r>
              <a:rPr lang="en-US" sz="1350">
                <a:solidFill>
                  <a:schemeClr val="dk1"/>
                </a:solidFill>
                <a:latin typeface="Times New Roman"/>
                <a:ea typeface="Times New Roman"/>
                <a:cs typeface="Times New Roman"/>
                <a:sym typeface="Times New Roman"/>
              </a:rPr>
              <a:t>: refers to a model that shows a changing variable that regresses on its own lagged, or prior, values.</a:t>
            </a:r>
            <a:endParaRPr sz="1350">
              <a:solidFill>
                <a:schemeClr val="dk1"/>
              </a:solidFill>
              <a:latin typeface="Times New Roman"/>
              <a:ea typeface="Times New Roman"/>
              <a:cs typeface="Times New Roman"/>
              <a:sym typeface="Times New Roman"/>
            </a:endParaRPr>
          </a:p>
          <a:p>
            <a:pPr indent="-314325" lvl="0" marL="457200" rtl="0" algn="l">
              <a:lnSpc>
                <a:spcPct val="115000"/>
              </a:lnSpc>
              <a:spcBef>
                <a:spcPts val="0"/>
              </a:spcBef>
              <a:spcAft>
                <a:spcPts val="0"/>
              </a:spcAft>
              <a:buClr>
                <a:schemeClr val="dk1"/>
              </a:buClr>
              <a:buSzPts val="1350"/>
              <a:buChar char="●"/>
            </a:pPr>
            <a:r>
              <a:rPr b="1" lang="en-US" sz="1350">
                <a:solidFill>
                  <a:schemeClr val="dk1"/>
                </a:solidFill>
                <a:latin typeface="Times New Roman"/>
                <a:ea typeface="Times New Roman"/>
                <a:cs typeface="Times New Roman"/>
                <a:sym typeface="Times New Roman"/>
              </a:rPr>
              <a:t>Integrated (I)</a:t>
            </a:r>
            <a:r>
              <a:rPr i="1" lang="en-US" sz="1350">
                <a:solidFill>
                  <a:schemeClr val="dk1"/>
                </a:solidFill>
                <a:latin typeface="Times New Roman"/>
                <a:ea typeface="Times New Roman"/>
                <a:cs typeface="Times New Roman"/>
                <a:sym typeface="Times New Roman"/>
              </a:rPr>
              <a:t>: </a:t>
            </a:r>
            <a:r>
              <a:rPr lang="en-US" sz="1350">
                <a:solidFill>
                  <a:schemeClr val="dk1"/>
                </a:solidFill>
                <a:latin typeface="Times New Roman"/>
                <a:ea typeface="Times New Roman"/>
                <a:cs typeface="Times New Roman"/>
                <a:sym typeface="Times New Roman"/>
              </a:rPr>
              <a:t>represents the differencing of raw observations to allow the time series to become stationary (i.e., data values are replaced by the difference between the data values and the previous values).</a:t>
            </a:r>
            <a:endParaRPr sz="1350">
              <a:solidFill>
                <a:schemeClr val="dk1"/>
              </a:solidFill>
              <a:latin typeface="Times New Roman"/>
              <a:ea typeface="Times New Roman"/>
              <a:cs typeface="Times New Roman"/>
              <a:sym typeface="Times New Roman"/>
            </a:endParaRPr>
          </a:p>
          <a:p>
            <a:pPr indent="-314325" lvl="0" marL="457200" rtl="0" algn="l">
              <a:lnSpc>
                <a:spcPct val="115000"/>
              </a:lnSpc>
              <a:spcBef>
                <a:spcPts val="0"/>
              </a:spcBef>
              <a:spcAft>
                <a:spcPts val="0"/>
              </a:spcAft>
              <a:buClr>
                <a:schemeClr val="dk1"/>
              </a:buClr>
              <a:buSzPts val="1350"/>
              <a:buChar char="●"/>
            </a:pPr>
            <a:r>
              <a:rPr b="1" lang="en-US" sz="135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Moving average (MA)</a:t>
            </a:r>
            <a:r>
              <a:rPr lang="en-US" sz="1350">
                <a:solidFill>
                  <a:schemeClr val="dk1"/>
                </a:solidFill>
                <a:latin typeface="Times New Roman"/>
                <a:ea typeface="Times New Roman"/>
                <a:cs typeface="Times New Roman"/>
                <a:sym typeface="Times New Roman"/>
              </a:rPr>
              <a:t>: </a:t>
            </a:r>
            <a:r>
              <a:rPr i="1" lang="en-US" sz="1350">
                <a:solidFill>
                  <a:schemeClr val="dk1"/>
                </a:solidFill>
                <a:latin typeface="Times New Roman"/>
                <a:ea typeface="Times New Roman"/>
                <a:cs typeface="Times New Roman"/>
                <a:sym typeface="Times New Roman"/>
              </a:rPr>
              <a:t> </a:t>
            </a:r>
            <a:r>
              <a:rPr lang="en-US" sz="1350">
                <a:solidFill>
                  <a:schemeClr val="dk1"/>
                </a:solidFill>
                <a:latin typeface="Times New Roman"/>
                <a:ea typeface="Times New Roman"/>
                <a:cs typeface="Times New Roman"/>
                <a:sym typeface="Times New Roman"/>
              </a:rPr>
              <a:t>incorporates the dependency between an observation and a residual error from a moving average model applied to lagged observations.</a:t>
            </a:r>
            <a:endParaRPr sz="135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0"/>
              </a:spcAft>
              <a:buNone/>
            </a:pPr>
            <a:r>
              <a:rPr lang="en-US" sz="1600">
                <a:solidFill>
                  <a:schemeClr val="dk1"/>
                </a:solidFill>
                <a:latin typeface="Times New Roman"/>
                <a:ea typeface="Times New Roman"/>
                <a:cs typeface="Times New Roman"/>
                <a:sym typeface="Times New Roman"/>
              </a:rPr>
              <a:t>SARIMA:</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0"/>
              </a:spcAft>
              <a:buNone/>
            </a:pPr>
            <a:r>
              <a:rPr lang="en-US" sz="1600">
                <a:solidFill>
                  <a:schemeClr val="dk1"/>
                </a:solidFill>
                <a:latin typeface="Times New Roman"/>
                <a:ea typeface="Times New Roman"/>
                <a:cs typeface="Times New Roman"/>
                <a:sym typeface="Times New Roman"/>
              </a:rPr>
              <a:t>An extension to ARIMA that supports the direct modeling of the seasonal component of the series is called SARIMA.</a:t>
            </a:r>
            <a:endParaRPr sz="1600">
              <a:solidFill>
                <a:schemeClr val="dk1"/>
              </a:solidFill>
              <a:latin typeface="Times New Roman"/>
              <a:ea typeface="Times New Roman"/>
              <a:cs typeface="Times New Roman"/>
              <a:sym typeface="Times New Roman"/>
            </a:endParaRPr>
          </a:p>
          <a:p>
            <a:pPr indent="0" lvl="0" marL="0" rtl="0" algn="just">
              <a:lnSpc>
                <a:spcPct val="150000"/>
              </a:lnSpc>
              <a:spcBef>
                <a:spcPts val="2100"/>
              </a:spcBef>
              <a:spcAft>
                <a:spcPts val="10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Testing (Minimum 5 slides)</a:t>
            </a:r>
            <a:endParaRPr sz="3600">
              <a:solidFill>
                <a:schemeClr val="dk2"/>
              </a:solidFill>
              <a:latin typeface="Libre Franklin"/>
              <a:ea typeface="Libre Franklin"/>
              <a:cs typeface="Libre Franklin"/>
              <a:sym typeface="Libre Franklin"/>
            </a:endParaRPr>
          </a:p>
        </p:txBody>
      </p:sp>
      <p:sp>
        <p:nvSpPr>
          <p:cNvPr id="223" name="Google Shape;223;p26"/>
          <p:cNvSpPr txBox="1"/>
          <p:nvPr>
            <p:ph idx="3" type="body"/>
          </p:nvPr>
        </p:nvSpPr>
        <p:spPr>
          <a:xfrm>
            <a:off x="917193" y="1340768"/>
            <a:ext cx="7309614" cy="4608512"/>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Clr>
                <a:srgbClr val="000000"/>
              </a:buClr>
              <a:buSzPts val="1400"/>
              <a:buFont typeface="Arial"/>
              <a:buNone/>
            </a:pPr>
            <a:r>
              <a:rPr b="1" lang="en-US" sz="2400">
                <a:latin typeface="Times New Roman"/>
                <a:ea typeface="Times New Roman"/>
                <a:cs typeface="Times New Roman"/>
                <a:sym typeface="Times New Roman"/>
              </a:rPr>
              <a:t>Tell about</a:t>
            </a:r>
            <a:endParaRPr/>
          </a:p>
          <a:p>
            <a:pPr indent="-228600" lvl="0" marL="457200" rtl="0" algn="l">
              <a:lnSpc>
                <a:spcPct val="100000"/>
              </a:lnSpc>
              <a:spcBef>
                <a:spcPts val="0"/>
              </a:spcBef>
              <a:spcAft>
                <a:spcPts val="0"/>
              </a:spcAft>
              <a:buClr>
                <a:srgbClr val="000000"/>
              </a:buClr>
              <a:buSzPts val="1400"/>
              <a:buFont typeface="Arial"/>
              <a:buNone/>
            </a:pPr>
            <a:r>
              <a:t/>
            </a:r>
            <a:endParaRPr b="1" sz="2400">
              <a:latin typeface="Times New Roman"/>
              <a:ea typeface="Times New Roman"/>
              <a:cs typeface="Times New Roman"/>
              <a:sym typeface="Times New Roman"/>
            </a:endParaRPr>
          </a:p>
          <a:p>
            <a:pPr indent="0" lvl="0" marL="228600" rtl="0" algn="l">
              <a:lnSpc>
                <a:spcPct val="100000"/>
              </a:lnSpc>
              <a:spcBef>
                <a:spcPts val="0"/>
              </a:spcBef>
              <a:spcAft>
                <a:spcPts val="0"/>
              </a:spcAft>
              <a:buSzPts val="1400"/>
              <a:buNone/>
            </a:pPr>
            <a:r>
              <a:rPr lang="en-US" sz="1600">
                <a:latin typeface="Times New Roman"/>
                <a:ea typeface="Times New Roman"/>
                <a:cs typeface="Times New Roman"/>
                <a:sym typeface="Times New Roman"/>
              </a:rPr>
              <a:t>Test cases carried out for:</a:t>
            </a:r>
            <a:endParaRPr/>
          </a:p>
          <a:p>
            <a:pPr indent="-285750" lvl="0" marL="514350" rtl="0" algn="l">
              <a:lnSpc>
                <a:spcPct val="100000"/>
              </a:lnSpc>
              <a:spcBef>
                <a:spcPts val="0"/>
              </a:spcBef>
              <a:spcAft>
                <a:spcPts val="0"/>
              </a:spcAft>
              <a:buSzPts val="1400"/>
              <a:buFont typeface="Arial"/>
              <a:buChar char="•"/>
            </a:pPr>
            <a:r>
              <a:rPr lang="en-US" sz="1800">
                <a:latin typeface="Times New Roman"/>
                <a:ea typeface="Times New Roman"/>
                <a:cs typeface="Times New Roman"/>
                <a:sym typeface="Times New Roman"/>
              </a:rPr>
              <a:t>Unit/Module Testing</a:t>
            </a:r>
            <a:endParaRPr/>
          </a:p>
          <a:p>
            <a:pPr indent="-285750" lvl="0" marL="514350" rtl="0" algn="l">
              <a:lnSpc>
                <a:spcPct val="100000"/>
              </a:lnSpc>
              <a:spcBef>
                <a:spcPts val="0"/>
              </a:spcBef>
              <a:spcAft>
                <a:spcPts val="0"/>
              </a:spcAft>
              <a:buSzPts val="1400"/>
              <a:buFont typeface="Arial"/>
              <a:buChar char="•"/>
            </a:pPr>
            <a:r>
              <a:rPr lang="en-US" sz="1800">
                <a:latin typeface="Times New Roman"/>
                <a:ea typeface="Times New Roman"/>
                <a:cs typeface="Times New Roman"/>
                <a:sym typeface="Times New Roman"/>
              </a:rPr>
              <a:t>Integration Testing</a:t>
            </a:r>
            <a:endParaRPr/>
          </a:p>
          <a:p>
            <a:pPr indent="-285750" lvl="0" marL="514350" rtl="0" algn="l">
              <a:lnSpc>
                <a:spcPct val="100000"/>
              </a:lnSpc>
              <a:spcBef>
                <a:spcPts val="0"/>
              </a:spcBef>
              <a:spcAft>
                <a:spcPts val="0"/>
              </a:spcAft>
              <a:buSzPts val="1400"/>
              <a:buFont typeface="Arial"/>
              <a:buChar char="•"/>
            </a:pPr>
            <a:r>
              <a:rPr lang="en-US" sz="1800">
                <a:latin typeface="Times New Roman"/>
                <a:ea typeface="Times New Roman"/>
                <a:cs typeface="Times New Roman"/>
                <a:sym typeface="Times New Roman"/>
              </a:rPr>
              <a:t>System Testing</a:t>
            </a:r>
            <a:endParaRPr/>
          </a:p>
          <a:p>
            <a:pPr indent="-196850" lvl="0" marL="514350" rtl="0" algn="l">
              <a:lnSpc>
                <a:spcPct val="100000"/>
              </a:lnSpc>
              <a:spcBef>
                <a:spcPts val="0"/>
              </a:spcBef>
              <a:spcAft>
                <a:spcPts val="0"/>
              </a:spcAft>
              <a:buSzPts val="1400"/>
              <a:buFont typeface="Arial"/>
              <a:buNone/>
            </a:pPr>
            <a:r>
              <a:t/>
            </a:r>
            <a:endParaRPr sz="18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t/>
            </a:r>
            <a:endParaRPr>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t/>
            </a:r>
            <a:endParaRPr>
              <a:latin typeface="Times New Roman"/>
              <a:ea typeface="Times New Roman"/>
              <a:cs typeface="Times New Roman"/>
              <a:sym typeface="Times New Roman"/>
            </a:endParaRPr>
          </a:p>
        </p:txBody>
      </p:sp>
      <p:sp>
        <p:nvSpPr>
          <p:cNvPr id="224" name="Google Shape;224;p26"/>
          <p:cNvSpPr txBox="1"/>
          <p:nvPr>
            <p:ph idx="10" type="dt"/>
          </p:nvPr>
        </p:nvSpPr>
        <p:spPr>
          <a:xfrm>
            <a:off x="7596337" y="6136218"/>
            <a:ext cx="942828"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225" name="Google Shape;225;p26"/>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26" name="Google Shape;226;p26"/>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7"/>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Results</a:t>
            </a:r>
            <a:endParaRPr sz="3600">
              <a:solidFill>
                <a:schemeClr val="dk2"/>
              </a:solidFill>
              <a:latin typeface="Libre Franklin"/>
              <a:ea typeface="Libre Franklin"/>
              <a:cs typeface="Libre Franklin"/>
              <a:sym typeface="Libre Franklin"/>
            </a:endParaRPr>
          </a:p>
        </p:txBody>
      </p:sp>
      <p:sp>
        <p:nvSpPr>
          <p:cNvPr id="232" name="Google Shape;232;p27"/>
          <p:cNvSpPr txBox="1"/>
          <p:nvPr>
            <p:ph idx="3" type="body"/>
          </p:nvPr>
        </p:nvSpPr>
        <p:spPr>
          <a:xfrm>
            <a:off x="917250" y="1081594"/>
            <a:ext cx="7309500" cy="633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Based on our experimentation, ARMAX model with (p,q,d) = (4,0,1) and exogenous variables being Average Temperature, Relative Humidity and Diwali gave us the best results, going by Mean Squared Error.</a:t>
            </a:r>
            <a:endParaRPr>
              <a:latin typeface="Times New Roman"/>
              <a:ea typeface="Times New Roman"/>
              <a:cs typeface="Times New Roman"/>
              <a:sym typeface="Times New Roman"/>
            </a:endParaRPr>
          </a:p>
        </p:txBody>
      </p:sp>
      <p:sp>
        <p:nvSpPr>
          <p:cNvPr id="233" name="Google Shape;233;p27"/>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graphicFrame>
        <p:nvGraphicFramePr>
          <p:cNvPr id="234" name="Google Shape;234;p27"/>
          <p:cNvGraphicFramePr/>
          <p:nvPr/>
        </p:nvGraphicFramePr>
        <p:xfrm>
          <a:off x="1745063" y="1647975"/>
          <a:ext cx="3000000" cy="3000000"/>
        </p:xfrm>
        <a:graphic>
          <a:graphicData uri="http://schemas.openxmlformats.org/drawingml/2006/table">
            <a:tbl>
              <a:tblPr>
                <a:noFill/>
                <a:tableStyleId>{2589ADCC-6216-4C3C-BEE4-4C55780F2B7D}</a:tableStyleId>
              </a:tblPr>
              <a:tblGrid>
                <a:gridCol w="2971800"/>
                <a:gridCol w="2971800"/>
              </a:tblGrid>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MODEL (Parameters)</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MSE</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Predicting based on previous day</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577.05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AutoReg(lags=17, trend=’t’)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917.961</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a:t>
                      </a:r>
                      <a:endParaRPr sz="1200">
                        <a:latin typeface="Times New Roman"/>
                        <a:ea typeface="Times New Roman"/>
                        <a:cs typeface="Times New Roman"/>
                        <a:sym typeface="Times New Roman"/>
                      </a:endParaRPr>
                    </a:p>
                    <a:p>
                      <a:pPr indent="0" lvl="0" marL="0" rtl="0" algn="just">
                        <a:spcBef>
                          <a:spcPts val="0"/>
                        </a:spcBef>
                        <a:spcAft>
                          <a:spcPts val="0"/>
                        </a:spcAft>
                        <a:buNone/>
                      </a:pPr>
                      <a:r>
                        <a:rPr lang="en-US" sz="1200">
                          <a:latin typeface="Times New Roman"/>
                          <a:ea typeface="Times New Roman"/>
                          <a:cs typeface="Times New Roman"/>
                          <a:sym typeface="Times New Roman"/>
                        </a:rPr>
                        <a:t>ARIMA(p=4, d=0, q=1, trend=’t’, exog=Null)</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449.86</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ARIMA(p=3, d=1, q=1, trend=’t’, exog=Null)</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450.586</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421.21</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Temperature’,’Diwali’])</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320.125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exog=[‘Relative Humidity’,’Wind Direction’])</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376.463</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Temperature’,’Diwali’,‘Relative Humidity’,’Wind Direction’,’Barometric Pressure’])</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295.075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just">
                        <a:spcBef>
                          <a:spcPts val="0"/>
                        </a:spcBef>
                        <a:spcAft>
                          <a:spcPts val="0"/>
                        </a:spcAft>
                        <a:buNone/>
                      </a:pPr>
                      <a:r>
                        <a:rPr lang="en-US" sz="1200">
                          <a:latin typeface="Times New Roman"/>
                          <a:ea typeface="Times New Roman"/>
                          <a:cs typeface="Times New Roman"/>
                          <a:sym typeface="Times New Roman"/>
                        </a:rPr>
                        <a:t>ARMAX(p=4,d=0,q=1, trend=’t’, exog=[‘Average Temperature’,’Diwali’,‘Relative Humidity’])</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just">
                        <a:spcBef>
                          <a:spcPts val="0"/>
                        </a:spcBef>
                        <a:spcAft>
                          <a:spcPts val="0"/>
                        </a:spcAft>
                        <a:buNone/>
                      </a:pPr>
                      <a:r>
                        <a:rPr b="1" lang="en-US" sz="1200">
                          <a:latin typeface="Times New Roman"/>
                          <a:ea typeface="Times New Roman"/>
                          <a:cs typeface="Times New Roman"/>
                          <a:sym typeface="Times New Roman"/>
                        </a:rPr>
                        <a:t>279.228</a:t>
                      </a:r>
                      <a:endParaRPr b="1"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8"/>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Future Enhancement</a:t>
            </a:r>
            <a:endParaRPr sz="3600">
              <a:solidFill>
                <a:schemeClr val="dk2"/>
              </a:solidFill>
              <a:latin typeface="Libre Franklin"/>
              <a:ea typeface="Libre Franklin"/>
              <a:cs typeface="Libre Franklin"/>
              <a:sym typeface="Libre Franklin"/>
            </a:endParaRPr>
          </a:p>
        </p:txBody>
      </p:sp>
      <p:sp>
        <p:nvSpPr>
          <p:cNvPr id="240" name="Google Shape;240;p28"/>
          <p:cNvSpPr txBox="1"/>
          <p:nvPr>
            <p:ph idx="10" type="dt"/>
          </p:nvPr>
        </p:nvSpPr>
        <p:spPr>
          <a:xfrm>
            <a:off x="7452321" y="6136218"/>
            <a:ext cx="1086844"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241" name="Google Shape;241;p28"/>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42" name="Google Shape;242;p28"/>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43" name="Google Shape;243;p28"/>
          <p:cNvSpPr txBox="1"/>
          <p:nvPr/>
        </p:nvSpPr>
        <p:spPr>
          <a:xfrm>
            <a:off x="511175" y="1564975"/>
            <a:ext cx="8190900" cy="1688100"/>
          </a:xfrm>
          <a:prstGeom prst="rect">
            <a:avLst/>
          </a:prstGeom>
          <a:noFill/>
          <a:ln>
            <a:noFill/>
          </a:ln>
        </p:spPr>
        <p:txBody>
          <a:bodyPr anchorCtr="0" anchor="t" bIns="91425" lIns="91425" spcFirstLastPara="1" rIns="91425" wrap="square" tIns="91425">
            <a:spAutoFit/>
          </a:bodyPr>
          <a:lstStyle/>
          <a:p>
            <a:pPr indent="-304800" lvl="0" marL="457200" rtl="0" algn="just">
              <a:lnSpc>
                <a:spcPct val="115000"/>
              </a:lnSpc>
              <a:spcBef>
                <a:spcPts val="0"/>
              </a:spcBef>
              <a:spcAft>
                <a:spcPts val="0"/>
              </a:spcAft>
              <a:buClr>
                <a:schemeClr val="dk1"/>
              </a:buClr>
              <a:buSzPts val="1200"/>
              <a:buFont typeface="Times New Roman"/>
              <a:buAutoNum type="arabicParenR"/>
            </a:pPr>
            <a:r>
              <a:rPr lang="en-US" sz="1200">
                <a:solidFill>
                  <a:schemeClr val="dk1"/>
                </a:solidFill>
                <a:latin typeface="Times New Roman"/>
                <a:ea typeface="Times New Roman"/>
                <a:cs typeface="Times New Roman"/>
                <a:sym typeface="Times New Roman"/>
              </a:rPr>
              <a:t>Integrating the AQI forecast into Google Maps. Just like how Google gives push notifications of the weather rain forecast, it should give AQI forecasts as well.</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1000"/>
              </a:spcBef>
              <a:spcAft>
                <a:spcPts val="0"/>
              </a:spcAft>
              <a:buClr>
                <a:schemeClr val="dk1"/>
              </a:buClr>
              <a:buSzPts val="1200"/>
              <a:buFont typeface="Times New Roman"/>
              <a:buAutoNum type="arabicParenR"/>
            </a:pPr>
            <a:r>
              <a:rPr lang="en-US" sz="1200">
                <a:solidFill>
                  <a:schemeClr val="dk1"/>
                </a:solidFill>
                <a:latin typeface="Times New Roman"/>
                <a:ea typeface="Times New Roman"/>
                <a:cs typeface="Times New Roman"/>
                <a:sym typeface="Times New Roman"/>
              </a:rPr>
              <a:t>Automating the complete line of work, the device and model should work without any human interference, except for maintenance.</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1000"/>
              </a:spcBef>
              <a:spcAft>
                <a:spcPts val="1000"/>
              </a:spcAft>
              <a:buClr>
                <a:schemeClr val="dk1"/>
              </a:buClr>
              <a:buSzPts val="1200"/>
              <a:buFont typeface="Times New Roman"/>
              <a:buAutoNum type="arabicParenR"/>
            </a:pPr>
            <a:r>
              <a:rPr lang="en-US" sz="1200">
                <a:solidFill>
                  <a:schemeClr val="dk1"/>
                </a:solidFill>
                <a:latin typeface="Times New Roman"/>
                <a:ea typeface="Times New Roman"/>
                <a:cs typeface="Times New Roman"/>
                <a:sym typeface="Times New Roman"/>
              </a:rPr>
              <a:t>We have built only one IoT device and have implemented it in only one location. Once we have established the proof of concept with this one location, we hope we can implement this on a much larger scale, covering much larger areas.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9"/>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Project outcome</a:t>
            </a:r>
            <a:endParaRPr sz="3600">
              <a:solidFill>
                <a:schemeClr val="dk2"/>
              </a:solidFill>
              <a:latin typeface="Libre Franklin"/>
              <a:ea typeface="Libre Franklin"/>
              <a:cs typeface="Libre Franklin"/>
              <a:sym typeface="Libre Franklin"/>
            </a:endParaRPr>
          </a:p>
        </p:txBody>
      </p:sp>
      <p:sp>
        <p:nvSpPr>
          <p:cNvPr id="249" name="Google Shape;249;p29"/>
          <p:cNvSpPr txBox="1"/>
          <p:nvPr>
            <p:ph idx="10" type="dt"/>
          </p:nvPr>
        </p:nvSpPr>
        <p:spPr>
          <a:xfrm>
            <a:off x="7452321" y="6136218"/>
            <a:ext cx="1086844"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250" name="Google Shape;250;p29"/>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51" name="Google Shape;251;p29"/>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52" name="Google Shape;252;p29"/>
          <p:cNvSpPr txBox="1"/>
          <p:nvPr/>
        </p:nvSpPr>
        <p:spPr>
          <a:xfrm>
            <a:off x="755576" y="2060848"/>
            <a:ext cx="6984900" cy="492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lang="en-US" sz="1600">
                <a:solidFill>
                  <a:schemeClr val="dk1"/>
                </a:solidFill>
                <a:latin typeface="Times New Roman"/>
                <a:ea typeface="Times New Roman"/>
                <a:cs typeface="Times New Roman"/>
                <a:sym typeface="Times New Roman"/>
              </a:rPr>
              <a:t>Competition </a:t>
            </a:r>
            <a:endParaRPr b="1"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latin typeface="Times New Roman"/>
                <a:ea typeface="Times New Roman"/>
                <a:cs typeface="Times New Roman"/>
                <a:sym typeface="Times New Roman"/>
              </a:rPr>
              <a:t>KSCST Student Project Program - Selected and funded</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600"/>
              <a:buFont typeface="Arial"/>
              <a:buNone/>
            </a:pPr>
            <a:r>
              <a:rPr b="1" lang="en-US" sz="1600">
                <a:solidFill>
                  <a:schemeClr val="dk1"/>
                </a:solidFill>
                <a:latin typeface="Times New Roman"/>
                <a:ea typeface="Times New Roman"/>
                <a:cs typeface="Times New Roman"/>
                <a:sym typeface="Times New Roman"/>
              </a:rPr>
              <a:t>Research Paper</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Published in IJNRD</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0"/>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Conclusion</a:t>
            </a:r>
            <a:endParaRPr sz="3600">
              <a:solidFill>
                <a:schemeClr val="dk2"/>
              </a:solidFill>
              <a:latin typeface="Libre Franklin"/>
              <a:ea typeface="Libre Franklin"/>
              <a:cs typeface="Libre Franklin"/>
              <a:sym typeface="Libre Franklin"/>
            </a:endParaRPr>
          </a:p>
        </p:txBody>
      </p:sp>
      <p:sp>
        <p:nvSpPr>
          <p:cNvPr id="258" name="Google Shape;258;p30"/>
          <p:cNvSpPr txBox="1"/>
          <p:nvPr>
            <p:ph idx="10" type="dt"/>
          </p:nvPr>
        </p:nvSpPr>
        <p:spPr>
          <a:xfrm>
            <a:off x="7452321" y="6136218"/>
            <a:ext cx="1086844"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259" name="Google Shape;259;p30"/>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60" name="Google Shape;260;p30"/>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61" name="Google Shape;261;p30"/>
          <p:cNvSpPr txBox="1"/>
          <p:nvPr/>
        </p:nvSpPr>
        <p:spPr>
          <a:xfrm>
            <a:off x="847775" y="1962050"/>
            <a:ext cx="7691400" cy="1765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000"/>
              </a:spcAft>
              <a:buNone/>
            </a:pPr>
            <a:r>
              <a:rPr lang="en-US" sz="1300">
                <a:solidFill>
                  <a:schemeClr val="dk1"/>
                </a:solidFill>
                <a:latin typeface="Times New Roman"/>
                <a:ea typeface="Times New Roman"/>
                <a:cs typeface="Times New Roman"/>
                <a:sym typeface="Times New Roman"/>
              </a:rPr>
              <a:t>Air pollution is a very challenging and complex problem that requires a multifaceted solution. To tackle this complex issue, we are proposing the implementation of a holistic approach to tackle air pollution. Through the proposed system,  we not only aim to reduce the levels of air pollution, but also positively impact the lives of people by helping them change their lifestyle in such a way that it will encourage them to adopt some habits that will help reduce air pollution, which will help them, their pets and their environment to be healthier. We are leveraging the capabilities of powerful technologies like IoT and ML to build a system that will fight against the harmful effects of air pollution and make the world a better place to live in.</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1"/>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267" name="Google Shape;267;p31"/>
          <p:cNvSpPr txBox="1"/>
          <p:nvPr>
            <p:ph idx="3" type="body"/>
          </p:nvPr>
        </p:nvSpPr>
        <p:spPr>
          <a:xfrm>
            <a:off x="917193" y="1907722"/>
            <a:ext cx="7538183" cy="349895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[1]</a:t>
            </a:r>
            <a:r>
              <a:rPr lang="en-US" sz="700">
                <a:latin typeface="Arial"/>
                <a:ea typeface="Arial"/>
                <a:cs typeface="Arial"/>
                <a:sym typeface="Arial"/>
              </a:rPr>
              <a:t> 	</a:t>
            </a:r>
            <a:r>
              <a:rPr lang="en-US" sz="1100">
                <a:latin typeface="Arial"/>
                <a:ea typeface="Arial"/>
                <a:cs typeface="Arial"/>
                <a:sym typeface="Arial"/>
              </a:rPr>
              <a:t>Ayele, Temesegan Walelign, and Rutvik Mehta. "Air pollution monitoring and prediction using IoT." 2018 second international conference on inventive communication and computational technologies (ICICCT). IEEE, 2018.</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[2]</a:t>
            </a:r>
            <a:r>
              <a:rPr lang="en-US" sz="700">
                <a:latin typeface="Arial"/>
                <a:ea typeface="Arial"/>
                <a:cs typeface="Arial"/>
                <a:sym typeface="Arial"/>
              </a:rPr>
              <a:t> 	</a:t>
            </a:r>
            <a:r>
              <a:rPr lang="en-US" sz="1100">
                <a:latin typeface="Arial"/>
                <a:ea typeface="Arial"/>
                <a:cs typeface="Arial"/>
                <a:sym typeface="Arial"/>
              </a:rPr>
              <a:t>Balasubramanian, Ssneha, Sneha, Talapala, B, Vinushiya and S, Saraswathi. "Air Pollution Monitoring and Prediction using IOT and Machine Learning." (IJCSIT) International Journal of Computer Science and Information Technologies, Vol. 12 (2), 2021.</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[3]</a:t>
            </a:r>
            <a:r>
              <a:rPr lang="en-US" sz="700">
                <a:latin typeface="Arial"/>
                <a:ea typeface="Arial"/>
                <a:cs typeface="Arial"/>
                <a:sym typeface="Arial"/>
              </a:rPr>
              <a:t> 	</a:t>
            </a:r>
            <a:r>
              <a:rPr lang="en-US" sz="1100">
                <a:latin typeface="Arial"/>
                <a:ea typeface="Arial"/>
                <a:cs typeface="Arial"/>
                <a:sym typeface="Arial"/>
              </a:rPr>
              <a:t>Bhalgat, Pooja, Sachin Bhoite, and Sejal Pitare. "Air quality prediction using machine learning algorithms." International Journal of Computer Applications Technology and Research 8.9 (2019): 367-370.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[4]</a:t>
            </a:r>
            <a:r>
              <a:rPr lang="en-US" sz="700">
                <a:latin typeface="Arial"/>
                <a:ea typeface="Arial"/>
                <a:cs typeface="Arial"/>
                <a:sym typeface="Arial"/>
              </a:rPr>
              <a:t> 	</a:t>
            </a:r>
            <a:r>
              <a:rPr lang="en-US" sz="1100">
                <a:latin typeface="Arial"/>
                <a:ea typeface="Arial"/>
                <a:cs typeface="Arial"/>
                <a:sym typeface="Arial"/>
              </a:rPr>
              <a:t>Tomar, Nimisha, Durga Patel, and Akshat Jain. "Air Quality Index Forecasting using Auto-regression Models." 2020 IEEE International Students' Conference on Electrical, Electronics and Computer Science (SCEECS). IEEE, 2020.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[5]</a:t>
            </a:r>
            <a:r>
              <a:rPr lang="en-US" sz="700">
                <a:latin typeface="Arial"/>
                <a:ea typeface="Arial"/>
                <a:cs typeface="Arial"/>
                <a:sym typeface="Arial"/>
              </a:rPr>
              <a:t> 	</a:t>
            </a:r>
            <a:r>
              <a:rPr lang="en-US" sz="1100">
                <a:latin typeface="Arial"/>
                <a:ea typeface="Arial"/>
                <a:cs typeface="Arial"/>
                <a:sym typeface="Arial"/>
              </a:rPr>
              <a:t>De Vito, Saverio, et al. "Adaptive machine learning strategies for network calibration of IoT smart air quality monitoring devices." Pattern Recognition Letters 136 (2020): 264-271.</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[6]</a:t>
            </a:r>
            <a:r>
              <a:rPr lang="en-US" sz="700">
                <a:latin typeface="Arial"/>
                <a:ea typeface="Arial"/>
                <a:cs typeface="Arial"/>
                <a:sym typeface="Arial"/>
              </a:rPr>
              <a:t> 	</a:t>
            </a:r>
            <a:r>
              <a:rPr lang="en-US" sz="1100">
                <a:latin typeface="Arial"/>
                <a:ea typeface="Arial"/>
                <a:cs typeface="Arial"/>
                <a:sym typeface="Arial"/>
              </a:rPr>
              <a:t>Meivel S, Mahesh M, Mohnish S, Mukesh Pandian S, “Air Pollution Monitoring System Using IOT And Artificial intelligence”, IJMA, vol. 10, no. 2, pp. 3085 - 3089, May 2021.</a:t>
            </a:r>
            <a:endParaRPr sz="1100">
              <a:latin typeface="Arial"/>
              <a:ea typeface="Arial"/>
              <a:cs typeface="Arial"/>
              <a:sym typeface="Arial"/>
            </a:endParaRPr>
          </a:p>
          <a:p>
            <a:pPr indent="0" lvl="0" marL="0" rtl="0" algn="just">
              <a:lnSpc>
                <a:spcPct val="150000"/>
              </a:lnSpc>
              <a:spcBef>
                <a:spcPts val="1200"/>
              </a:spcBef>
              <a:spcAft>
                <a:spcPts val="0"/>
              </a:spcAft>
              <a:buSzPts val="1400"/>
              <a:buNone/>
            </a:pPr>
            <a:r>
              <a:t/>
            </a:r>
            <a:endParaRPr sz="1400">
              <a:solidFill>
                <a:srgbClr val="000000"/>
              </a:solidFill>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t/>
            </a:r>
            <a:endParaRPr>
              <a:latin typeface="Times New Roman"/>
              <a:ea typeface="Times New Roman"/>
              <a:cs typeface="Times New Roman"/>
              <a:sym typeface="Times New Roman"/>
            </a:endParaRPr>
          </a:p>
        </p:txBody>
      </p:sp>
      <p:sp>
        <p:nvSpPr>
          <p:cNvPr id="268" name="Google Shape;268;p31"/>
          <p:cNvSpPr txBox="1"/>
          <p:nvPr>
            <p:ph idx="10" type="dt"/>
          </p:nvPr>
        </p:nvSpPr>
        <p:spPr>
          <a:xfrm>
            <a:off x="7452321" y="6136218"/>
            <a:ext cx="1086844" cy="368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269" name="Google Shape;269;p31"/>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70" name="Google Shape;270;p31"/>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2"/>
          <p:cNvSpPr txBox="1"/>
          <p:nvPr>
            <p:ph idx="1" type="body"/>
          </p:nvPr>
        </p:nvSpPr>
        <p:spPr>
          <a:xfrm>
            <a:off x="688623" y="404664"/>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276" name="Google Shape;276;p32"/>
          <p:cNvSpPr txBox="1"/>
          <p:nvPr>
            <p:ph idx="3" type="body"/>
          </p:nvPr>
        </p:nvSpPr>
        <p:spPr>
          <a:xfrm>
            <a:off x="917193" y="1907722"/>
            <a:ext cx="7538100" cy="349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[7]</a:t>
            </a:r>
            <a:r>
              <a:rPr lang="en-US" sz="700">
                <a:latin typeface="Arial"/>
                <a:ea typeface="Arial"/>
                <a:cs typeface="Arial"/>
                <a:sym typeface="Arial"/>
              </a:rPr>
              <a:t> 	</a:t>
            </a:r>
            <a:r>
              <a:rPr lang="en-US" sz="1100">
                <a:latin typeface="Arial"/>
                <a:ea typeface="Arial"/>
                <a:cs typeface="Arial"/>
                <a:sym typeface="Arial"/>
              </a:rPr>
              <a:t>Kumar, Anikender, and P. Goyal. "Forecasting of daily air quality index in Delhi." Science of the Total Environment 409.24 (2011): 5517-5523.</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[8]</a:t>
            </a:r>
            <a:r>
              <a:rPr lang="en-US" sz="700">
                <a:latin typeface="Arial"/>
                <a:ea typeface="Arial"/>
                <a:cs typeface="Arial"/>
                <a:sym typeface="Arial"/>
              </a:rPr>
              <a:t> 	</a:t>
            </a:r>
            <a:r>
              <a:rPr lang="en-US" sz="1100">
                <a:latin typeface="Arial"/>
                <a:ea typeface="Arial"/>
                <a:cs typeface="Arial"/>
                <a:sym typeface="Arial"/>
              </a:rPr>
              <a:t>Zhu, Suling, et al. "Daily air quality index forecasting with hybrid models: A case in China." Environmental pollution 231 (2017): 1232-1244.</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[9]</a:t>
            </a:r>
            <a:r>
              <a:rPr lang="en-US" sz="700">
                <a:latin typeface="Arial"/>
                <a:ea typeface="Arial"/>
                <a:cs typeface="Arial"/>
                <a:sym typeface="Arial"/>
              </a:rPr>
              <a:t> 	</a:t>
            </a:r>
            <a:r>
              <a:rPr lang="en-US" sz="1100">
                <a:latin typeface="Arial"/>
                <a:ea typeface="Arial"/>
                <a:cs typeface="Arial"/>
                <a:sym typeface="Arial"/>
              </a:rPr>
              <a:t>Zhang, Dan, and Simon S. Woo. "Real time localized air quality monitoring and prediction through mobile and fixed IoT sensing network." IEEE Access 8 (2020): 89584-89594.</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[10]</a:t>
            </a:r>
            <a:r>
              <a:rPr lang="en-US" sz="700">
                <a:latin typeface="Arial"/>
                <a:ea typeface="Arial"/>
                <a:cs typeface="Arial"/>
                <a:sym typeface="Arial"/>
              </a:rPr>
              <a:t> 	</a:t>
            </a:r>
            <a:r>
              <a:rPr lang="en-US" sz="1100">
                <a:latin typeface="Arial"/>
                <a:ea typeface="Arial"/>
                <a:cs typeface="Arial"/>
                <a:sym typeface="Arial"/>
              </a:rPr>
              <a:t>Moses, Leeban. "IoT enabled Environmental Air Pollution Monitoring and Rerouting system using Machine learning algorithms." IOP Conference Series: Materials Science and Engineering. Vol. 955. No. 1. IOP Publishing, 2020.</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[11]</a:t>
            </a:r>
            <a:r>
              <a:rPr lang="en-US" sz="700">
                <a:latin typeface="Arial"/>
                <a:ea typeface="Arial"/>
                <a:cs typeface="Arial"/>
                <a:sym typeface="Arial"/>
              </a:rPr>
              <a:t> 	</a:t>
            </a:r>
            <a:r>
              <a:rPr lang="en-US" sz="1100">
                <a:latin typeface="Arial"/>
                <a:ea typeface="Arial"/>
                <a:cs typeface="Arial"/>
                <a:sym typeface="Arial"/>
              </a:rPr>
              <a:t>Kumar, Somansh, and Ashish Jasuja. "Air quality monitoring system based on IoT using Raspberry Pi." 2017 International conference on computing, communication and automation (ICCCA). IEEE, 2017.</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[12]</a:t>
            </a:r>
            <a:r>
              <a:rPr lang="en-US" sz="700">
                <a:latin typeface="Arial"/>
                <a:ea typeface="Arial"/>
                <a:cs typeface="Arial"/>
                <a:sym typeface="Arial"/>
              </a:rPr>
              <a:t> 	</a:t>
            </a:r>
            <a:r>
              <a:rPr lang="en-US" sz="1100">
                <a:latin typeface="Arial"/>
                <a:ea typeface="Arial"/>
                <a:cs typeface="Arial"/>
                <a:sym typeface="Arial"/>
              </a:rPr>
              <a:t>Mao, Wenjing, et al. "Modeling air quality prediction using a deep learning approach: Method optimization and evaluation." Sustainable Cities and Society 65 (2021): 102567.</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just">
              <a:lnSpc>
                <a:spcPct val="150000"/>
              </a:lnSpc>
              <a:spcBef>
                <a:spcPts val="1200"/>
              </a:spcBef>
              <a:spcAft>
                <a:spcPts val="0"/>
              </a:spcAft>
              <a:buSzPts val="1400"/>
              <a:buNone/>
            </a:pPr>
            <a:r>
              <a:t/>
            </a:r>
            <a:endParaRPr sz="1400">
              <a:solidFill>
                <a:srgbClr val="000000"/>
              </a:solidFill>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t/>
            </a:r>
            <a:endParaRPr>
              <a:latin typeface="Times New Roman"/>
              <a:ea typeface="Times New Roman"/>
              <a:cs typeface="Times New Roman"/>
              <a:sym typeface="Times New Roman"/>
            </a:endParaRPr>
          </a:p>
        </p:txBody>
      </p:sp>
      <p:sp>
        <p:nvSpPr>
          <p:cNvPr id="277" name="Google Shape;277;p32"/>
          <p:cNvSpPr txBox="1"/>
          <p:nvPr>
            <p:ph idx="10" type="dt"/>
          </p:nvPr>
        </p:nvSpPr>
        <p:spPr>
          <a:xfrm>
            <a:off x="7452321" y="6136218"/>
            <a:ext cx="1086900" cy="368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30-05-2022</a:t>
            </a:r>
            <a:endParaRPr/>
          </a:p>
        </p:txBody>
      </p:sp>
      <p:sp>
        <p:nvSpPr>
          <p:cNvPr id="278" name="Google Shape;278;p32"/>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79" name="Google Shape;279;p32"/>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Icon&#10;&#10;Description automatically generated" id="284" name="Google Shape;284;p33"/>
          <p:cNvPicPr preferRelativeResize="0"/>
          <p:nvPr/>
        </p:nvPicPr>
        <p:blipFill rotWithShape="1">
          <a:blip r:embed="rId3">
            <a:alphaModFix/>
          </a:blip>
          <a:srcRect b="0" l="0" r="0" t="0"/>
          <a:stretch/>
        </p:blipFill>
        <p:spPr>
          <a:xfrm>
            <a:off x="2409695" y="1587674"/>
            <a:ext cx="3612192" cy="3212926"/>
          </a:xfrm>
          <a:prstGeom prst="rect">
            <a:avLst/>
          </a:prstGeom>
          <a:noFill/>
          <a:ln>
            <a:noFill/>
          </a:ln>
        </p:spPr>
      </p:pic>
      <p:sp>
        <p:nvSpPr>
          <p:cNvPr id="285" name="Google Shape;285;p33"/>
          <p:cNvSpPr txBox="1"/>
          <p:nvPr/>
        </p:nvSpPr>
        <p:spPr>
          <a:xfrm>
            <a:off x="564062" y="5597960"/>
            <a:ext cx="5746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lt1"/>
                </a:solidFill>
                <a:latin typeface="Century Gothic"/>
                <a:ea typeface="Century Gothic"/>
                <a:cs typeface="Century Gothic"/>
                <a:sym typeface="Century Gothic"/>
              </a:rPr>
              <a:t>12</a:t>
            </a:r>
            <a:endParaRPr b="0" i="1" sz="2000" u="none" cap="none" strike="noStrike">
              <a:solidFill>
                <a:schemeClr val="lt1"/>
              </a:solidFill>
              <a:latin typeface="Century Gothic"/>
              <a:ea typeface="Century Gothic"/>
              <a:cs typeface="Century Gothic"/>
              <a:sym typeface="Century Gothic"/>
            </a:endParaRPr>
          </a:p>
        </p:txBody>
      </p:sp>
      <p:sp>
        <p:nvSpPr>
          <p:cNvPr id="286" name="Google Shape;286;p3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30-05-2022</a:t>
            </a:r>
            <a:endParaRPr/>
          </a:p>
        </p:txBody>
      </p:sp>
      <p:sp>
        <p:nvSpPr>
          <p:cNvPr id="287" name="Google Shape;287;p3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Department of ISE, BMSCE</a:t>
            </a:r>
            <a:endParaRPr/>
          </a:p>
        </p:txBody>
      </p:sp>
      <p:sp>
        <p:nvSpPr>
          <p:cNvPr id="288" name="Google Shape;288;p3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4"/>
          <p:cNvSpPr txBox="1"/>
          <p:nvPr/>
        </p:nvSpPr>
        <p:spPr>
          <a:xfrm>
            <a:off x="650081" y="5600700"/>
            <a:ext cx="64293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lt1"/>
                </a:solidFill>
                <a:latin typeface="Century Gothic"/>
                <a:ea typeface="Century Gothic"/>
                <a:cs typeface="Century Gothic"/>
                <a:sym typeface="Century Gothic"/>
              </a:rPr>
              <a:t>13</a:t>
            </a:r>
            <a:endParaRPr b="1" i="1" sz="2000" u="none" cap="none" strike="noStrike">
              <a:solidFill>
                <a:schemeClr val="lt1"/>
              </a:solidFill>
              <a:latin typeface="Century Gothic"/>
              <a:ea typeface="Century Gothic"/>
              <a:cs typeface="Century Gothic"/>
              <a:sym typeface="Century Gothic"/>
            </a:endParaRPr>
          </a:p>
        </p:txBody>
      </p:sp>
      <p:sp>
        <p:nvSpPr>
          <p:cNvPr id="294" name="Google Shape;294;p34"/>
          <p:cNvSpPr txBox="1"/>
          <p:nvPr/>
        </p:nvSpPr>
        <p:spPr>
          <a:xfrm>
            <a:off x="3200400" y="3200401"/>
            <a:ext cx="2743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picture containing text, stationary, writing implement, pen&#10;&#10;Description automatically generated" id="295" name="Google Shape;295;p34"/>
          <p:cNvPicPr preferRelativeResize="0"/>
          <p:nvPr/>
        </p:nvPicPr>
        <p:blipFill rotWithShape="1">
          <a:blip r:embed="rId3">
            <a:alphaModFix/>
          </a:blip>
          <a:srcRect b="0" l="0" r="0" t="0"/>
          <a:stretch/>
        </p:blipFill>
        <p:spPr>
          <a:xfrm>
            <a:off x="1131454" y="1987851"/>
            <a:ext cx="7017705" cy="3247121"/>
          </a:xfrm>
          <a:prstGeom prst="rect">
            <a:avLst/>
          </a:prstGeom>
          <a:noFill/>
          <a:ln>
            <a:noFill/>
          </a:ln>
        </p:spPr>
      </p:pic>
      <p:sp>
        <p:nvSpPr>
          <p:cNvPr id="296" name="Google Shape;296;p3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30-05-2022</a:t>
            </a:r>
            <a:endParaRPr/>
          </a:p>
        </p:txBody>
      </p:sp>
      <p:sp>
        <p:nvSpPr>
          <p:cNvPr id="297" name="Google Shape;297;p34"/>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Department of ISE, BMSCE</a:t>
            </a:r>
            <a:endParaRPr/>
          </a:p>
        </p:txBody>
      </p:sp>
      <p:sp>
        <p:nvSpPr>
          <p:cNvPr id="298" name="Google Shape;298;p34"/>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